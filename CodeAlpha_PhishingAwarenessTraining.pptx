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session covers how phishing works, how to recognize it, the psychology behind it, and what to do. It ends with an interactive quiz.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roadmap. The whole session takes about 15 minutes plus the quiz.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Figures come from the Verizon Data Breach Investigations Report 2024 and the FBI IC3 2023 report. Check the latest editions before presenting and update the numbers if newer ones are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Each step is a chance to stop the attack. The best chance is at Click, and the second best is reporting afterwards.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Different channels, same goal. Mention that QR code phishing is rising because people trust QR codes.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audience to find the red flags before revealing the numbered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Typosquatting and subdomain tricks. A padlock does not mean the site is trustworthy.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One-time codes are the attacker's real target in many vishing calls. Never read them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Attackers exploit emotion. If a message makes you feel rushed or scared, slow 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cases. Lesson: even large, security-aware organisations were hit, and a person was the entry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simple memory aid. Run it on every unexpected message.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Passkeys and hardware keys are the strongest MFA because they cannot be phished easily.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how a SOC team supports users: detection, response and awareness training working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Reporting fast matters more than embarrassment. No one should be punished for reporting.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Email A. Clues: look-alike domain with a zero, urgency, generic greeting, shortened link.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live with the interactive quiz in the repo (index.html on GitHub Pages) or discuss as a group.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 any answers people missed.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encouraging everyone to report suspicious messages without fear.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Replace the GitHub username with your own before presenting.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6583680" y="-731520"/>
            <a:ext cx="3840480" cy="3840480"/>
          </a:xfrm>
          <a:prstGeom prst="ellipse">
            <a:avLst/>
          </a:prstGeom>
          <a:solidFill>
            <a:srgbClr val="16345F">
              <a:alpha val="70000"/>
            </a:srgbClr>
          </a:solidFill>
          <a:ln w="12700">
            <a:solidFill>
              <a:srgbClr val="16345F">
                <a:alpha val="0"/>
              </a:srgbClr>
            </a:solidFill>
            <a:prstDash val="solid"/>
          </a:ln>
        </p:spPr>
      </p:sp>
      <p:sp>
        <p:nvSpPr>
          <p:cNvPr id="3" name="Shape 1"/>
          <p:cNvSpPr/>
          <p:nvPr/>
        </p:nvSpPr>
        <p:spPr>
          <a:xfrm>
            <a:off x="7498080" y="2194560"/>
            <a:ext cx="3291840" cy="3291840"/>
          </a:xfrm>
          <a:prstGeom prst="ellipse">
            <a:avLst/>
          </a:prstGeom>
          <a:solidFill>
            <a:srgbClr val="0F4C5C">
              <a:alpha val="70000"/>
            </a:srgbClr>
          </a:solidFill>
          <a:ln w="12700">
            <a:solidFill>
              <a:srgbClr val="0F4C5C">
                <a:alpha val="0"/>
              </a:srgbClr>
            </a:solidFill>
            <a:prstDash val="solid"/>
          </a:ln>
        </p:spPr>
      </p:sp>
      <p:sp>
        <p:nvSpPr>
          <p:cNvPr id="4" name="Shape 2"/>
          <p:cNvSpPr/>
          <p:nvPr/>
        </p:nvSpPr>
        <p:spPr>
          <a:xfrm>
            <a:off x="5760720" y="3291840"/>
            <a:ext cx="2011680" cy="2011680"/>
          </a:xfrm>
          <a:prstGeom prst="ellipse">
            <a:avLst/>
          </a:prstGeom>
          <a:solidFill>
            <a:srgbClr val="16345F">
              <a:alpha val="70000"/>
            </a:srgbClr>
          </a:solidFill>
          <a:ln w="12700">
            <a:solidFill>
              <a:srgbClr val="16345F">
                <a:alpha val="0"/>
              </a:srgbClr>
            </a:solidFill>
            <a:prstDash val="solid"/>
          </a:ln>
        </p:spPr>
      </p:sp>
      <p:sp>
        <p:nvSpPr>
          <p:cNvPr id="5" name="Shape 3"/>
          <p:cNvSpPr/>
          <p:nvPr/>
        </p:nvSpPr>
        <p:spPr>
          <a:xfrm>
            <a:off x="548640" y="1234440"/>
            <a:ext cx="91440" cy="1828800"/>
          </a:xfrm>
          <a:prstGeom prst="rect">
            <a:avLst/>
          </a:prstGeom>
          <a:solidFill>
            <a:srgbClr val="14B8A6"/>
          </a:solidFill>
          <a:ln w="12700">
            <a:solidFill>
              <a:srgbClr val="14B8A6"/>
            </a:solidFill>
            <a:prstDash val="solid"/>
          </a:ln>
        </p:spPr>
      </p:sp>
      <p:sp>
        <p:nvSpPr>
          <p:cNvPr id="6" name="Text 4"/>
          <p:cNvSpPr txBox="1"/>
          <p:nvPr/>
        </p:nvSpPr>
        <p:spPr>
          <a:xfrm>
            <a:off x="868680" y="1097280"/>
            <a:ext cx="6400800" cy="274320"/>
          </a:xfrm>
          <a:prstGeom prst="rect">
            <a:avLst/>
          </a:prstGeom>
          <a:noFill/>
          <a:ln/>
        </p:spPr>
        <p:txBody>
          <a:bodyPr wrap="square" lIns="0" tIns="0" rIns="0" bIns="0" rtlCol="0" anchor="ctr"/>
          <a:lstStyle/>
          <a:p>
            <a:pPr indent="0" marL="0">
              <a:buNone/>
            </a:pPr>
            <a:r>
              <a:rPr lang="en-US" sz="1200" b="1" spc="200" kern="0" dirty="0">
                <a:solidFill>
                  <a:srgbClr val="14B8A6"/>
                </a:solidFill>
                <a:latin typeface="Calibri" pitchFamily="34" charset="0"/>
                <a:ea typeface="Calibri" pitchFamily="34" charset="-122"/>
                <a:cs typeface="Calibri" pitchFamily="34" charset="-120"/>
              </a:rPr>
              <a:t>CODEALPHA CYBERSECURITY INTERNSHIP  |  TASK 2</a:t>
            </a:r>
            <a:endParaRPr lang="en-US" sz="1200" dirty="0"/>
          </a:p>
        </p:txBody>
      </p:sp>
      <p:sp>
        <p:nvSpPr>
          <p:cNvPr id="7" name="Text 5"/>
          <p:cNvSpPr txBox="1"/>
          <p:nvPr/>
        </p:nvSpPr>
        <p:spPr>
          <a:xfrm>
            <a:off x="868680" y="1417320"/>
            <a:ext cx="6400800" cy="1371600"/>
          </a:xfrm>
          <a:prstGeom prst="rect">
            <a:avLst/>
          </a:prstGeom>
          <a:noFill/>
          <a:ln/>
        </p:spPr>
        <p:txBody>
          <a:bodyPr wrap="square" lIns="0" tIns="0" rIns="0" bIns="0" rtlCol="0" anchor="ctr"/>
          <a:lstStyle/>
          <a:p>
            <a:pPr indent="0" marL="0">
              <a:buNone/>
            </a:pPr>
            <a:r>
              <a:rPr lang="en-US" sz="4400" b="1" dirty="0">
                <a:solidFill>
                  <a:srgbClr val="FFFFFF"/>
                </a:solidFill>
                <a:latin typeface="Calibri" pitchFamily="34" charset="0"/>
                <a:ea typeface="Calibri" pitchFamily="34" charset="-122"/>
                <a:cs typeface="Calibri" pitchFamily="34" charset="-120"/>
              </a:rPr>
              <a:t>Phishing Awareness</a:t>
            </a:r>
            <a:endParaRPr lang="en-US" sz="4400" dirty="0"/>
          </a:p>
          <a:p>
            <a:pPr indent="0" marL="0">
              <a:buNone/>
            </a:pPr>
            <a:r>
              <a:rPr lang="en-US" sz="4400" b="1" dirty="0">
                <a:solidFill>
                  <a:srgbClr val="FFFFFF"/>
                </a:solidFill>
                <a:latin typeface="Calibri" pitchFamily="34" charset="0"/>
                <a:ea typeface="Calibri" pitchFamily="34" charset="-122"/>
                <a:cs typeface="Calibri" pitchFamily="34" charset="-120"/>
              </a:rPr>
              <a:t>Training</a:t>
            </a:r>
            <a:endParaRPr lang="en-US" sz="4400" dirty="0"/>
          </a:p>
        </p:txBody>
      </p:sp>
      <p:sp>
        <p:nvSpPr>
          <p:cNvPr id="8" name="Text 6"/>
          <p:cNvSpPr txBox="1"/>
          <p:nvPr/>
        </p:nvSpPr>
        <p:spPr>
          <a:xfrm>
            <a:off x="868680" y="2880360"/>
            <a:ext cx="6400800" cy="457200"/>
          </a:xfrm>
          <a:prstGeom prst="rect">
            <a:avLst/>
          </a:prstGeom>
          <a:noFill/>
          <a:ln/>
        </p:spPr>
        <p:txBody>
          <a:bodyPr wrap="square" lIns="0" tIns="0" rIns="0" bIns="0" rtlCol="0" anchor="ctr"/>
          <a:lstStyle/>
          <a:p>
            <a:pPr indent="0" marL="0">
              <a:buNone/>
            </a:pPr>
            <a:r>
              <a:rPr lang="en-US" sz="2200" dirty="0">
                <a:solidFill>
                  <a:srgbClr val="14B8A6"/>
                </a:solidFill>
                <a:latin typeface="Calibri" pitchFamily="34" charset="0"/>
                <a:ea typeface="Calibri" pitchFamily="34" charset="-122"/>
                <a:cs typeface="Calibri" pitchFamily="34" charset="-120"/>
              </a:rPr>
              <a:t>Spot it. Stop it. Report it.</a:t>
            </a:r>
            <a:endParaRPr lang="en-US" sz="2200" dirty="0"/>
          </a:p>
        </p:txBody>
      </p:sp>
      <p:sp>
        <p:nvSpPr>
          <p:cNvPr id="9" name="Shape 7"/>
          <p:cNvSpPr/>
          <p:nvPr/>
        </p:nvSpPr>
        <p:spPr>
          <a:xfrm>
            <a:off x="868680" y="3840480"/>
            <a:ext cx="1280160" cy="365760"/>
          </a:xfrm>
          <a:prstGeom prst="roundRect">
            <a:avLst>
              <a:gd name="adj" fmla="val 50000"/>
            </a:avLst>
          </a:prstGeom>
          <a:solidFill>
            <a:srgbClr val="16345F"/>
          </a:solidFill>
          <a:ln w="12700">
            <a:solidFill>
              <a:srgbClr val="14B8A6"/>
            </a:solidFill>
            <a:prstDash val="solid"/>
          </a:ln>
        </p:spPr>
      </p:sp>
      <p:sp>
        <p:nvSpPr>
          <p:cNvPr id="10" name="Text 8"/>
          <p:cNvSpPr txBox="1"/>
          <p:nvPr/>
        </p:nvSpPr>
        <p:spPr>
          <a:xfrm>
            <a:off x="868680" y="3840480"/>
            <a:ext cx="1280160" cy="365760"/>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Recognize</a:t>
            </a:r>
            <a:endParaRPr lang="en-US" sz="1200" dirty="0"/>
          </a:p>
        </p:txBody>
      </p:sp>
      <p:sp>
        <p:nvSpPr>
          <p:cNvPr id="11" name="Shape 9"/>
          <p:cNvSpPr/>
          <p:nvPr/>
        </p:nvSpPr>
        <p:spPr>
          <a:xfrm>
            <a:off x="2286000" y="3840480"/>
            <a:ext cx="1280160" cy="365760"/>
          </a:xfrm>
          <a:prstGeom prst="roundRect">
            <a:avLst>
              <a:gd name="adj" fmla="val 50000"/>
            </a:avLst>
          </a:prstGeom>
          <a:solidFill>
            <a:srgbClr val="16345F"/>
          </a:solidFill>
          <a:ln w="12700">
            <a:solidFill>
              <a:srgbClr val="14B8A6"/>
            </a:solidFill>
            <a:prstDash val="solid"/>
          </a:ln>
        </p:spPr>
      </p:sp>
      <p:sp>
        <p:nvSpPr>
          <p:cNvPr id="12" name="Text 10"/>
          <p:cNvSpPr txBox="1"/>
          <p:nvPr/>
        </p:nvSpPr>
        <p:spPr>
          <a:xfrm>
            <a:off x="2286000" y="3840480"/>
            <a:ext cx="1280160" cy="365760"/>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Resist</a:t>
            </a:r>
            <a:endParaRPr lang="en-US" sz="1200" dirty="0"/>
          </a:p>
        </p:txBody>
      </p:sp>
      <p:sp>
        <p:nvSpPr>
          <p:cNvPr id="13" name="Shape 11"/>
          <p:cNvSpPr/>
          <p:nvPr/>
        </p:nvSpPr>
        <p:spPr>
          <a:xfrm>
            <a:off x="3703320" y="3840480"/>
            <a:ext cx="1280160" cy="365760"/>
          </a:xfrm>
          <a:prstGeom prst="roundRect">
            <a:avLst>
              <a:gd name="adj" fmla="val 50000"/>
            </a:avLst>
          </a:prstGeom>
          <a:solidFill>
            <a:srgbClr val="16345F"/>
          </a:solidFill>
          <a:ln w="12700">
            <a:solidFill>
              <a:srgbClr val="14B8A6"/>
            </a:solidFill>
            <a:prstDash val="solid"/>
          </a:ln>
        </p:spPr>
      </p:sp>
      <p:sp>
        <p:nvSpPr>
          <p:cNvPr id="14" name="Text 12"/>
          <p:cNvSpPr txBox="1"/>
          <p:nvPr/>
        </p:nvSpPr>
        <p:spPr>
          <a:xfrm>
            <a:off x="3703320" y="3840480"/>
            <a:ext cx="1280160" cy="365760"/>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Report</a:t>
            </a:r>
            <a:endParaRPr lang="en-US" sz="1200" dirty="0"/>
          </a:p>
        </p:txBody>
      </p:sp>
      <p:sp>
        <p:nvSpPr>
          <p:cNvPr id="15" name="Text 13"/>
          <p:cNvSpPr txBox="1"/>
          <p:nvPr/>
        </p:nvSpPr>
        <p:spPr>
          <a:xfrm>
            <a:off x="868680" y="4434840"/>
            <a:ext cx="5486400" cy="274320"/>
          </a:xfrm>
          <a:prstGeom prst="rect">
            <a:avLst/>
          </a:prstGeom>
          <a:noFill/>
          <a:ln/>
        </p:spPr>
        <p:txBody>
          <a:bodyPr wrap="square" lIns="0" tIns="0" rIns="0" bIns="0" rtlCol="0" anchor="ctr"/>
          <a:lstStyle/>
          <a:p>
            <a:pPr indent="0" marL="0">
              <a:buNone/>
            </a:pPr>
            <a:r>
              <a:rPr lang="en-US" sz="1200" dirty="0">
                <a:solidFill>
                  <a:srgbClr val="CBD5E1"/>
                </a:solidFill>
                <a:latin typeface="Calibri" pitchFamily="34" charset="0"/>
                <a:ea typeface="Calibri" pitchFamily="34" charset="-122"/>
                <a:cs typeface="Calibri" pitchFamily="34" charset="-120"/>
              </a:rPr>
              <a:t>Presented by: Your Name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14B8A6"/>
          </a:solidFill>
          <a:ln w="12700">
            <a:solidFill>
              <a:srgbClr val="14B8A6"/>
            </a:solidFill>
            <a:prstDash val="solid"/>
          </a:ln>
        </p:spPr>
      </p:sp>
      <p:sp>
        <p:nvSpPr>
          <p:cNvPr id="3" name="Text 1"/>
          <p:cNvSpPr txBox="1"/>
          <p:nvPr/>
        </p:nvSpPr>
        <p:spPr>
          <a:xfrm>
            <a:off x="457200" y="256032"/>
            <a:ext cx="5486400" cy="228600"/>
          </a:xfrm>
          <a:prstGeom prst="rect">
            <a:avLst/>
          </a:prstGeom>
          <a:noFill/>
          <a:ln/>
        </p:spPr>
        <p:txBody>
          <a:bodyPr wrap="square" lIns="0" tIns="0" rIns="0" bIns="0" rtlCol="0" anchor="ctr"/>
          <a:lstStyle/>
          <a:p>
            <a:pPr indent="0" marL="0">
              <a:buNone/>
            </a:pPr>
            <a:r>
              <a:rPr lang="en-US" sz="1100" b="1" spc="300" kern="0" dirty="0">
                <a:solidFill>
                  <a:srgbClr val="14B8A6"/>
                </a:solidFill>
                <a:latin typeface="Calibri" pitchFamily="34" charset="0"/>
                <a:ea typeface="Calibri" pitchFamily="34" charset="-122"/>
                <a:cs typeface="Calibri" pitchFamily="34" charset="-120"/>
              </a:rPr>
              <a:t>AGENDA</a:t>
            </a:r>
            <a:endParaRPr lang="en-US" sz="1100" dirty="0"/>
          </a:p>
        </p:txBody>
      </p:sp>
      <p:sp>
        <p:nvSpPr>
          <p:cNvPr id="4" name="Text 2"/>
          <p:cNvSpPr txBox="1"/>
          <p:nvPr/>
        </p:nvSpPr>
        <p:spPr>
          <a:xfrm>
            <a:off x="457200" y="475488"/>
            <a:ext cx="8229600" cy="548640"/>
          </a:xfrm>
          <a:prstGeom prst="rect">
            <a:avLst/>
          </a:prstGeom>
          <a:noFill/>
          <a:ln/>
        </p:spPr>
        <p:txBody>
          <a:bodyPr wrap="square" lIns="0" tIns="0" rIns="0" bIns="0" rtlCol="0" anchor="ctr"/>
          <a:lstStyle/>
          <a:p>
            <a:pPr indent="0" marL="0">
              <a:buNone/>
            </a:pPr>
            <a:r>
              <a:rPr lang="en-US" sz="2800" b="1" dirty="0">
                <a:solidFill>
                  <a:srgbClr val="0B1F3A"/>
                </a:solidFill>
                <a:latin typeface="Calibri" pitchFamily="34" charset="0"/>
                <a:ea typeface="Calibri" pitchFamily="34" charset="-122"/>
                <a:cs typeface="Calibri" pitchFamily="34" charset="-120"/>
              </a:rPr>
              <a:t>What we will cover</a:t>
            </a:r>
            <a:endParaRPr lang="en-US" sz="2800" dirty="0"/>
          </a:p>
        </p:txBody>
      </p:sp>
      <p:sp>
        <p:nvSpPr>
          <p:cNvPr id="5" name="Shape 3"/>
          <p:cNvSpPr/>
          <p:nvPr/>
        </p:nvSpPr>
        <p:spPr>
          <a:xfrm>
            <a:off x="457200" y="4800600"/>
            <a:ext cx="8229600" cy="0"/>
          </a:xfrm>
          <a:prstGeom prst="line">
            <a:avLst/>
          </a:prstGeom>
          <a:noFill/>
          <a:ln w="9525">
            <a:solidFill>
              <a:srgbClr val="D1D5DB"/>
            </a:solidFill>
            <a:prstDash val="solid"/>
          </a:ln>
        </p:spPr>
      </p:sp>
      <p:sp>
        <p:nvSpPr>
          <p:cNvPr id="6" name="Text 4"/>
          <p:cNvSpPr txBox="1"/>
          <p:nvPr/>
        </p:nvSpPr>
        <p:spPr>
          <a:xfrm>
            <a:off x="457200" y="4846320"/>
            <a:ext cx="5486400" cy="22860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CodeAlpha  |  Phishing Awareness Training</a:t>
            </a:r>
            <a:endParaRPr lang="en-US" sz="1000" dirty="0"/>
          </a:p>
        </p:txBody>
      </p:sp>
      <p:sp>
        <p:nvSpPr>
          <p:cNvPr id="7" name="Text 5"/>
          <p:cNvSpPr txBox="1"/>
          <p:nvPr/>
        </p:nvSpPr>
        <p:spPr>
          <a:xfrm>
            <a:off x="8229600" y="4846320"/>
            <a:ext cx="457200" cy="22860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2</a:t>
            </a:r>
            <a:endParaRPr lang="en-US" sz="1000" dirty="0"/>
          </a:p>
        </p:txBody>
      </p:sp>
      <p:sp>
        <p:nvSpPr>
          <p:cNvPr id="8" name="Shape 6"/>
          <p:cNvSpPr/>
          <p:nvPr/>
        </p:nvSpPr>
        <p:spPr>
          <a:xfrm>
            <a:off x="457200" y="1280160"/>
            <a:ext cx="2621280" cy="1417320"/>
          </a:xfrm>
          <a:prstGeom prst="rect">
            <a:avLst/>
          </a:prstGeom>
          <a:solidFill>
            <a:srgbClr val="FFFFFF"/>
          </a:solidFill>
          <a:ln w="9525">
            <a:solidFill>
              <a:srgbClr val="E5E7EB"/>
            </a:solidFill>
            <a:prstDash val="solid"/>
          </a:ln>
          <a:effectLst>
            <a:outerShdw sx="100000" sy="100000" kx="0" ky="0" algn="bl" rotWithShape="0" blurRad="76200" dist="25400" dir="5400000">
              <a:srgbClr val="000000">
                <a:alpha val="12000"/>
              </a:srgbClr>
            </a:outerShdw>
          </a:effectLst>
        </p:spPr>
      </p:sp>
      <p:sp>
        <p:nvSpPr>
          <p:cNvPr id="9" name="Shape 7"/>
          <p:cNvSpPr/>
          <p:nvPr/>
        </p:nvSpPr>
        <p:spPr>
          <a:xfrm>
            <a:off x="457200" y="1280160"/>
            <a:ext cx="2621280" cy="64008"/>
          </a:xfrm>
          <a:prstGeom prst="rect">
            <a:avLst/>
          </a:prstGeom>
          <a:solidFill>
            <a:srgbClr val="14B8A6"/>
          </a:solidFill>
          <a:ln w="12700">
            <a:solidFill>
              <a:srgbClr val="14B8A6"/>
            </a:solidFill>
            <a:prstDash val="solid"/>
          </a:ln>
        </p:spPr>
      </p:sp>
      <p:sp>
        <p:nvSpPr>
          <p:cNvPr id="10" name="Shape 8"/>
          <p:cNvSpPr/>
          <p:nvPr/>
        </p:nvSpPr>
        <p:spPr>
          <a:xfrm>
            <a:off x="621792" y="1508760"/>
            <a:ext cx="384048" cy="384048"/>
          </a:xfrm>
          <a:prstGeom prst="ellipse">
            <a:avLst/>
          </a:prstGeom>
          <a:solidFill>
            <a:srgbClr val="14B8A6"/>
          </a:solidFill>
          <a:ln w="12700">
            <a:solidFill>
              <a:srgbClr val="14B8A6"/>
            </a:solidFill>
            <a:prstDash val="solid"/>
          </a:ln>
        </p:spPr>
      </p:sp>
      <p:sp>
        <p:nvSpPr>
          <p:cNvPr id="11" name="Text 9"/>
          <p:cNvSpPr txBox="1"/>
          <p:nvPr/>
        </p:nvSpPr>
        <p:spPr>
          <a:xfrm>
            <a:off x="621792" y="150876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2" name="Text 10"/>
          <p:cNvSpPr txBox="1"/>
          <p:nvPr/>
        </p:nvSpPr>
        <p:spPr>
          <a:xfrm>
            <a:off x="1115568" y="1408176"/>
            <a:ext cx="1825752" cy="1234440"/>
          </a:xfrm>
          <a:prstGeom prst="rect">
            <a:avLst/>
          </a:prstGeom>
          <a:noFill/>
          <a:ln/>
        </p:spPr>
        <p:txBody>
          <a:bodyPr wrap="square" lIns="0" tIns="0" rIns="0" bIns="0" rtlCol="0" anchor="ctr"/>
          <a:lstStyle/>
          <a:p>
            <a:pPr indent="0" marL="0">
              <a:buNone/>
            </a:pPr>
            <a:r>
              <a:rPr lang="en-US" sz="1400" b="1" dirty="0">
                <a:solidFill>
                  <a:srgbClr val="0B1F3A"/>
                </a:solidFill>
                <a:latin typeface="Calibri" pitchFamily="34" charset="0"/>
                <a:ea typeface="Calibri" pitchFamily="34" charset="-122"/>
                <a:cs typeface="Calibri" pitchFamily="34" charset="-120"/>
              </a:rPr>
              <a:t>Why it matters</a:t>
            </a:r>
            <a:endParaRPr lang="en-US" sz="1400" dirty="0"/>
          </a:p>
          <a:p>
            <a:pPr indent="0" marL="0">
              <a:buNone/>
            </a:pPr>
            <a:r>
              <a:rPr lang="en-US" sz="1150" dirty="0">
                <a:solidFill>
                  <a:srgbClr val="1F2937"/>
                </a:solidFill>
                <a:latin typeface="Calibri" pitchFamily="34" charset="0"/>
                <a:ea typeface="Calibri" pitchFamily="34" charset="-122"/>
                <a:cs typeface="Calibri" pitchFamily="34" charset="-120"/>
              </a:rPr>
              <a:t>The numbers behind phishing</a:t>
            </a:r>
            <a:endParaRPr lang="en-US" sz="1400" dirty="0"/>
          </a:p>
        </p:txBody>
      </p:sp>
      <p:sp>
        <p:nvSpPr>
          <p:cNvPr id="13" name="Shape 11"/>
          <p:cNvSpPr/>
          <p:nvPr/>
        </p:nvSpPr>
        <p:spPr>
          <a:xfrm>
            <a:off x="3261360" y="1280160"/>
            <a:ext cx="2621280" cy="1417320"/>
          </a:xfrm>
          <a:prstGeom prst="rect">
            <a:avLst/>
          </a:prstGeom>
          <a:solidFill>
            <a:srgbClr val="FFFFFF"/>
          </a:solidFill>
          <a:ln w="9525">
            <a:solidFill>
              <a:srgbClr val="E5E7EB"/>
            </a:solidFill>
            <a:prstDash val="solid"/>
          </a:ln>
          <a:effectLst>
            <a:outerShdw sx="100000" sy="100000" kx="0" ky="0" algn="bl" rotWithShape="0" blurRad="76200" dist="25400" dir="5400000">
              <a:srgbClr val="000000">
                <a:alpha val="12000"/>
              </a:srgbClr>
            </a:outerShdw>
          </a:effectLst>
        </p:spPr>
      </p:sp>
      <p:sp>
        <p:nvSpPr>
          <p:cNvPr id="14" name="Shape 12"/>
          <p:cNvSpPr/>
          <p:nvPr/>
        </p:nvSpPr>
        <p:spPr>
          <a:xfrm>
            <a:off x="3261360" y="1280160"/>
            <a:ext cx="2621280" cy="64008"/>
          </a:xfrm>
          <a:prstGeom prst="rect">
            <a:avLst/>
          </a:prstGeom>
          <a:solidFill>
            <a:srgbClr val="F59E0B"/>
          </a:solidFill>
          <a:ln w="12700">
            <a:solidFill>
              <a:srgbClr val="F59E0B"/>
            </a:solidFill>
            <a:prstDash val="solid"/>
          </a:ln>
        </p:spPr>
      </p:sp>
      <p:sp>
        <p:nvSpPr>
          <p:cNvPr id="15" name="Shape 13"/>
          <p:cNvSpPr/>
          <p:nvPr/>
        </p:nvSpPr>
        <p:spPr>
          <a:xfrm>
            <a:off x="3425952" y="1508760"/>
            <a:ext cx="384048" cy="384048"/>
          </a:xfrm>
          <a:prstGeom prst="ellipse">
            <a:avLst/>
          </a:prstGeom>
          <a:solidFill>
            <a:srgbClr val="F59E0B"/>
          </a:solidFill>
          <a:ln w="12700">
            <a:solidFill>
              <a:srgbClr val="F59E0B"/>
            </a:solidFill>
            <a:prstDash val="solid"/>
          </a:ln>
        </p:spPr>
      </p:sp>
      <p:sp>
        <p:nvSpPr>
          <p:cNvPr id="16" name="Text 14"/>
          <p:cNvSpPr txBox="1"/>
          <p:nvPr/>
        </p:nvSpPr>
        <p:spPr>
          <a:xfrm>
            <a:off x="3425952" y="150876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5"/>
          <p:cNvSpPr txBox="1"/>
          <p:nvPr/>
        </p:nvSpPr>
        <p:spPr>
          <a:xfrm>
            <a:off x="3919728" y="1408176"/>
            <a:ext cx="1825752" cy="1234440"/>
          </a:xfrm>
          <a:prstGeom prst="rect">
            <a:avLst/>
          </a:prstGeom>
          <a:noFill/>
          <a:ln/>
        </p:spPr>
        <p:txBody>
          <a:bodyPr wrap="square" lIns="0" tIns="0" rIns="0" bIns="0" rtlCol="0" anchor="ctr"/>
          <a:lstStyle/>
          <a:p>
            <a:pPr indent="0" marL="0">
              <a:buNone/>
            </a:pPr>
            <a:r>
              <a:rPr lang="en-US" sz="1400" b="1" dirty="0">
                <a:solidFill>
                  <a:srgbClr val="0B1F3A"/>
                </a:solidFill>
                <a:latin typeface="Calibri" pitchFamily="34" charset="0"/>
                <a:ea typeface="Calibri" pitchFamily="34" charset="-122"/>
                <a:cs typeface="Calibri" pitchFamily="34" charset="-120"/>
              </a:rPr>
              <a:t>How phishing works</a:t>
            </a:r>
            <a:endParaRPr lang="en-US" sz="1400" dirty="0"/>
          </a:p>
          <a:p>
            <a:pPr indent="0" marL="0">
              <a:buNone/>
            </a:pPr>
            <a:r>
              <a:rPr lang="en-US" sz="1150" dirty="0">
                <a:solidFill>
                  <a:srgbClr val="1F2937"/>
                </a:solidFill>
                <a:latin typeface="Calibri" pitchFamily="34" charset="0"/>
                <a:ea typeface="Calibri" pitchFamily="34" charset="-122"/>
                <a:cs typeface="Calibri" pitchFamily="34" charset="-120"/>
              </a:rPr>
              <a:t>The attack lifecycle and types</a:t>
            </a:r>
            <a:endParaRPr lang="en-US" sz="1400" dirty="0"/>
          </a:p>
        </p:txBody>
      </p:sp>
      <p:sp>
        <p:nvSpPr>
          <p:cNvPr id="18" name="Shape 16"/>
          <p:cNvSpPr/>
          <p:nvPr/>
        </p:nvSpPr>
        <p:spPr>
          <a:xfrm>
            <a:off x="6065520" y="1280160"/>
            <a:ext cx="2621280" cy="1417320"/>
          </a:xfrm>
          <a:prstGeom prst="rect">
            <a:avLst/>
          </a:prstGeom>
          <a:solidFill>
            <a:srgbClr val="FFFFFF"/>
          </a:solidFill>
          <a:ln w="9525">
            <a:solidFill>
              <a:srgbClr val="E5E7EB"/>
            </a:solidFill>
            <a:prstDash val="solid"/>
          </a:ln>
          <a:effectLst>
            <a:outerShdw sx="100000" sy="100000" kx="0" ky="0" algn="bl" rotWithShape="0" blurRad="76200" dist="25400" dir="5400000">
              <a:srgbClr val="000000">
                <a:alpha val="12000"/>
              </a:srgbClr>
            </a:outerShdw>
          </a:effectLst>
        </p:spPr>
      </p:sp>
      <p:sp>
        <p:nvSpPr>
          <p:cNvPr id="19" name="Shape 17"/>
          <p:cNvSpPr/>
          <p:nvPr/>
        </p:nvSpPr>
        <p:spPr>
          <a:xfrm>
            <a:off x="6065520" y="1280160"/>
            <a:ext cx="2621280" cy="64008"/>
          </a:xfrm>
          <a:prstGeom prst="rect">
            <a:avLst/>
          </a:prstGeom>
          <a:solidFill>
            <a:srgbClr val="EF4444"/>
          </a:solidFill>
          <a:ln w="12700">
            <a:solidFill>
              <a:srgbClr val="EF4444"/>
            </a:solidFill>
            <a:prstDash val="solid"/>
          </a:ln>
        </p:spPr>
      </p:sp>
      <p:sp>
        <p:nvSpPr>
          <p:cNvPr id="20" name="Shape 18"/>
          <p:cNvSpPr/>
          <p:nvPr/>
        </p:nvSpPr>
        <p:spPr>
          <a:xfrm>
            <a:off x="6230112" y="1508760"/>
            <a:ext cx="384048" cy="384048"/>
          </a:xfrm>
          <a:prstGeom prst="ellipse">
            <a:avLst/>
          </a:prstGeom>
          <a:solidFill>
            <a:srgbClr val="EF4444"/>
          </a:solidFill>
          <a:ln w="12700">
            <a:solidFill>
              <a:srgbClr val="EF4444"/>
            </a:solidFill>
            <a:prstDash val="solid"/>
          </a:ln>
        </p:spPr>
      </p:sp>
      <p:sp>
        <p:nvSpPr>
          <p:cNvPr id="21" name="Text 19"/>
          <p:cNvSpPr txBox="1"/>
          <p:nvPr/>
        </p:nvSpPr>
        <p:spPr>
          <a:xfrm>
            <a:off x="6230112" y="150876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2" name="Text 20"/>
          <p:cNvSpPr txBox="1"/>
          <p:nvPr/>
        </p:nvSpPr>
        <p:spPr>
          <a:xfrm>
            <a:off x="6723888" y="1408176"/>
            <a:ext cx="1825752" cy="1234440"/>
          </a:xfrm>
          <a:prstGeom prst="rect">
            <a:avLst/>
          </a:prstGeom>
          <a:noFill/>
          <a:ln/>
        </p:spPr>
        <p:txBody>
          <a:bodyPr wrap="square" lIns="0" tIns="0" rIns="0" bIns="0" rtlCol="0" anchor="ctr"/>
          <a:lstStyle/>
          <a:p>
            <a:pPr indent="0" marL="0">
              <a:buNone/>
            </a:pPr>
            <a:r>
              <a:rPr lang="en-US" sz="1400" b="1" dirty="0">
                <a:solidFill>
                  <a:srgbClr val="0B1F3A"/>
                </a:solidFill>
                <a:latin typeface="Calibri" pitchFamily="34" charset="0"/>
                <a:ea typeface="Calibri" pitchFamily="34" charset="-122"/>
                <a:cs typeface="Calibri" pitchFamily="34" charset="-120"/>
              </a:rPr>
              <a:t>Recognize it</a:t>
            </a:r>
            <a:endParaRPr lang="en-US" sz="1400" dirty="0"/>
          </a:p>
          <a:p>
            <a:pPr indent="0" marL="0">
              <a:buNone/>
            </a:pPr>
            <a:r>
              <a:rPr lang="en-US" sz="1150" dirty="0">
                <a:solidFill>
                  <a:srgbClr val="1F2937"/>
                </a:solidFill>
                <a:latin typeface="Calibri" pitchFamily="34" charset="0"/>
                <a:ea typeface="Calibri" pitchFamily="34" charset="-122"/>
                <a:cs typeface="Calibri" pitchFamily="34" charset="-120"/>
              </a:rPr>
              <a:t>Emails, websites, texts and calls</a:t>
            </a:r>
            <a:endParaRPr lang="en-US" sz="1400" dirty="0"/>
          </a:p>
        </p:txBody>
      </p:sp>
      <p:sp>
        <p:nvSpPr>
          <p:cNvPr id="23" name="Shape 21"/>
          <p:cNvSpPr/>
          <p:nvPr/>
        </p:nvSpPr>
        <p:spPr>
          <a:xfrm>
            <a:off x="457200" y="2862072"/>
            <a:ext cx="2621280" cy="1417320"/>
          </a:xfrm>
          <a:prstGeom prst="rect">
            <a:avLst/>
          </a:prstGeom>
          <a:solidFill>
            <a:srgbClr val="FFFFFF"/>
          </a:solidFill>
          <a:ln w="9525">
            <a:solidFill>
              <a:srgbClr val="E5E7EB"/>
            </a:solidFill>
            <a:prstDash val="solid"/>
          </a:ln>
          <a:effectLst>
            <a:outerShdw sx="100000" sy="100000" kx="0" ky="0" algn="bl" rotWithShape="0" blurRad="76200" dist="25400" dir="5400000">
              <a:srgbClr val="000000">
                <a:alpha val="12000"/>
              </a:srgbClr>
            </a:outerShdw>
          </a:effectLst>
        </p:spPr>
      </p:sp>
      <p:sp>
        <p:nvSpPr>
          <p:cNvPr id="24" name="Shape 22"/>
          <p:cNvSpPr/>
          <p:nvPr/>
        </p:nvSpPr>
        <p:spPr>
          <a:xfrm>
            <a:off x="457200" y="2862072"/>
            <a:ext cx="2621280" cy="64008"/>
          </a:xfrm>
          <a:prstGeom prst="rect">
            <a:avLst/>
          </a:prstGeom>
          <a:solidFill>
            <a:srgbClr val="14B8A6"/>
          </a:solidFill>
          <a:ln w="12700">
            <a:solidFill>
              <a:srgbClr val="14B8A6"/>
            </a:solidFill>
            <a:prstDash val="solid"/>
          </a:ln>
        </p:spPr>
      </p:sp>
      <p:sp>
        <p:nvSpPr>
          <p:cNvPr id="25" name="Shape 23"/>
          <p:cNvSpPr/>
          <p:nvPr/>
        </p:nvSpPr>
        <p:spPr>
          <a:xfrm>
            <a:off x="621792" y="3090672"/>
            <a:ext cx="384048" cy="384048"/>
          </a:xfrm>
          <a:prstGeom prst="ellipse">
            <a:avLst/>
          </a:prstGeom>
          <a:solidFill>
            <a:srgbClr val="14B8A6"/>
          </a:solidFill>
          <a:ln w="12700">
            <a:solidFill>
              <a:srgbClr val="14B8A6"/>
            </a:solidFill>
            <a:prstDash val="solid"/>
          </a:ln>
        </p:spPr>
      </p:sp>
      <p:sp>
        <p:nvSpPr>
          <p:cNvPr id="26" name="Text 24"/>
          <p:cNvSpPr txBox="1"/>
          <p:nvPr/>
        </p:nvSpPr>
        <p:spPr>
          <a:xfrm>
            <a:off x="621792" y="309067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7" name="Text 25"/>
          <p:cNvSpPr txBox="1"/>
          <p:nvPr/>
        </p:nvSpPr>
        <p:spPr>
          <a:xfrm>
            <a:off x="1115568" y="2990088"/>
            <a:ext cx="1825752" cy="1234440"/>
          </a:xfrm>
          <a:prstGeom prst="rect">
            <a:avLst/>
          </a:prstGeom>
          <a:noFill/>
          <a:ln/>
        </p:spPr>
        <p:txBody>
          <a:bodyPr wrap="square" lIns="0" tIns="0" rIns="0" bIns="0" rtlCol="0" anchor="ctr"/>
          <a:lstStyle/>
          <a:p>
            <a:pPr indent="0" marL="0">
              <a:buNone/>
            </a:pPr>
            <a:r>
              <a:rPr lang="en-US" sz="1400" b="1" dirty="0">
                <a:solidFill>
                  <a:srgbClr val="0B1F3A"/>
                </a:solidFill>
                <a:latin typeface="Calibri" pitchFamily="34" charset="0"/>
                <a:ea typeface="Calibri" pitchFamily="34" charset="-122"/>
                <a:cs typeface="Calibri" pitchFamily="34" charset="-120"/>
              </a:rPr>
              <a:t>Social engineering</a:t>
            </a:r>
            <a:endParaRPr lang="en-US" sz="1400" dirty="0"/>
          </a:p>
          <a:p>
            <a:pPr indent="0" marL="0">
              <a:buNone/>
            </a:pPr>
            <a:r>
              <a:rPr lang="en-US" sz="1150" dirty="0">
                <a:solidFill>
                  <a:srgbClr val="1F2937"/>
                </a:solidFill>
                <a:latin typeface="Calibri" pitchFamily="34" charset="0"/>
                <a:ea typeface="Calibri" pitchFamily="34" charset="-122"/>
                <a:cs typeface="Calibri" pitchFamily="34" charset="-120"/>
              </a:rPr>
              <a:t>The psychology of the trick</a:t>
            </a:r>
            <a:endParaRPr lang="en-US" sz="1400" dirty="0"/>
          </a:p>
        </p:txBody>
      </p:sp>
      <p:sp>
        <p:nvSpPr>
          <p:cNvPr id="28" name="Shape 26"/>
          <p:cNvSpPr/>
          <p:nvPr/>
        </p:nvSpPr>
        <p:spPr>
          <a:xfrm>
            <a:off x="3261360" y="2862072"/>
            <a:ext cx="2621280" cy="1417320"/>
          </a:xfrm>
          <a:prstGeom prst="rect">
            <a:avLst/>
          </a:prstGeom>
          <a:solidFill>
            <a:srgbClr val="FFFFFF"/>
          </a:solidFill>
          <a:ln w="9525">
            <a:solidFill>
              <a:srgbClr val="E5E7EB"/>
            </a:solidFill>
            <a:prstDash val="solid"/>
          </a:ln>
          <a:effectLst>
            <a:outerShdw sx="100000" sy="100000" kx="0" ky="0" algn="bl" rotWithShape="0" blurRad="76200" dist="25400" dir="5400000">
              <a:srgbClr val="000000">
                <a:alpha val="12000"/>
              </a:srgbClr>
            </a:outerShdw>
          </a:effectLst>
        </p:spPr>
      </p:sp>
      <p:sp>
        <p:nvSpPr>
          <p:cNvPr id="29" name="Shape 27"/>
          <p:cNvSpPr/>
          <p:nvPr/>
        </p:nvSpPr>
        <p:spPr>
          <a:xfrm>
            <a:off x="3261360" y="2862072"/>
            <a:ext cx="2621280" cy="64008"/>
          </a:xfrm>
          <a:prstGeom prst="rect">
            <a:avLst/>
          </a:prstGeom>
          <a:solidFill>
            <a:srgbClr val="F59E0B"/>
          </a:solidFill>
          <a:ln w="12700">
            <a:solidFill>
              <a:srgbClr val="F59E0B"/>
            </a:solidFill>
            <a:prstDash val="solid"/>
          </a:ln>
        </p:spPr>
      </p:sp>
      <p:sp>
        <p:nvSpPr>
          <p:cNvPr id="30" name="Shape 28"/>
          <p:cNvSpPr/>
          <p:nvPr/>
        </p:nvSpPr>
        <p:spPr>
          <a:xfrm>
            <a:off x="3425952" y="3090672"/>
            <a:ext cx="384048" cy="384048"/>
          </a:xfrm>
          <a:prstGeom prst="ellipse">
            <a:avLst/>
          </a:prstGeom>
          <a:solidFill>
            <a:srgbClr val="F59E0B"/>
          </a:solidFill>
          <a:ln w="12700">
            <a:solidFill>
              <a:srgbClr val="F59E0B"/>
            </a:solidFill>
            <a:prstDash val="solid"/>
          </a:ln>
        </p:spPr>
      </p:sp>
      <p:sp>
        <p:nvSpPr>
          <p:cNvPr id="31" name="Text 29"/>
          <p:cNvSpPr txBox="1"/>
          <p:nvPr/>
        </p:nvSpPr>
        <p:spPr>
          <a:xfrm>
            <a:off x="3425952" y="309067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32" name="Text 30"/>
          <p:cNvSpPr txBox="1"/>
          <p:nvPr/>
        </p:nvSpPr>
        <p:spPr>
          <a:xfrm>
            <a:off x="3919728" y="2990088"/>
            <a:ext cx="1825752" cy="1234440"/>
          </a:xfrm>
          <a:prstGeom prst="rect">
            <a:avLst/>
          </a:prstGeom>
          <a:noFill/>
          <a:ln/>
        </p:spPr>
        <p:txBody>
          <a:bodyPr wrap="square" lIns="0" tIns="0" rIns="0" bIns="0" rtlCol="0" anchor="ctr"/>
          <a:lstStyle/>
          <a:p>
            <a:pPr indent="0" marL="0">
              <a:buNone/>
            </a:pPr>
            <a:r>
              <a:rPr lang="en-US" sz="1400" b="1" dirty="0">
                <a:solidFill>
                  <a:srgbClr val="0B1F3A"/>
                </a:solidFill>
                <a:latin typeface="Calibri" pitchFamily="34" charset="0"/>
                <a:ea typeface="Calibri" pitchFamily="34" charset="-122"/>
                <a:cs typeface="Calibri" pitchFamily="34" charset="-120"/>
              </a:rPr>
              <a:t>Real cases</a:t>
            </a:r>
            <a:endParaRPr lang="en-US" sz="1400" dirty="0"/>
          </a:p>
          <a:p>
            <a:pPr indent="0" marL="0">
              <a:buNone/>
            </a:pPr>
            <a:r>
              <a:rPr lang="en-US" sz="1150" dirty="0">
                <a:solidFill>
                  <a:srgbClr val="1F2937"/>
                </a:solidFill>
                <a:latin typeface="Calibri" pitchFamily="34" charset="0"/>
                <a:ea typeface="Calibri" pitchFamily="34" charset="-122"/>
                <a:cs typeface="Calibri" pitchFamily="34" charset="-120"/>
              </a:rPr>
              <a:t>Famous attacks and lessons</a:t>
            </a:r>
            <a:endParaRPr lang="en-US" sz="1400" dirty="0"/>
          </a:p>
        </p:txBody>
      </p:sp>
      <p:sp>
        <p:nvSpPr>
          <p:cNvPr id="33" name="Shape 31"/>
          <p:cNvSpPr/>
          <p:nvPr/>
        </p:nvSpPr>
        <p:spPr>
          <a:xfrm>
            <a:off x="6065520" y="2862072"/>
            <a:ext cx="2621280" cy="1417320"/>
          </a:xfrm>
          <a:prstGeom prst="rect">
            <a:avLst/>
          </a:prstGeom>
          <a:solidFill>
            <a:srgbClr val="FFFFFF"/>
          </a:solidFill>
          <a:ln w="9525">
            <a:solidFill>
              <a:srgbClr val="E5E7EB"/>
            </a:solidFill>
            <a:prstDash val="solid"/>
          </a:ln>
          <a:effectLst>
            <a:outerShdw sx="100000" sy="100000" kx="0" ky="0" algn="bl" rotWithShape="0" blurRad="76200" dist="25400" dir="5400000">
              <a:srgbClr val="000000">
                <a:alpha val="12000"/>
              </a:srgbClr>
            </a:outerShdw>
          </a:effectLst>
        </p:spPr>
      </p:sp>
      <p:sp>
        <p:nvSpPr>
          <p:cNvPr id="34" name="Shape 32"/>
          <p:cNvSpPr/>
          <p:nvPr/>
        </p:nvSpPr>
        <p:spPr>
          <a:xfrm>
            <a:off x="6065520" y="2862072"/>
            <a:ext cx="2621280" cy="64008"/>
          </a:xfrm>
          <a:prstGeom prst="rect">
            <a:avLst/>
          </a:prstGeom>
          <a:solidFill>
            <a:srgbClr val="EF4444"/>
          </a:solidFill>
          <a:ln w="12700">
            <a:solidFill>
              <a:srgbClr val="EF4444"/>
            </a:solidFill>
            <a:prstDash val="solid"/>
          </a:ln>
        </p:spPr>
      </p:sp>
      <p:sp>
        <p:nvSpPr>
          <p:cNvPr id="35" name="Shape 33"/>
          <p:cNvSpPr/>
          <p:nvPr/>
        </p:nvSpPr>
        <p:spPr>
          <a:xfrm>
            <a:off x="6230112" y="3090672"/>
            <a:ext cx="384048" cy="384048"/>
          </a:xfrm>
          <a:prstGeom prst="ellipse">
            <a:avLst/>
          </a:prstGeom>
          <a:solidFill>
            <a:srgbClr val="EF4444"/>
          </a:solidFill>
          <a:ln w="12700">
            <a:solidFill>
              <a:srgbClr val="EF4444"/>
            </a:solidFill>
            <a:prstDash val="solid"/>
          </a:ln>
        </p:spPr>
      </p:sp>
      <p:sp>
        <p:nvSpPr>
          <p:cNvPr id="36" name="Text 34"/>
          <p:cNvSpPr txBox="1"/>
          <p:nvPr/>
        </p:nvSpPr>
        <p:spPr>
          <a:xfrm>
            <a:off x="6230112" y="309067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37" name="Text 35"/>
          <p:cNvSpPr txBox="1"/>
          <p:nvPr/>
        </p:nvSpPr>
        <p:spPr>
          <a:xfrm>
            <a:off x="6723888" y="2990088"/>
            <a:ext cx="1825752" cy="1234440"/>
          </a:xfrm>
          <a:prstGeom prst="rect">
            <a:avLst/>
          </a:prstGeom>
          <a:noFill/>
          <a:ln/>
        </p:spPr>
        <p:txBody>
          <a:bodyPr wrap="square" lIns="0" tIns="0" rIns="0" bIns="0" rtlCol="0" anchor="ctr"/>
          <a:lstStyle/>
          <a:p>
            <a:pPr indent="0" marL="0">
              <a:buNone/>
            </a:pPr>
            <a:r>
              <a:rPr lang="en-US" sz="1400" b="1" dirty="0">
                <a:solidFill>
                  <a:srgbClr val="0B1F3A"/>
                </a:solidFill>
                <a:latin typeface="Calibri" pitchFamily="34" charset="0"/>
                <a:ea typeface="Calibri" pitchFamily="34" charset="-122"/>
                <a:cs typeface="Calibri" pitchFamily="34" charset="-120"/>
              </a:rPr>
              <a:t>Defend and respond</a:t>
            </a:r>
            <a:endParaRPr lang="en-US" sz="1400" dirty="0"/>
          </a:p>
          <a:p>
            <a:pPr indent="0" marL="0">
              <a:buNone/>
            </a:pPr>
            <a:r>
              <a:rPr lang="en-US" sz="1150" dirty="0">
                <a:solidFill>
                  <a:srgbClr val="1F2937"/>
                </a:solidFill>
                <a:latin typeface="Calibri" pitchFamily="34" charset="0"/>
                <a:ea typeface="Calibri" pitchFamily="34" charset="-122"/>
                <a:cs typeface="Calibri" pitchFamily="34" charset="-120"/>
              </a:rPr>
              <a:t>Best practices, quiz and takeaways</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14B8A6"/>
          </a:solidFill>
          <a:ln w="12700">
            <a:solidFill>
              <a:srgbClr val="14B8A6"/>
            </a:solidFill>
            <a:prstDash val="solid"/>
          </a:ln>
        </p:spPr>
      </p:sp>
      <p:sp>
        <p:nvSpPr>
          <p:cNvPr id="3" name="Text 1"/>
          <p:cNvSpPr txBox="1"/>
          <p:nvPr/>
        </p:nvSpPr>
        <p:spPr>
          <a:xfrm>
            <a:off x="457200" y="256032"/>
            <a:ext cx="5486400" cy="228600"/>
          </a:xfrm>
          <a:prstGeom prst="rect">
            <a:avLst/>
          </a:prstGeom>
          <a:noFill/>
          <a:ln/>
        </p:spPr>
        <p:txBody>
          <a:bodyPr wrap="square" lIns="0" tIns="0" rIns="0" bIns="0" rtlCol="0" anchor="ctr"/>
          <a:lstStyle/>
          <a:p>
            <a:pPr indent="0" marL="0">
              <a:buNone/>
            </a:pPr>
            <a:r>
              <a:rPr lang="en-US" sz="1100" b="1" spc="300" kern="0" dirty="0">
                <a:solidFill>
                  <a:srgbClr val="14B8A6"/>
                </a:solidFill>
                <a:latin typeface="Calibri" pitchFamily="34" charset="0"/>
                <a:ea typeface="Calibri" pitchFamily="34" charset="-122"/>
                <a:cs typeface="Calibri" pitchFamily="34" charset="-120"/>
              </a:rPr>
              <a:t>WHY IT MATTERS</a:t>
            </a:r>
            <a:endParaRPr lang="en-US" sz="1100" dirty="0"/>
          </a:p>
        </p:txBody>
      </p:sp>
      <p:sp>
        <p:nvSpPr>
          <p:cNvPr id="4" name="Text 2"/>
          <p:cNvSpPr txBox="1"/>
          <p:nvPr/>
        </p:nvSpPr>
        <p:spPr>
          <a:xfrm>
            <a:off x="457200" y="475488"/>
            <a:ext cx="8229600" cy="548640"/>
          </a:xfrm>
          <a:prstGeom prst="rect">
            <a:avLst/>
          </a:prstGeom>
          <a:noFill/>
          <a:ln/>
        </p:spPr>
        <p:txBody>
          <a:bodyPr wrap="square" lIns="0" tIns="0" rIns="0" bIns="0" rtlCol="0" anchor="ctr"/>
          <a:lstStyle/>
          <a:p>
            <a:pPr indent="0" marL="0">
              <a:buNone/>
            </a:pPr>
            <a:r>
              <a:rPr lang="en-US" sz="2800" b="1" dirty="0">
                <a:solidFill>
                  <a:srgbClr val="0B1F3A"/>
                </a:solidFill>
                <a:latin typeface="Calibri" pitchFamily="34" charset="0"/>
                <a:ea typeface="Calibri" pitchFamily="34" charset="-122"/>
                <a:cs typeface="Calibri" pitchFamily="34" charset="-120"/>
              </a:rPr>
              <a:t>Why phishing matters</a:t>
            </a:r>
            <a:endParaRPr lang="en-US" sz="2800" dirty="0"/>
          </a:p>
        </p:txBody>
      </p:sp>
      <p:sp>
        <p:nvSpPr>
          <p:cNvPr id="5" name="Shape 3"/>
          <p:cNvSpPr/>
          <p:nvPr/>
        </p:nvSpPr>
        <p:spPr>
          <a:xfrm>
            <a:off x="457200" y="4800600"/>
            <a:ext cx="8229600" cy="0"/>
          </a:xfrm>
          <a:prstGeom prst="line">
            <a:avLst/>
          </a:prstGeom>
          <a:noFill/>
          <a:ln w="9525">
            <a:solidFill>
              <a:srgbClr val="D1D5DB"/>
            </a:solidFill>
            <a:prstDash val="solid"/>
          </a:ln>
        </p:spPr>
      </p:sp>
      <p:sp>
        <p:nvSpPr>
          <p:cNvPr id="6" name="Text 4"/>
          <p:cNvSpPr txBox="1"/>
          <p:nvPr/>
        </p:nvSpPr>
        <p:spPr>
          <a:xfrm>
            <a:off x="457200" y="4846320"/>
            <a:ext cx="5486400" cy="22860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CodeAlpha  |  Phishing Awareness Training</a:t>
            </a:r>
            <a:endParaRPr lang="en-US" sz="1000" dirty="0"/>
          </a:p>
        </p:txBody>
      </p:sp>
      <p:sp>
        <p:nvSpPr>
          <p:cNvPr id="7" name="Text 5"/>
          <p:cNvSpPr txBox="1"/>
          <p:nvPr/>
        </p:nvSpPr>
        <p:spPr>
          <a:xfrm>
            <a:off x="8229600" y="4846320"/>
            <a:ext cx="457200" cy="22860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3</a:t>
            </a:r>
            <a:endParaRPr lang="en-US" sz="1000" dirty="0"/>
          </a:p>
        </p:txBody>
      </p:sp>
      <p:sp>
        <p:nvSpPr>
          <p:cNvPr id="8" name="Shape 6"/>
          <p:cNvSpPr/>
          <p:nvPr/>
        </p:nvSpPr>
        <p:spPr>
          <a:xfrm>
            <a:off x="457200" y="1280160"/>
            <a:ext cx="2615184" cy="2560320"/>
          </a:xfrm>
          <a:prstGeom prst="rect">
            <a:avLst/>
          </a:prstGeom>
          <a:solidFill>
            <a:srgbClr val="FFFFFF"/>
          </a:solidFill>
          <a:ln w="9525">
            <a:solidFill>
              <a:srgbClr val="E5E7EB"/>
            </a:solidFill>
            <a:prstDash val="solid"/>
          </a:ln>
          <a:effectLst>
            <a:outerShdw sx="100000" sy="100000" kx="0" ky="0" algn="bl" rotWithShape="0" blurRad="76200" dist="25400" dir="5400000">
              <a:srgbClr val="000000">
                <a:alpha val="12000"/>
              </a:srgbClr>
            </a:outerShdw>
          </a:effectLst>
        </p:spPr>
      </p:sp>
      <p:sp>
        <p:nvSpPr>
          <p:cNvPr id="9" name="Shape 7"/>
          <p:cNvSpPr/>
          <p:nvPr/>
        </p:nvSpPr>
        <p:spPr>
          <a:xfrm>
            <a:off x="457200" y="1280160"/>
            <a:ext cx="2615184" cy="82296"/>
          </a:xfrm>
          <a:prstGeom prst="rect">
            <a:avLst/>
          </a:prstGeom>
          <a:solidFill>
            <a:srgbClr val="EF4444"/>
          </a:solidFill>
          <a:ln w="12700">
            <a:solidFill>
              <a:srgbClr val="EF4444"/>
            </a:solidFill>
            <a:prstDash val="solid"/>
          </a:ln>
        </p:spPr>
      </p:sp>
      <p:sp>
        <p:nvSpPr>
          <p:cNvPr id="10" name="Text 8"/>
          <p:cNvSpPr txBox="1"/>
          <p:nvPr/>
        </p:nvSpPr>
        <p:spPr>
          <a:xfrm>
            <a:off x="457200" y="1508760"/>
            <a:ext cx="2615184" cy="1005840"/>
          </a:xfrm>
          <a:prstGeom prst="rect">
            <a:avLst/>
          </a:prstGeom>
          <a:noFill/>
          <a:ln/>
        </p:spPr>
        <p:txBody>
          <a:bodyPr wrap="square" lIns="0" tIns="0" rIns="0" bIns="0" rtlCol="0" anchor="ctr"/>
          <a:lstStyle/>
          <a:p>
            <a:pPr algn="ctr" indent="0" marL="0">
              <a:buNone/>
            </a:pPr>
            <a:r>
              <a:rPr lang="en-US" sz="5400" b="1" dirty="0">
                <a:solidFill>
                  <a:srgbClr val="EF4444"/>
                </a:solidFill>
                <a:latin typeface="Calibri" pitchFamily="34" charset="0"/>
                <a:ea typeface="Calibri" pitchFamily="34" charset="-122"/>
                <a:cs typeface="Calibri" pitchFamily="34" charset="-120"/>
              </a:rPr>
              <a:t>68%</a:t>
            </a:r>
            <a:endParaRPr lang="en-US" sz="5400" dirty="0"/>
          </a:p>
        </p:txBody>
      </p:sp>
      <p:sp>
        <p:nvSpPr>
          <p:cNvPr id="11" name="Text 9"/>
          <p:cNvSpPr txBox="1"/>
          <p:nvPr/>
        </p:nvSpPr>
        <p:spPr>
          <a:xfrm>
            <a:off x="640080" y="2560320"/>
            <a:ext cx="2249424" cy="640080"/>
          </a:xfrm>
          <a:prstGeom prst="rect">
            <a:avLst/>
          </a:prstGeom>
          <a:noFill/>
          <a:ln/>
        </p:spPr>
        <p:txBody>
          <a:bodyPr wrap="square" lIns="0" tIns="0" rIns="0" bIns="0" rtlCol="0" anchor="t"/>
          <a:lstStyle/>
          <a:p>
            <a:pPr algn="ctr" indent="0" marL="0">
              <a:buNone/>
            </a:pPr>
            <a:r>
              <a:rPr lang="en-US" sz="1400" b="1" dirty="0">
                <a:solidFill>
                  <a:srgbClr val="0B1F3A"/>
                </a:solidFill>
                <a:latin typeface="Calibri" pitchFamily="34" charset="0"/>
                <a:ea typeface="Calibri" pitchFamily="34" charset="-122"/>
                <a:cs typeface="Calibri" pitchFamily="34" charset="-120"/>
              </a:rPr>
              <a:t>of breaches involved a human element</a:t>
            </a:r>
            <a:endParaRPr lang="en-US" sz="1400" dirty="0"/>
          </a:p>
        </p:txBody>
      </p:sp>
      <p:sp>
        <p:nvSpPr>
          <p:cNvPr id="12" name="Text 10"/>
          <p:cNvSpPr txBox="1"/>
          <p:nvPr/>
        </p:nvSpPr>
        <p:spPr>
          <a:xfrm>
            <a:off x="640080" y="3383280"/>
            <a:ext cx="2249424" cy="274320"/>
          </a:xfrm>
          <a:prstGeom prst="rect">
            <a:avLst/>
          </a:prstGeom>
          <a:noFill/>
          <a:ln/>
        </p:spPr>
        <p:txBody>
          <a:bodyPr wrap="square" lIns="0" tIns="0" rIns="0" bIns="0" rtlCol="0" anchor="ctr"/>
          <a:lstStyle/>
          <a:p>
            <a:pPr algn="ctr" indent="0" marL="0">
              <a:buNone/>
            </a:pPr>
            <a:r>
              <a:rPr lang="en-US" sz="1000" dirty="0">
                <a:solidFill>
                  <a:srgbClr val="6B7280"/>
                </a:solidFill>
                <a:latin typeface="Calibri" pitchFamily="34" charset="0"/>
                <a:ea typeface="Calibri" pitchFamily="34" charset="-122"/>
                <a:cs typeface="Calibri" pitchFamily="34" charset="-120"/>
              </a:rPr>
              <a:t>Source: Verizon DBIR 2024</a:t>
            </a:r>
            <a:endParaRPr lang="en-US" sz="1000" dirty="0"/>
          </a:p>
        </p:txBody>
      </p:sp>
      <p:sp>
        <p:nvSpPr>
          <p:cNvPr id="13" name="Shape 11"/>
          <p:cNvSpPr/>
          <p:nvPr/>
        </p:nvSpPr>
        <p:spPr>
          <a:xfrm>
            <a:off x="3264408" y="1280160"/>
            <a:ext cx="2615184" cy="2560320"/>
          </a:xfrm>
          <a:prstGeom prst="rect">
            <a:avLst/>
          </a:prstGeom>
          <a:solidFill>
            <a:srgbClr val="FFFFFF"/>
          </a:solidFill>
          <a:ln w="9525">
            <a:solidFill>
              <a:srgbClr val="E5E7EB"/>
            </a:solidFill>
            <a:prstDash val="solid"/>
          </a:ln>
          <a:effectLst>
            <a:outerShdw sx="100000" sy="100000" kx="0" ky="0" algn="bl" rotWithShape="0" blurRad="76200" dist="25400" dir="5400000">
              <a:srgbClr val="000000">
                <a:alpha val="12000"/>
              </a:srgbClr>
            </a:outerShdw>
          </a:effectLst>
        </p:spPr>
      </p:sp>
      <p:sp>
        <p:nvSpPr>
          <p:cNvPr id="14" name="Shape 12"/>
          <p:cNvSpPr/>
          <p:nvPr/>
        </p:nvSpPr>
        <p:spPr>
          <a:xfrm>
            <a:off x="3264408" y="1280160"/>
            <a:ext cx="2615184" cy="82296"/>
          </a:xfrm>
          <a:prstGeom prst="rect">
            <a:avLst/>
          </a:prstGeom>
          <a:solidFill>
            <a:srgbClr val="F59E0B"/>
          </a:solidFill>
          <a:ln w="12700">
            <a:solidFill>
              <a:srgbClr val="F59E0B"/>
            </a:solidFill>
            <a:prstDash val="solid"/>
          </a:ln>
        </p:spPr>
      </p:sp>
      <p:sp>
        <p:nvSpPr>
          <p:cNvPr id="15" name="Text 13"/>
          <p:cNvSpPr txBox="1"/>
          <p:nvPr/>
        </p:nvSpPr>
        <p:spPr>
          <a:xfrm>
            <a:off x="3264408" y="1508760"/>
            <a:ext cx="2615184" cy="1005840"/>
          </a:xfrm>
          <a:prstGeom prst="rect">
            <a:avLst/>
          </a:prstGeom>
          <a:noFill/>
          <a:ln/>
        </p:spPr>
        <p:txBody>
          <a:bodyPr wrap="square" lIns="0" tIns="0" rIns="0" bIns="0" rtlCol="0" anchor="ctr"/>
          <a:lstStyle/>
          <a:p>
            <a:pPr algn="ctr" indent="0" marL="0">
              <a:buNone/>
            </a:pPr>
            <a:r>
              <a:rPr lang="en-US" sz="5400" b="1" dirty="0">
                <a:solidFill>
                  <a:srgbClr val="F59E0B"/>
                </a:solidFill>
                <a:latin typeface="Calibri" pitchFamily="34" charset="0"/>
                <a:ea typeface="Calibri" pitchFamily="34" charset="-122"/>
                <a:cs typeface="Calibri" pitchFamily="34" charset="-120"/>
              </a:rPr>
              <a:t>$2.9B</a:t>
            </a:r>
            <a:endParaRPr lang="en-US" sz="5400" dirty="0"/>
          </a:p>
        </p:txBody>
      </p:sp>
      <p:sp>
        <p:nvSpPr>
          <p:cNvPr id="16" name="Text 14"/>
          <p:cNvSpPr txBox="1"/>
          <p:nvPr/>
        </p:nvSpPr>
        <p:spPr>
          <a:xfrm>
            <a:off x="3447288" y="2560320"/>
            <a:ext cx="2249424" cy="640080"/>
          </a:xfrm>
          <a:prstGeom prst="rect">
            <a:avLst/>
          </a:prstGeom>
          <a:noFill/>
          <a:ln/>
        </p:spPr>
        <p:txBody>
          <a:bodyPr wrap="square" lIns="0" tIns="0" rIns="0" bIns="0" rtlCol="0" anchor="t"/>
          <a:lstStyle/>
          <a:p>
            <a:pPr algn="ctr" indent="0" marL="0">
              <a:buNone/>
            </a:pPr>
            <a:r>
              <a:rPr lang="en-US" sz="1400" b="1" dirty="0">
                <a:solidFill>
                  <a:srgbClr val="0B1F3A"/>
                </a:solidFill>
                <a:latin typeface="Calibri" pitchFamily="34" charset="0"/>
                <a:ea typeface="Calibri" pitchFamily="34" charset="-122"/>
                <a:cs typeface="Calibri" pitchFamily="34" charset="-120"/>
              </a:rPr>
              <a:t>lost to business email compromise</a:t>
            </a:r>
            <a:endParaRPr lang="en-US" sz="1400" dirty="0"/>
          </a:p>
        </p:txBody>
      </p:sp>
      <p:sp>
        <p:nvSpPr>
          <p:cNvPr id="17" name="Text 15"/>
          <p:cNvSpPr txBox="1"/>
          <p:nvPr/>
        </p:nvSpPr>
        <p:spPr>
          <a:xfrm>
            <a:off x="3447288" y="3383280"/>
            <a:ext cx="2249424" cy="274320"/>
          </a:xfrm>
          <a:prstGeom prst="rect">
            <a:avLst/>
          </a:prstGeom>
          <a:noFill/>
          <a:ln/>
        </p:spPr>
        <p:txBody>
          <a:bodyPr wrap="square" lIns="0" tIns="0" rIns="0" bIns="0" rtlCol="0" anchor="ctr"/>
          <a:lstStyle/>
          <a:p>
            <a:pPr algn="ctr" indent="0" marL="0">
              <a:buNone/>
            </a:pPr>
            <a:r>
              <a:rPr lang="en-US" sz="1000" dirty="0">
                <a:solidFill>
                  <a:srgbClr val="6B7280"/>
                </a:solidFill>
                <a:latin typeface="Calibri" pitchFamily="34" charset="0"/>
                <a:ea typeface="Calibri" pitchFamily="34" charset="-122"/>
                <a:cs typeface="Calibri" pitchFamily="34" charset="-120"/>
              </a:rPr>
              <a:t>Source: FBI IC3 Report 2023</a:t>
            </a:r>
            <a:endParaRPr lang="en-US" sz="1000" dirty="0"/>
          </a:p>
        </p:txBody>
      </p:sp>
      <p:sp>
        <p:nvSpPr>
          <p:cNvPr id="18" name="Shape 16"/>
          <p:cNvSpPr/>
          <p:nvPr/>
        </p:nvSpPr>
        <p:spPr>
          <a:xfrm>
            <a:off x="6071616" y="1280160"/>
            <a:ext cx="2615184" cy="2560320"/>
          </a:xfrm>
          <a:prstGeom prst="rect">
            <a:avLst/>
          </a:prstGeom>
          <a:solidFill>
            <a:srgbClr val="FFFFFF"/>
          </a:solidFill>
          <a:ln w="9525">
            <a:solidFill>
              <a:srgbClr val="E5E7EB"/>
            </a:solidFill>
            <a:prstDash val="solid"/>
          </a:ln>
          <a:effectLst>
            <a:outerShdw sx="100000" sy="100000" kx="0" ky="0" algn="bl" rotWithShape="0" blurRad="76200" dist="25400" dir="5400000">
              <a:srgbClr val="000000">
                <a:alpha val="12000"/>
              </a:srgbClr>
            </a:outerShdw>
          </a:effectLst>
        </p:spPr>
      </p:sp>
      <p:sp>
        <p:nvSpPr>
          <p:cNvPr id="19" name="Shape 17"/>
          <p:cNvSpPr/>
          <p:nvPr/>
        </p:nvSpPr>
        <p:spPr>
          <a:xfrm>
            <a:off x="6071616" y="1280160"/>
            <a:ext cx="2615184" cy="82296"/>
          </a:xfrm>
          <a:prstGeom prst="rect">
            <a:avLst/>
          </a:prstGeom>
          <a:solidFill>
            <a:srgbClr val="14B8A6"/>
          </a:solidFill>
          <a:ln w="12700">
            <a:solidFill>
              <a:srgbClr val="14B8A6"/>
            </a:solidFill>
            <a:prstDash val="solid"/>
          </a:ln>
        </p:spPr>
      </p:sp>
      <p:sp>
        <p:nvSpPr>
          <p:cNvPr id="20" name="Text 18"/>
          <p:cNvSpPr txBox="1"/>
          <p:nvPr/>
        </p:nvSpPr>
        <p:spPr>
          <a:xfrm>
            <a:off x="6071616" y="1508760"/>
            <a:ext cx="2615184" cy="1005840"/>
          </a:xfrm>
          <a:prstGeom prst="rect">
            <a:avLst/>
          </a:prstGeom>
          <a:noFill/>
          <a:ln/>
        </p:spPr>
        <p:txBody>
          <a:bodyPr wrap="square" lIns="0" tIns="0" rIns="0" bIns="0" rtlCol="0" anchor="ctr"/>
          <a:lstStyle/>
          <a:p>
            <a:pPr algn="ctr" indent="0" marL="0">
              <a:buNone/>
            </a:pPr>
            <a:r>
              <a:rPr lang="en-US" sz="5400" b="1" dirty="0">
                <a:solidFill>
                  <a:srgbClr val="14B8A6"/>
                </a:solidFill>
                <a:latin typeface="Calibri" pitchFamily="34" charset="0"/>
                <a:ea typeface="Calibri" pitchFamily="34" charset="-122"/>
                <a:cs typeface="Calibri" pitchFamily="34" charset="-120"/>
              </a:rPr>
              <a:t>#1</a:t>
            </a:r>
            <a:endParaRPr lang="en-US" sz="5400" dirty="0"/>
          </a:p>
        </p:txBody>
      </p:sp>
      <p:sp>
        <p:nvSpPr>
          <p:cNvPr id="21" name="Text 19"/>
          <p:cNvSpPr txBox="1"/>
          <p:nvPr/>
        </p:nvSpPr>
        <p:spPr>
          <a:xfrm>
            <a:off x="6254496" y="2560320"/>
            <a:ext cx="2249424" cy="640080"/>
          </a:xfrm>
          <a:prstGeom prst="rect">
            <a:avLst/>
          </a:prstGeom>
          <a:noFill/>
          <a:ln/>
        </p:spPr>
        <p:txBody>
          <a:bodyPr wrap="square" lIns="0" tIns="0" rIns="0" bIns="0" rtlCol="0" anchor="t"/>
          <a:lstStyle/>
          <a:p>
            <a:pPr algn="ctr" indent="0" marL="0">
              <a:buNone/>
            </a:pPr>
            <a:r>
              <a:rPr lang="en-US" sz="1400" b="1" dirty="0">
                <a:solidFill>
                  <a:srgbClr val="0B1F3A"/>
                </a:solidFill>
                <a:latin typeface="Calibri" pitchFamily="34" charset="0"/>
                <a:ea typeface="Calibri" pitchFamily="34" charset="-122"/>
                <a:cs typeface="Calibri" pitchFamily="34" charset="-120"/>
              </a:rPr>
              <a:t>most reported cybercrime type: phishing</a:t>
            </a:r>
            <a:endParaRPr lang="en-US" sz="1400" dirty="0"/>
          </a:p>
        </p:txBody>
      </p:sp>
      <p:sp>
        <p:nvSpPr>
          <p:cNvPr id="22" name="Text 20"/>
          <p:cNvSpPr txBox="1"/>
          <p:nvPr/>
        </p:nvSpPr>
        <p:spPr>
          <a:xfrm>
            <a:off x="6254496" y="3383280"/>
            <a:ext cx="2249424" cy="274320"/>
          </a:xfrm>
          <a:prstGeom prst="rect">
            <a:avLst/>
          </a:prstGeom>
          <a:noFill/>
          <a:ln/>
        </p:spPr>
        <p:txBody>
          <a:bodyPr wrap="square" lIns="0" tIns="0" rIns="0" bIns="0" rtlCol="0" anchor="ctr"/>
          <a:lstStyle/>
          <a:p>
            <a:pPr algn="ctr" indent="0" marL="0">
              <a:buNone/>
            </a:pPr>
            <a:r>
              <a:rPr lang="en-US" sz="1000" dirty="0">
                <a:solidFill>
                  <a:srgbClr val="6B7280"/>
                </a:solidFill>
                <a:latin typeface="Calibri" pitchFamily="34" charset="0"/>
                <a:ea typeface="Calibri" pitchFamily="34" charset="-122"/>
                <a:cs typeface="Calibri" pitchFamily="34" charset="-120"/>
              </a:rPr>
              <a:t>Source: FBI IC3 Report 2023</a:t>
            </a:r>
            <a:endParaRPr lang="en-US" sz="1000" dirty="0"/>
          </a:p>
        </p:txBody>
      </p:sp>
      <p:sp>
        <p:nvSpPr>
          <p:cNvPr id="23" name="Text 21"/>
          <p:cNvSpPr txBox="1"/>
          <p:nvPr/>
        </p:nvSpPr>
        <p:spPr>
          <a:xfrm>
            <a:off x="457200" y="4114800"/>
            <a:ext cx="8229600" cy="365760"/>
          </a:xfrm>
          <a:prstGeom prst="rect">
            <a:avLst/>
          </a:prstGeom>
          <a:noFill/>
          <a:ln/>
        </p:spPr>
        <p:txBody>
          <a:bodyPr wrap="square" lIns="0" tIns="0" rIns="0" bIns="0" rtlCol="0" anchor="ctr"/>
          <a:lstStyle/>
          <a:p>
            <a:pPr algn="ctr" indent="0" marL="0">
              <a:buNone/>
            </a:pPr>
            <a:r>
              <a:rPr lang="en-US" sz="1600" i="1" dirty="0">
                <a:solidFill>
                  <a:srgbClr val="16345F"/>
                </a:solidFill>
                <a:latin typeface="Calibri" pitchFamily="34" charset="0"/>
                <a:ea typeface="Calibri" pitchFamily="34" charset="-122"/>
                <a:cs typeface="Calibri" pitchFamily="34" charset="-120"/>
              </a:rPr>
              <a:t>Attackers go after people because people are easier to fool than firewalls.</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14B8A6"/>
          </a:solidFill>
          <a:ln w="12700">
            <a:solidFill>
              <a:srgbClr val="14B8A6"/>
            </a:solidFill>
            <a:prstDash val="solid"/>
          </a:ln>
        </p:spPr>
      </p:sp>
      <p:sp>
        <p:nvSpPr>
          <p:cNvPr id="3" name="Text 1"/>
          <p:cNvSpPr txBox="1"/>
          <p:nvPr/>
        </p:nvSpPr>
        <p:spPr>
          <a:xfrm>
            <a:off x="457200" y="256032"/>
            <a:ext cx="5486400" cy="228600"/>
          </a:xfrm>
          <a:prstGeom prst="rect">
            <a:avLst/>
          </a:prstGeom>
          <a:noFill/>
          <a:ln/>
        </p:spPr>
        <p:txBody>
          <a:bodyPr wrap="square" lIns="0" tIns="0" rIns="0" bIns="0" rtlCol="0" anchor="ctr"/>
          <a:lstStyle/>
          <a:p>
            <a:pPr indent="0" marL="0">
              <a:buNone/>
            </a:pPr>
            <a:r>
              <a:rPr lang="en-US" sz="1100" b="1" spc="300" kern="0" dirty="0">
                <a:solidFill>
                  <a:srgbClr val="14B8A6"/>
                </a:solidFill>
                <a:latin typeface="Calibri" pitchFamily="34" charset="0"/>
                <a:ea typeface="Calibri" pitchFamily="34" charset="-122"/>
                <a:cs typeface="Calibri" pitchFamily="34" charset="-120"/>
              </a:rPr>
              <a:t>HOW IT WORKS</a:t>
            </a:r>
            <a:endParaRPr lang="en-US" sz="1100" dirty="0"/>
          </a:p>
        </p:txBody>
      </p:sp>
      <p:sp>
        <p:nvSpPr>
          <p:cNvPr id="4" name="Text 2"/>
          <p:cNvSpPr txBox="1"/>
          <p:nvPr/>
        </p:nvSpPr>
        <p:spPr>
          <a:xfrm>
            <a:off x="457200" y="475488"/>
            <a:ext cx="8229600" cy="548640"/>
          </a:xfrm>
          <a:prstGeom prst="rect">
            <a:avLst/>
          </a:prstGeom>
          <a:noFill/>
          <a:ln/>
        </p:spPr>
        <p:txBody>
          <a:bodyPr wrap="square" lIns="0" tIns="0" rIns="0" bIns="0" rtlCol="0" anchor="ctr"/>
          <a:lstStyle/>
          <a:p>
            <a:pPr indent="0" marL="0">
              <a:buNone/>
            </a:pPr>
            <a:r>
              <a:rPr lang="en-US" sz="2800" b="1" dirty="0">
                <a:solidFill>
                  <a:srgbClr val="0B1F3A"/>
                </a:solidFill>
                <a:latin typeface="Calibri" pitchFamily="34" charset="0"/>
                <a:ea typeface="Calibri" pitchFamily="34" charset="-122"/>
                <a:cs typeface="Calibri" pitchFamily="34" charset="-120"/>
              </a:rPr>
              <a:t>How a phishing attack works</a:t>
            </a:r>
            <a:endParaRPr lang="en-US" sz="2800" dirty="0"/>
          </a:p>
        </p:txBody>
      </p:sp>
      <p:sp>
        <p:nvSpPr>
          <p:cNvPr id="5" name="Shape 3"/>
          <p:cNvSpPr/>
          <p:nvPr/>
        </p:nvSpPr>
        <p:spPr>
          <a:xfrm>
            <a:off x="457200" y="4800600"/>
            <a:ext cx="8229600" cy="0"/>
          </a:xfrm>
          <a:prstGeom prst="line">
            <a:avLst/>
          </a:prstGeom>
          <a:noFill/>
          <a:ln w="9525">
            <a:solidFill>
              <a:srgbClr val="D1D5DB"/>
            </a:solidFill>
            <a:prstDash val="solid"/>
          </a:ln>
        </p:spPr>
      </p:sp>
      <p:sp>
        <p:nvSpPr>
          <p:cNvPr id="6" name="Text 4"/>
          <p:cNvSpPr txBox="1"/>
          <p:nvPr/>
        </p:nvSpPr>
        <p:spPr>
          <a:xfrm>
            <a:off x="457200" y="4846320"/>
            <a:ext cx="5486400" cy="22860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CodeAlpha  |  Phishing Awareness Training</a:t>
            </a:r>
            <a:endParaRPr lang="en-US" sz="1000" dirty="0"/>
          </a:p>
        </p:txBody>
      </p:sp>
      <p:sp>
        <p:nvSpPr>
          <p:cNvPr id="7" name="Text 5"/>
          <p:cNvSpPr txBox="1"/>
          <p:nvPr/>
        </p:nvSpPr>
        <p:spPr>
          <a:xfrm>
            <a:off x="8229600" y="4846320"/>
            <a:ext cx="457200" cy="22860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4</a:t>
            </a:r>
            <a:endParaRPr lang="en-US" sz="1000" dirty="0"/>
          </a:p>
        </p:txBody>
      </p:sp>
      <p:sp>
        <p:nvSpPr>
          <p:cNvPr id="8" name="Shape 6"/>
          <p:cNvSpPr/>
          <p:nvPr/>
        </p:nvSpPr>
        <p:spPr>
          <a:xfrm>
            <a:off x="457200" y="1463040"/>
            <a:ext cx="1463040" cy="731520"/>
          </a:xfrm>
          <a:prstGeom prst="roundRect">
            <a:avLst>
              <a:gd name="adj" fmla="val 12500"/>
            </a:avLst>
          </a:prstGeom>
          <a:solidFill>
            <a:srgbClr val="14B8A6"/>
          </a:solidFill>
          <a:ln w="12700">
            <a:solidFill>
              <a:srgbClr val="14B8A6"/>
            </a:solidFill>
            <a:prstDash val="solid"/>
          </a:ln>
        </p:spPr>
      </p:sp>
      <p:sp>
        <p:nvSpPr>
          <p:cNvPr id="9" name="Text 7"/>
          <p:cNvSpPr txBox="1"/>
          <p:nvPr/>
        </p:nvSpPr>
        <p:spPr>
          <a:xfrm>
            <a:off x="457200" y="1463040"/>
            <a:ext cx="1463040" cy="7315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Bait</a:t>
            </a:r>
            <a:endParaRPr lang="en-US" sz="1800" dirty="0"/>
          </a:p>
        </p:txBody>
      </p:sp>
      <p:sp>
        <p:nvSpPr>
          <p:cNvPr id="10" name="Text 8"/>
          <p:cNvSpPr txBox="1"/>
          <p:nvPr/>
        </p:nvSpPr>
        <p:spPr>
          <a:xfrm>
            <a:off x="1920240" y="1463040"/>
            <a:ext cx="219456" cy="731520"/>
          </a:xfrm>
          <a:prstGeom prst="rect">
            <a:avLst/>
          </a:prstGeom>
          <a:noFill/>
          <a:ln/>
        </p:spPr>
        <p:txBody>
          <a:bodyPr wrap="square" lIns="0" tIns="0" rIns="0" bIns="0" rtlCol="0" anchor="ctr"/>
          <a:lstStyle/>
          <a:p>
            <a:pPr algn="ctr" indent="0" marL="0">
              <a:buNone/>
            </a:pPr>
            <a:r>
              <a:rPr lang="en-US" sz="2200" b="1" dirty="0">
                <a:solidFill>
                  <a:srgbClr val="6B7280"/>
                </a:solidFill>
                <a:latin typeface="Calibri" pitchFamily="34" charset="0"/>
                <a:ea typeface="Calibri" pitchFamily="34" charset="-122"/>
                <a:cs typeface="Calibri" pitchFamily="34" charset="-120"/>
              </a:rPr>
              <a:t>&gt;</a:t>
            </a:r>
            <a:endParaRPr lang="en-US" sz="2200" dirty="0"/>
          </a:p>
        </p:txBody>
      </p:sp>
      <p:sp>
        <p:nvSpPr>
          <p:cNvPr id="11" name="Text 9"/>
          <p:cNvSpPr txBox="1"/>
          <p:nvPr/>
        </p:nvSpPr>
        <p:spPr>
          <a:xfrm>
            <a:off x="457200" y="2331720"/>
            <a:ext cx="1463040" cy="822960"/>
          </a:xfrm>
          <a:prstGeom prst="rect">
            <a:avLst/>
          </a:prstGeom>
          <a:noFill/>
          <a:ln/>
        </p:spPr>
        <p:txBody>
          <a:bodyPr wrap="square" lIns="0" tIns="0" rIns="0" bIns="0" rtlCol="0" anchor="t"/>
          <a:lstStyle/>
          <a:p>
            <a:pPr algn="ctr" indent="0" marL="0">
              <a:buNone/>
            </a:pPr>
            <a:r>
              <a:rPr lang="en-US" sz="1200" dirty="0">
                <a:solidFill>
                  <a:srgbClr val="1F2937"/>
                </a:solidFill>
                <a:latin typeface="Calibri" pitchFamily="34" charset="0"/>
                <a:ea typeface="Calibri" pitchFamily="34" charset="-122"/>
                <a:cs typeface="Calibri" pitchFamily="34" charset="-120"/>
              </a:rPr>
              <a:t>Attacker crafts a convincing message</a:t>
            </a:r>
            <a:endParaRPr lang="en-US" sz="1200" dirty="0"/>
          </a:p>
        </p:txBody>
      </p:sp>
      <p:sp>
        <p:nvSpPr>
          <p:cNvPr id="12" name="Shape 10"/>
          <p:cNvSpPr/>
          <p:nvPr/>
        </p:nvSpPr>
        <p:spPr>
          <a:xfrm>
            <a:off x="2139696" y="1463040"/>
            <a:ext cx="1463040" cy="731520"/>
          </a:xfrm>
          <a:prstGeom prst="roundRect">
            <a:avLst>
              <a:gd name="adj" fmla="val 12500"/>
            </a:avLst>
          </a:prstGeom>
          <a:solidFill>
            <a:srgbClr val="14B8A6"/>
          </a:solidFill>
          <a:ln w="12700">
            <a:solidFill>
              <a:srgbClr val="14B8A6"/>
            </a:solidFill>
            <a:prstDash val="solid"/>
          </a:ln>
        </p:spPr>
      </p:sp>
      <p:sp>
        <p:nvSpPr>
          <p:cNvPr id="13" name="Text 11"/>
          <p:cNvSpPr txBox="1"/>
          <p:nvPr/>
        </p:nvSpPr>
        <p:spPr>
          <a:xfrm>
            <a:off x="2139696" y="1463040"/>
            <a:ext cx="1463040" cy="7315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Hook</a:t>
            </a:r>
            <a:endParaRPr lang="en-US" sz="1800" dirty="0"/>
          </a:p>
        </p:txBody>
      </p:sp>
      <p:sp>
        <p:nvSpPr>
          <p:cNvPr id="14" name="Text 12"/>
          <p:cNvSpPr txBox="1"/>
          <p:nvPr/>
        </p:nvSpPr>
        <p:spPr>
          <a:xfrm>
            <a:off x="3602736" y="1463040"/>
            <a:ext cx="219456" cy="731520"/>
          </a:xfrm>
          <a:prstGeom prst="rect">
            <a:avLst/>
          </a:prstGeom>
          <a:noFill/>
          <a:ln/>
        </p:spPr>
        <p:txBody>
          <a:bodyPr wrap="square" lIns="0" tIns="0" rIns="0" bIns="0" rtlCol="0" anchor="ctr"/>
          <a:lstStyle/>
          <a:p>
            <a:pPr algn="ctr" indent="0" marL="0">
              <a:buNone/>
            </a:pPr>
            <a:r>
              <a:rPr lang="en-US" sz="2200" b="1" dirty="0">
                <a:solidFill>
                  <a:srgbClr val="6B7280"/>
                </a:solidFill>
                <a:latin typeface="Calibri" pitchFamily="34" charset="0"/>
                <a:ea typeface="Calibri" pitchFamily="34" charset="-122"/>
                <a:cs typeface="Calibri" pitchFamily="34" charset="-120"/>
              </a:rPr>
              <a:t>&gt;</a:t>
            </a:r>
            <a:endParaRPr lang="en-US" sz="2200" dirty="0"/>
          </a:p>
        </p:txBody>
      </p:sp>
      <p:sp>
        <p:nvSpPr>
          <p:cNvPr id="15" name="Text 13"/>
          <p:cNvSpPr txBox="1"/>
          <p:nvPr/>
        </p:nvSpPr>
        <p:spPr>
          <a:xfrm>
            <a:off x="2139696" y="2331720"/>
            <a:ext cx="1463040" cy="822960"/>
          </a:xfrm>
          <a:prstGeom prst="rect">
            <a:avLst/>
          </a:prstGeom>
          <a:noFill/>
          <a:ln/>
        </p:spPr>
        <p:txBody>
          <a:bodyPr wrap="square" lIns="0" tIns="0" rIns="0" bIns="0" rtlCol="0" anchor="t"/>
          <a:lstStyle/>
          <a:p>
            <a:pPr algn="ctr" indent="0" marL="0">
              <a:buNone/>
            </a:pPr>
            <a:r>
              <a:rPr lang="en-US" sz="1200" dirty="0">
                <a:solidFill>
                  <a:srgbClr val="1F2937"/>
                </a:solidFill>
                <a:latin typeface="Calibri" pitchFamily="34" charset="0"/>
                <a:ea typeface="Calibri" pitchFamily="34" charset="-122"/>
                <a:cs typeface="Calibri" pitchFamily="34" charset="-120"/>
              </a:rPr>
              <a:t>Message lands in inbox, phone or chat</a:t>
            </a:r>
            <a:endParaRPr lang="en-US" sz="1200" dirty="0"/>
          </a:p>
        </p:txBody>
      </p:sp>
      <p:sp>
        <p:nvSpPr>
          <p:cNvPr id="16" name="Shape 14"/>
          <p:cNvSpPr/>
          <p:nvPr/>
        </p:nvSpPr>
        <p:spPr>
          <a:xfrm>
            <a:off x="3822192" y="1463040"/>
            <a:ext cx="1463040" cy="731520"/>
          </a:xfrm>
          <a:prstGeom prst="roundRect">
            <a:avLst>
              <a:gd name="adj" fmla="val 12500"/>
            </a:avLst>
          </a:prstGeom>
          <a:solidFill>
            <a:srgbClr val="F59E0B"/>
          </a:solidFill>
          <a:ln w="12700">
            <a:solidFill>
              <a:srgbClr val="F59E0B"/>
            </a:solidFill>
            <a:prstDash val="solid"/>
          </a:ln>
        </p:spPr>
      </p:sp>
      <p:sp>
        <p:nvSpPr>
          <p:cNvPr id="17" name="Text 15"/>
          <p:cNvSpPr txBox="1"/>
          <p:nvPr/>
        </p:nvSpPr>
        <p:spPr>
          <a:xfrm>
            <a:off x="3822192" y="1463040"/>
            <a:ext cx="1463040" cy="7315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Click</a:t>
            </a:r>
            <a:endParaRPr lang="en-US" sz="1800" dirty="0"/>
          </a:p>
        </p:txBody>
      </p:sp>
      <p:sp>
        <p:nvSpPr>
          <p:cNvPr id="18" name="Text 16"/>
          <p:cNvSpPr txBox="1"/>
          <p:nvPr/>
        </p:nvSpPr>
        <p:spPr>
          <a:xfrm>
            <a:off x="5285232" y="1463040"/>
            <a:ext cx="219456" cy="731520"/>
          </a:xfrm>
          <a:prstGeom prst="rect">
            <a:avLst/>
          </a:prstGeom>
          <a:noFill/>
          <a:ln/>
        </p:spPr>
        <p:txBody>
          <a:bodyPr wrap="square" lIns="0" tIns="0" rIns="0" bIns="0" rtlCol="0" anchor="ctr"/>
          <a:lstStyle/>
          <a:p>
            <a:pPr algn="ctr" indent="0" marL="0">
              <a:buNone/>
            </a:pPr>
            <a:r>
              <a:rPr lang="en-US" sz="2200" b="1" dirty="0">
                <a:solidFill>
                  <a:srgbClr val="6B7280"/>
                </a:solidFill>
                <a:latin typeface="Calibri" pitchFamily="34" charset="0"/>
                <a:ea typeface="Calibri" pitchFamily="34" charset="-122"/>
                <a:cs typeface="Calibri" pitchFamily="34" charset="-120"/>
              </a:rPr>
              <a:t>&gt;</a:t>
            </a:r>
            <a:endParaRPr lang="en-US" sz="2200" dirty="0"/>
          </a:p>
        </p:txBody>
      </p:sp>
      <p:sp>
        <p:nvSpPr>
          <p:cNvPr id="19" name="Text 17"/>
          <p:cNvSpPr txBox="1"/>
          <p:nvPr/>
        </p:nvSpPr>
        <p:spPr>
          <a:xfrm>
            <a:off x="3822192" y="2331720"/>
            <a:ext cx="1463040" cy="822960"/>
          </a:xfrm>
          <a:prstGeom prst="rect">
            <a:avLst/>
          </a:prstGeom>
          <a:noFill/>
          <a:ln/>
        </p:spPr>
        <p:txBody>
          <a:bodyPr wrap="square" lIns="0" tIns="0" rIns="0" bIns="0" rtlCol="0" anchor="t"/>
          <a:lstStyle/>
          <a:p>
            <a:pPr algn="ctr" indent="0" marL="0">
              <a:buNone/>
            </a:pPr>
            <a:r>
              <a:rPr lang="en-US" sz="1200" dirty="0">
                <a:solidFill>
                  <a:srgbClr val="1F2937"/>
                </a:solidFill>
                <a:latin typeface="Calibri" pitchFamily="34" charset="0"/>
                <a:ea typeface="Calibri" pitchFamily="34" charset="-122"/>
                <a:cs typeface="Calibri" pitchFamily="34" charset="-120"/>
              </a:rPr>
              <a:t>Victim opens link, file or QR code</a:t>
            </a:r>
            <a:endParaRPr lang="en-US" sz="1200" dirty="0"/>
          </a:p>
        </p:txBody>
      </p:sp>
      <p:sp>
        <p:nvSpPr>
          <p:cNvPr id="20" name="Shape 18"/>
          <p:cNvSpPr/>
          <p:nvPr/>
        </p:nvSpPr>
        <p:spPr>
          <a:xfrm>
            <a:off x="5504688" y="1463040"/>
            <a:ext cx="1463040" cy="731520"/>
          </a:xfrm>
          <a:prstGeom prst="roundRect">
            <a:avLst>
              <a:gd name="adj" fmla="val 12500"/>
            </a:avLst>
          </a:prstGeom>
          <a:solidFill>
            <a:srgbClr val="EF4444"/>
          </a:solidFill>
          <a:ln w="12700">
            <a:solidFill>
              <a:srgbClr val="EF4444"/>
            </a:solidFill>
            <a:prstDash val="solid"/>
          </a:ln>
        </p:spPr>
      </p:sp>
      <p:sp>
        <p:nvSpPr>
          <p:cNvPr id="21" name="Text 19"/>
          <p:cNvSpPr txBox="1"/>
          <p:nvPr/>
        </p:nvSpPr>
        <p:spPr>
          <a:xfrm>
            <a:off x="5504688" y="1463040"/>
            <a:ext cx="1463040" cy="7315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Steal</a:t>
            </a:r>
            <a:endParaRPr lang="en-US" sz="1800" dirty="0"/>
          </a:p>
        </p:txBody>
      </p:sp>
      <p:sp>
        <p:nvSpPr>
          <p:cNvPr id="22" name="Text 20"/>
          <p:cNvSpPr txBox="1"/>
          <p:nvPr/>
        </p:nvSpPr>
        <p:spPr>
          <a:xfrm>
            <a:off x="6967728" y="1463040"/>
            <a:ext cx="219456" cy="731520"/>
          </a:xfrm>
          <a:prstGeom prst="rect">
            <a:avLst/>
          </a:prstGeom>
          <a:noFill/>
          <a:ln/>
        </p:spPr>
        <p:txBody>
          <a:bodyPr wrap="square" lIns="0" tIns="0" rIns="0" bIns="0" rtlCol="0" anchor="ctr"/>
          <a:lstStyle/>
          <a:p>
            <a:pPr algn="ctr" indent="0" marL="0">
              <a:buNone/>
            </a:pPr>
            <a:r>
              <a:rPr lang="en-US" sz="2200" b="1" dirty="0">
                <a:solidFill>
                  <a:srgbClr val="6B7280"/>
                </a:solidFill>
                <a:latin typeface="Calibri" pitchFamily="34" charset="0"/>
                <a:ea typeface="Calibri" pitchFamily="34" charset="-122"/>
                <a:cs typeface="Calibri" pitchFamily="34" charset="-120"/>
              </a:rPr>
              <a:t>&gt;</a:t>
            </a:r>
            <a:endParaRPr lang="en-US" sz="2200" dirty="0"/>
          </a:p>
        </p:txBody>
      </p:sp>
      <p:sp>
        <p:nvSpPr>
          <p:cNvPr id="23" name="Text 21"/>
          <p:cNvSpPr txBox="1"/>
          <p:nvPr/>
        </p:nvSpPr>
        <p:spPr>
          <a:xfrm>
            <a:off x="5504688" y="2331720"/>
            <a:ext cx="1463040" cy="822960"/>
          </a:xfrm>
          <a:prstGeom prst="rect">
            <a:avLst/>
          </a:prstGeom>
          <a:noFill/>
          <a:ln/>
        </p:spPr>
        <p:txBody>
          <a:bodyPr wrap="square" lIns="0" tIns="0" rIns="0" bIns="0" rtlCol="0" anchor="t"/>
          <a:lstStyle/>
          <a:p>
            <a:pPr algn="ctr" indent="0" marL="0">
              <a:buNone/>
            </a:pPr>
            <a:r>
              <a:rPr lang="en-US" sz="1200" dirty="0">
                <a:solidFill>
                  <a:srgbClr val="1F2937"/>
                </a:solidFill>
                <a:latin typeface="Calibri" pitchFamily="34" charset="0"/>
                <a:ea typeface="Calibri" pitchFamily="34" charset="-122"/>
                <a:cs typeface="Calibri" pitchFamily="34" charset="-120"/>
              </a:rPr>
              <a:t>Credentials or data are captured</a:t>
            </a:r>
            <a:endParaRPr lang="en-US" sz="1200" dirty="0"/>
          </a:p>
        </p:txBody>
      </p:sp>
      <p:sp>
        <p:nvSpPr>
          <p:cNvPr id="24" name="Shape 22"/>
          <p:cNvSpPr/>
          <p:nvPr/>
        </p:nvSpPr>
        <p:spPr>
          <a:xfrm>
            <a:off x="7187184" y="1463040"/>
            <a:ext cx="1463040" cy="731520"/>
          </a:xfrm>
          <a:prstGeom prst="roundRect">
            <a:avLst>
              <a:gd name="adj" fmla="val 12500"/>
            </a:avLst>
          </a:prstGeom>
          <a:solidFill>
            <a:srgbClr val="EF4444"/>
          </a:solidFill>
          <a:ln w="12700">
            <a:solidFill>
              <a:srgbClr val="EF4444"/>
            </a:solidFill>
            <a:prstDash val="solid"/>
          </a:ln>
        </p:spPr>
      </p:sp>
      <p:sp>
        <p:nvSpPr>
          <p:cNvPr id="25" name="Text 23"/>
          <p:cNvSpPr txBox="1"/>
          <p:nvPr/>
        </p:nvSpPr>
        <p:spPr>
          <a:xfrm>
            <a:off x="7187184" y="1463040"/>
            <a:ext cx="1463040" cy="7315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Exploit</a:t>
            </a:r>
            <a:endParaRPr lang="en-US" sz="1800" dirty="0"/>
          </a:p>
        </p:txBody>
      </p:sp>
      <p:sp>
        <p:nvSpPr>
          <p:cNvPr id="26" name="Text 24"/>
          <p:cNvSpPr txBox="1"/>
          <p:nvPr/>
        </p:nvSpPr>
        <p:spPr>
          <a:xfrm>
            <a:off x="7187184" y="2331720"/>
            <a:ext cx="1463040" cy="822960"/>
          </a:xfrm>
          <a:prstGeom prst="rect">
            <a:avLst/>
          </a:prstGeom>
          <a:noFill/>
          <a:ln/>
        </p:spPr>
        <p:txBody>
          <a:bodyPr wrap="square" lIns="0" tIns="0" rIns="0" bIns="0" rtlCol="0" anchor="t"/>
          <a:lstStyle/>
          <a:p>
            <a:pPr algn="ctr" indent="0" marL="0">
              <a:buNone/>
            </a:pPr>
            <a:r>
              <a:rPr lang="en-US" sz="1200" dirty="0">
                <a:solidFill>
                  <a:srgbClr val="1F2937"/>
                </a:solidFill>
                <a:latin typeface="Calibri" pitchFamily="34" charset="0"/>
                <a:ea typeface="Calibri" pitchFamily="34" charset="-122"/>
                <a:cs typeface="Calibri" pitchFamily="34" charset="-120"/>
              </a:rPr>
              <a:t>Account takeover, fraud or malware</a:t>
            </a:r>
            <a:endParaRPr lang="en-US" sz="1200" dirty="0"/>
          </a:p>
        </p:txBody>
      </p:sp>
      <p:sp>
        <p:nvSpPr>
          <p:cNvPr id="27" name="Shape 25"/>
          <p:cNvSpPr/>
          <p:nvPr/>
        </p:nvSpPr>
        <p:spPr>
          <a:xfrm>
            <a:off x="457200" y="3383280"/>
            <a:ext cx="8229600" cy="1188720"/>
          </a:xfrm>
          <a:prstGeom prst="rect">
            <a:avLst/>
          </a:prstGeom>
          <a:solidFill>
            <a:srgbClr val="FFFFFF"/>
          </a:solidFill>
          <a:ln w="9525">
            <a:solidFill>
              <a:srgbClr val="E5E7EB"/>
            </a:solidFill>
            <a:prstDash val="solid"/>
          </a:ln>
          <a:effectLst>
            <a:outerShdw sx="100000" sy="100000" kx="0" ky="0" algn="bl" rotWithShape="0" blurRad="76200" dist="25400" dir="5400000">
              <a:srgbClr val="000000">
                <a:alpha val="12000"/>
              </a:srgbClr>
            </a:outerShdw>
          </a:effectLst>
        </p:spPr>
      </p:sp>
      <p:sp>
        <p:nvSpPr>
          <p:cNvPr id="28" name="Shape 26"/>
          <p:cNvSpPr/>
          <p:nvPr/>
        </p:nvSpPr>
        <p:spPr>
          <a:xfrm>
            <a:off x="457200" y="3383280"/>
            <a:ext cx="8229600" cy="64008"/>
          </a:xfrm>
          <a:prstGeom prst="rect">
            <a:avLst/>
          </a:prstGeom>
          <a:solidFill>
            <a:srgbClr val="14B8A6"/>
          </a:solidFill>
          <a:ln w="12700">
            <a:solidFill>
              <a:srgbClr val="14B8A6"/>
            </a:solidFill>
            <a:prstDash val="solid"/>
          </a:ln>
        </p:spPr>
      </p:sp>
      <p:sp>
        <p:nvSpPr>
          <p:cNvPr id="29" name="Text 27"/>
          <p:cNvSpPr txBox="1"/>
          <p:nvPr/>
        </p:nvSpPr>
        <p:spPr>
          <a:xfrm>
            <a:off x="640080" y="3511296"/>
            <a:ext cx="7909560" cy="1005840"/>
          </a:xfrm>
          <a:prstGeom prst="rect">
            <a:avLst/>
          </a:prstGeom>
          <a:noFill/>
          <a:ln/>
        </p:spPr>
        <p:txBody>
          <a:bodyPr wrap="square" lIns="0" tIns="0" rIns="0" bIns="0" rtlCol="0" anchor="ctr"/>
          <a:lstStyle/>
          <a:p>
            <a:pPr indent="0" marL="0">
              <a:buNone/>
            </a:pPr>
            <a:r>
              <a:rPr lang="en-US" sz="1400" b="1" dirty="0">
                <a:solidFill>
                  <a:srgbClr val="0B1F3A"/>
                </a:solidFill>
                <a:latin typeface="Calibri" pitchFamily="34" charset="0"/>
                <a:ea typeface="Calibri" pitchFamily="34" charset="-122"/>
                <a:cs typeface="Calibri" pitchFamily="34" charset="-120"/>
              </a:rPr>
              <a:t>Break the chain early</a:t>
            </a:r>
            <a:endParaRPr lang="en-US" sz="1400" dirty="0"/>
          </a:p>
          <a:p>
            <a:pPr indent="0" marL="0">
              <a:buNone/>
            </a:pPr>
            <a:r>
              <a:rPr lang="en-US" sz="1150" dirty="0">
                <a:solidFill>
                  <a:srgbClr val="1F2937"/>
                </a:solidFill>
                <a:latin typeface="Calibri" pitchFamily="34" charset="0"/>
                <a:ea typeface="Calibri" pitchFamily="34" charset="-122"/>
                <a:cs typeface="Calibri" pitchFamily="34" charset="-120"/>
              </a:rPr>
              <a:t>The earlier you stop the attack, the less damage it does. Spotting the bait and not clicking is the cheapest defense; reporting it quickly protects everyone else.</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14B8A6"/>
          </a:solidFill>
          <a:ln w="12700">
            <a:solidFill>
              <a:srgbClr val="14B8A6"/>
            </a:solidFill>
            <a:prstDash val="solid"/>
          </a:ln>
        </p:spPr>
      </p:sp>
      <p:sp>
        <p:nvSpPr>
          <p:cNvPr id="3" name="Text 1"/>
          <p:cNvSpPr txBox="1"/>
          <p:nvPr/>
        </p:nvSpPr>
        <p:spPr>
          <a:xfrm>
            <a:off x="457200" y="256032"/>
            <a:ext cx="5486400" cy="228600"/>
          </a:xfrm>
          <a:prstGeom prst="rect">
            <a:avLst/>
          </a:prstGeom>
          <a:noFill/>
          <a:ln/>
        </p:spPr>
        <p:txBody>
          <a:bodyPr wrap="square" lIns="0" tIns="0" rIns="0" bIns="0" rtlCol="0" anchor="ctr"/>
          <a:lstStyle/>
          <a:p>
            <a:pPr indent="0" marL="0">
              <a:buNone/>
            </a:pPr>
            <a:r>
              <a:rPr lang="en-US" sz="1100" b="1" spc="300" kern="0" dirty="0">
                <a:solidFill>
                  <a:srgbClr val="14B8A6"/>
                </a:solidFill>
                <a:latin typeface="Calibri" pitchFamily="34" charset="0"/>
                <a:ea typeface="Calibri" pitchFamily="34" charset="-122"/>
                <a:cs typeface="Calibri" pitchFamily="34" charset="-120"/>
              </a:rPr>
              <a:t>RECOGNIZE IT</a:t>
            </a:r>
            <a:endParaRPr lang="en-US" sz="1100" dirty="0"/>
          </a:p>
        </p:txBody>
      </p:sp>
      <p:sp>
        <p:nvSpPr>
          <p:cNvPr id="4" name="Text 2"/>
          <p:cNvSpPr txBox="1"/>
          <p:nvPr/>
        </p:nvSpPr>
        <p:spPr>
          <a:xfrm>
            <a:off x="457200" y="475488"/>
            <a:ext cx="8229600" cy="548640"/>
          </a:xfrm>
          <a:prstGeom prst="rect">
            <a:avLst/>
          </a:prstGeom>
          <a:noFill/>
          <a:ln/>
        </p:spPr>
        <p:txBody>
          <a:bodyPr wrap="square" lIns="0" tIns="0" rIns="0" bIns="0" rtlCol="0" anchor="ctr"/>
          <a:lstStyle/>
          <a:p>
            <a:pPr indent="0" marL="0">
              <a:buNone/>
            </a:pPr>
            <a:r>
              <a:rPr lang="en-US" sz="2800" b="1" dirty="0">
                <a:solidFill>
                  <a:srgbClr val="0B1F3A"/>
                </a:solidFill>
                <a:latin typeface="Calibri" pitchFamily="34" charset="0"/>
                <a:ea typeface="Calibri" pitchFamily="34" charset="-122"/>
                <a:cs typeface="Calibri" pitchFamily="34" charset="-120"/>
              </a:rPr>
              <a:t>Types of phishing</a:t>
            </a:r>
            <a:endParaRPr lang="en-US" sz="2800" dirty="0"/>
          </a:p>
        </p:txBody>
      </p:sp>
      <p:sp>
        <p:nvSpPr>
          <p:cNvPr id="5" name="Shape 3"/>
          <p:cNvSpPr/>
          <p:nvPr/>
        </p:nvSpPr>
        <p:spPr>
          <a:xfrm>
            <a:off x="457200" y="4800600"/>
            <a:ext cx="8229600" cy="0"/>
          </a:xfrm>
          <a:prstGeom prst="line">
            <a:avLst/>
          </a:prstGeom>
          <a:noFill/>
          <a:ln w="9525">
            <a:solidFill>
              <a:srgbClr val="D1D5DB"/>
            </a:solidFill>
            <a:prstDash val="solid"/>
          </a:ln>
        </p:spPr>
      </p:sp>
      <p:sp>
        <p:nvSpPr>
          <p:cNvPr id="6" name="Text 4"/>
          <p:cNvSpPr txBox="1"/>
          <p:nvPr/>
        </p:nvSpPr>
        <p:spPr>
          <a:xfrm>
            <a:off x="457200" y="4846320"/>
            <a:ext cx="5486400" cy="22860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CodeAlpha  |  Phishing Awareness Training</a:t>
            </a:r>
            <a:endParaRPr lang="en-US" sz="1000" dirty="0"/>
          </a:p>
        </p:txBody>
      </p:sp>
      <p:sp>
        <p:nvSpPr>
          <p:cNvPr id="7" name="Text 5"/>
          <p:cNvSpPr txBox="1"/>
          <p:nvPr/>
        </p:nvSpPr>
        <p:spPr>
          <a:xfrm>
            <a:off x="8229600" y="4846320"/>
            <a:ext cx="457200" cy="22860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5</a:t>
            </a:r>
            <a:endParaRPr lang="en-US" sz="1000" dirty="0"/>
          </a:p>
        </p:txBody>
      </p:sp>
      <p:sp>
        <p:nvSpPr>
          <p:cNvPr id="8" name="Shape 6"/>
          <p:cNvSpPr/>
          <p:nvPr/>
        </p:nvSpPr>
        <p:spPr>
          <a:xfrm>
            <a:off x="457200" y="1280160"/>
            <a:ext cx="2621280" cy="1417320"/>
          </a:xfrm>
          <a:prstGeom prst="rect">
            <a:avLst/>
          </a:prstGeom>
          <a:solidFill>
            <a:srgbClr val="FFFFFF"/>
          </a:solidFill>
          <a:ln w="9525">
            <a:solidFill>
              <a:srgbClr val="E5E7EB"/>
            </a:solidFill>
            <a:prstDash val="solid"/>
          </a:ln>
          <a:effectLst>
            <a:outerShdw sx="100000" sy="100000" kx="0" ky="0" algn="bl" rotWithShape="0" blurRad="76200" dist="25400" dir="5400000">
              <a:srgbClr val="000000">
                <a:alpha val="12000"/>
              </a:srgbClr>
            </a:outerShdw>
          </a:effectLst>
        </p:spPr>
      </p:sp>
      <p:sp>
        <p:nvSpPr>
          <p:cNvPr id="9" name="Shape 7"/>
          <p:cNvSpPr/>
          <p:nvPr/>
        </p:nvSpPr>
        <p:spPr>
          <a:xfrm>
            <a:off x="457200" y="1280160"/>
            <a:ext cx="2621280" cy="64008"/>
          </a:xfrm>
          <a:prstGeom prst="rect">
            <a:avLst/>
          </a:prstGeom>
          <a:solidFill>
            <a:srgbClr val="14B8A6"/>
          </a:solidFill>
          <a:ln w="12700">
            <a:solidFill>
              <a:srgbClr val="14B8A6"/>
            </a:solidFill>
            <a:prstDash val="solid"/>
          </a:ln>
        </p:spPr>
      </p:sp>
      <p:sp>
        <p:nvSpPr>
          <p:cNvPr id="10" name="Text 8"/>
          <p:cNvSpPr txBox="1"/>
          <p:nvPr/>
        </p:nvSpPr>
        <p:spPr>
          <a:xfrm>
            <a:off x="640080" y="1408176"/>
            <a:ext cx="2301240" cy="1234440"/>
          </a:xfrm>
          <a:prstGeom prst="rect">
            <a:avLst/>
          </a:prstGeom>
          <a:noFill/>
          <a:ln/>
        </p:spPr>
        <p:txBody>
          <a:bodyPr wrap="square" lIns="0" tIns="0" rIns="0" bIns="0" rtlCol="0" anchor="ctr"/>
          <a:lstStyle/>
          <a:p>
            <a:pPr indent="0" marL="0">
              <a:buNone/>
            </a:pPr>
            <a:r>
              <a:rPr lang="en-US" sz="1400" b="1" dirty="0">
                <a:solidFill>
                  <a:srgbClr val="0B1F3A"/>
                </a:solidFill>
                <a:latin typeface="Calibri" pitchFamily="34" charset="0"/>
                <a:ea typeface="Calibri" pitchFamily="34" charset="-122"/>
                <a:cs typeface="Calibri" pitchFamily="34" charset="-120"/>
              </a:rPr>
              <a:t>Email phishing</a:t>
            </a:r>
            <a:endParaRPr lang="en-US" sz="1400" dirty="0"/>
          </a:p>
          <a:p>
            <a:pPr indent="0" marL="0">
              <a:buNone/>
            </a:pPr>
            <a:r>
              <a:rPr lang="en-US" sz="1150" dirty="0">
                <a:solidFill>
                  <a:srgbClr val="1F2937"/>
                </a:solidFill>
                <a:latin typeface="Calibri" pitchFamily="34" charset="0"/>
                <a:ea typeface="Calibri" pitchFamily="34" charset="-122"/>
                <a:cs typeface="Calibri" pitchFamily="34" charset="-120"/>
              </a:rPr>
              <a:t>Mass emails posing as banks, couriers or IT</a:t>
            </a:r>
            <a:endParaRPr lang="en-US" sz="1400" dirty="0"/>
          </a:p>
        </p:txBody>
      </p:sp>
      <p:sp>
        <p:nvSpPr>
          <p:cNvPr id="11" name="Shape 9"/>
          <p:cNvSpPr/>
          <p:nvPr/>
        </p:nvSpPr>
        <p:spPr>
          <a:xfrm>
            <a:off x="3261360" y="1280160"/>
            <a:ext cx="2621280" cy="1417320"/>
          </a:xfrm>
          <a:prstGeom prst="rect">
            <a:avLst/>
          </a:prstGeom>
          <a:solidFill>
            <a:srgbClr val="FFFFFF"/>
          </a:solidFill>
          <a:ln w="9525">
            <a:solidFill>
              <a:srgbClr val="E5E7EB"/>
            </a:solidFill>
            <a:prstDash val="solid"/>
          </a:ln>
          <a:effectLst>
            <a:outerShdw sx="100000" sy="100000" kx="0" ky="0" algn="bl" rotWithShape="0" blurRad="76200" dist="25400" dir="5400000">
              <a:srgbClr val="000000">
                <a:alpha val="12000"/>
              </a:srgbClr>
            </a:outerShdw>
          </a:effectLst>
        </p:spPr>
      </p:sp>
      <p:sp>
        <p:nvSpPr>
          <p:cNvPr id="12" name="Shape 10"/>
          <p:cNvSpPr/>
          <p:nvPr/>
        </p:nvSpPr>
        <p:spPr>
          <a:xfrm>
            <a:off x="3261360" y="1280160"/>
            <a:ext cx="2621280" cy="64008"/>
          </a:xfrm>
          <a:prstGeom prst="rect">
            <a:avLst/>
          </a:prstGeom>
          <a:solidFill>
            <a:srgbClr val="F59E0B"/>
          </a:solidFill>
          <a:ln w="12700">
            <a:solidFill>
              <a:srgbClr val="F59E0B"/>
            </a:solidFill>
            <a:prstDash val="solid"/>
          </a:ln>
        </p:spPr>
      </p:sp>
      <p:sp>
        <p:nvSpPr>
          <p:cNvPr id="13" name="Text 11"/>
          <p:cNvSpPr txBox="1"/>
          <p:nvPr/>
        </p:nvSpPr>
        <p:spPr>
          <a:xfrm>
            <a:off x="3444240" y="1408176"/>
            <a:ext cx="2301240" cy="1234440"/>
          </a:xfrm>
          <a:prstGeom prst="rect">
            <a:avLst/>
          </a:prstGeom>
          <a:noFill/>
          <a:ln/>
        </p:spPr>
        <p:txBody>
          <a:bodyPr wrap="square" lIns="0" tIns="0" rIns="0" bIns="0" rtlCol="0" anchor="ctr"/>
          <a:lstStyle/>
          <a:p>
            <a:pPr indent="0" marL="0">
              <a:buNone/>
            </a:pPr>
            <a:r>
              <a:rPr lang="en-US" sz="1400" b="1" dirty="0">
                <a:solidFill>
                  <a:srgbClr val="0B1F3A"/>
                </a:solidFill>
                <a:latin typeface="Calibri" pitchFamily="34" charset="0"/>
                <a:ea typeface="Calibri" pitchFamily="34" charset="-122"/>
                <a:cs typeface="Calibri" pitchFamily="34" charset="-120"/>
              </a:rPr>
              <a:t>Spear phishing</a:t>
            </a:r>
            <a:endParaRPr lang="en-US" sz="1400" dirty="0"/>
          </a:p>
          <a:p>
            <a:pPr indent="0" marL="0">
              <a:buNone/>
            </a:pPr>
            <a:r>
              <a:rPr lang="en-US" sz="1150" dirty="0">
                <a:solidFill>
                  <a:srgbClr val="1F2937"/>
                </a:solidFill>
                <a:latin typeface="Calibri" pitchFamily="34" charset="0"/>
                <a:ea typeface="Calibri" pitchFamily="34" charset="-122"/>
                <a:cs typeface="Calibri" pitchFamily="34" charset="-120"/>
              </a:rPr>
              <a:t>Personalised message aimed at one person</a:t>
            </a:r>
            <a:endParaRPr lang="en-US" sz="1400" dirty="0"/>
          </a:p>
        </p:txBody>
      </p:sp>
      <p:sp>
        <p:nvSpPr>
          <p:cNvPr id="14" name="Shape 12"/>
          <p:cNvSpPr/>
          <p:nvPr/>
        </p:nvSpPr>
        <p:spPr>
          <a:xfrm>
            <a:off x="6065520" y="1280160"/>
            <a:ext cx="2621280" cy="1417320"/>
          </a:xfrm>
          <a:prstGeom prst="rect">
            <a:avLst/>
          </a:prstGeom>
          <a:solidFill>
            <a:srgbClr val="FFFFFF"/>
          </a:solidFill>
          <a:ln w="9525">
            <a:solidFill>
              <a:srgbClr val="E5E7EB"/>
            </a:solidFill>
            <a:prstDash val="solid"/>
          </a:ln>
          <a:effectLst>
            <a:outerShdw sx="100000" sy="100000" kx="0" ky="0" algn="bl" rotWithShape="0" blurRad="76200" dist="25400" dir="5400000">
              <a:srgbClr val="000000">
                <a:alpha val="12000"/>
              </a:srgbClr>
            </a:outerShdw>
          </a:effectLst>
        </p:spPr>
      </p:sp>
      <p:sp>
        <p:nvSpPr>
          <p:cNvPr id="15" name="Shape 13"/>
          <p:cNvSpPr/>
          <p:nvPr/>
        </p:nvSpPr>
        <p:spPr>
          <a:xfrm>
            <a:off x="6065520" y="1280160"/>
            <a:ext cx="2621280" cy="64008"/>
          </a:xfrm>
          <a:prstGeom prst="rect">
            <a:avLst/>
          </a:prstGeom>
          <a:solidFill>
            <a:srgbClr val="EF4444"/>
          </a:solidFill>
          <a:ln w="12700">
            <a:solidFill>
              <a:srgbClr val="EF4444"/>
            </a:solidFill>
            <a:prstDash val="solid"/>
          </a:ln>
        </p:spPr>
      </p:sp>
      <p:sp>
        <p:nvSpPr>
          <p:cNvPr id="16" name="Text 14"/>
          <p:cNvSpPr txBox="1"/>
          <p:nvPr/>
        </p:nvSpPr>
        <p:spPr>
          <a:xfrm>
            <a:off x="6248400" y="1408176"/>
            <a:ext cx="2301240" cy="1234440"/>
          </a:xfrm>
          <a:prstGeom prst="rect">
            <a:avLst/>
          </a:prstGeom>
          <a:noFill/>
          <a:ln/>
        </p:spPr>
        <p:txBody>
          <a:bodyPr wrap="square" lIns="0" tIns="0" rIns="0" bIns="0" rtlCol="0" anchor="ctr"/>
          <a:lstStyle/>
          <a:p>
            <a:pPr indent="0" marL="0">
              <a:buNone/>
            </a:pPr>
            <a:r>
              <a:rPr lang="en-US" sz="1400" b="1" dirty="0">
                <a:solidFill>
                  <a:srgbClr val="0B1F3A"/>
                </a:solidFill>
                <a:latin typeface="Calibri" pitchFamily="34" charset="0"/>
                <a:ea typeface="Calibri" pitchFamily="34" charset="-122"/>
                <a:cs typeface="Calibri" pitchFamily="34" charset="-120"/>
              </a:rPr>
              <a:t>Whaling</a:t>
            </a:r>
            <a:endParaRPr lang="en-US" sz="1400" dirty="0"/>
          </a:p>
          <a:p>
            <a:pPr indent="0" marL="0">
              <a:buNone/>
            </a:pPr>
            <a:r>
              <a:rPr lang="en-US" sz="1150" dirty="0">
                <a:solidFill>
                  <a:srgbClr val="1F2937"/>
                </a:solidFill>
                <a:latin typeface="Calibri" pitchFamily="34" charset="0"/>
                <a:ea typeface="Calibri" pitchFamily="34" charset="-122"/>
                <a:cs typeface="Calibri" pitchFamily="34" charset="-120"/>
              </a:rPr>
              <a:t>Targets executives and senior leaders</a:t>
            </a:r>
            <a:endParaRPr lang="en-US" sz="1400" dirty="0"/>
          </a:p>
        </p:txBody>
      </p:sp>
      <p:sp>
        <p:nvSpPr>
          <p:cNvPr id="17" name="Shape 15"/>
          <p:cNvSpPr/>
          <p:nvPr/>
        </p:nvSpPr>
        <p:spPr>
          <a:xfrm>
            <a:off x="457200" y="2862072"/>
            <a:ext cx="2621280" cy="1417320"/>
          </a:xfrm>
          <a:prstGeom prst="rect">
            <a:avLst/>
          </a:prstGeom>
          <a:solidFill>
            <a:srgbClr val="FFFFFF"/>
          </a:solidFill>
          <a:ln w="9525">
            <a:solidFill>
              <a:srgbClr val="E5E7EB"/>
            </a:solidFill>
            <a:prstDash val="solid"/>
          </a:ln>
          <a:effectLst>
            <a:outerShdw sx="100000" sy="100000" kx="0" ky="0" algn="bl" rotWithShape="0" blurRad="76200" dist="25400" dir="5400000">
              <a:srgbClr val="000000">
                <a:alpha val="12000"/>
              </a:srgbClr>
            </a:outerShdw>
          </a:effectLst>
        </p:spPr>
      </p:sp>
      <p:sp>
        <p:nvSpPr>
          <p:cNvPr id="18" name="Shape 16"/>
          <p:cNvSpPr/>
          <p:nvPr/>
        </p:nvSpPr>
        <p:spPr>
          <a:xfrm>
            <a:off x="457200" y="2862072"/>
            <a:ext cx="2621280" cy="64008"/>
          </a:xfrm>
          <a:prstGeom prst="rect">
            <a:avLst/>
          </a:prstGeom>
          <a:solidFill>
            <a:srgbClr val="14B8A6"/>
          </a:solidFill>
          <a:ln w="12700">
            <a:solidFill>
              <a:srgbClr val="14B8A6"/>
            </a:solidFill>
            <a:prstDash val="solid"/>
          </a:ln>
        </p:spPr>
      </p:sp>
      <p:sp>
        <p:nvSpPr>
          <p:cNvPr id="19" name="Text 17"/>
          <p:cNvSpPr txBox="1"/>
          <p:nvPr/>
        </p:nvSpPr>
        <p:spPr>
          <a:xfrm>
            <a:off x="640080" y="2990088"/>
            <a:ext cx="2301240" cy="1234440"/>
          </a:xfrm>
          <a:prstGeom prst="rect">
            <a:avLst/>
          </a:prstGeom>
          <a:noFill/>
          <a:ln/>
        </p:spPr>
        <p:txBody>
          <a:bodyPr wrap="square" lIns="0" tIns="0" rIns="0" bIns="0" rtlCol="0" anchor="ctr"/>
          <a:lstStyle/>
          <a:p>
            <a:pPr indent="0" marL="0">
              <a:buNone/>
            </a:pPr>
            <a:r>
              <a:rPr lang="en-US" sz="1400" b="1" dirty="0">
                <a:solidFill>
                  <a:srgbClr val="0B1F3A"/>
                </a:solidFill>
                <a:latin typeface="Calibri" pitchFamily="34" charset="0"/>
                <a:ea typeface="Calibri" pitchFamily="34" charset="-122"/>
                <a:cs typeface="Calibri" pitchFamily="34" charset="-120"/>
              </a:rPr>
              <a:t>Smishing</a:t>
            </a:r>
            <a:endParaRPr lang="en-US" sz="1400" dirty="0"/>
          </a:p>
          <a:p>
            <a:pPr indent="0" marL="0">
              <a:buNone/>
            </a:pPr>
            <a:r>
              <a:rPr lang="en-US" sz="1150" dirty="0">
                <a:solidFill>
                  <a:srgbClr val="1F2937"/>
                </a:solidFill>
                <a:latin typeface="Calibri" pitchFamily="34" charset="0"/>
                <a:ea typeface="Calibri" pitchFamily="34" charset="-122"/>
                <a:cs typeface="Calibri" pitchFamily="34" charset="-120"/>
              </a:rPr>
              <a:t>Fake SMS with malicious links</a:t>
            </a:r>
            <a:endParaRPr lang="en-US" sz="1400" dirty="0"/>
          </a:p>
        </p:txBody>
      </p:sp>
      <p:sp>
        <p:nvSpPr>
          <p:cNvPr id="20" name="Shape 18"/>
          <p:cNvSpPr/>
          <p:nvPr/>
        </p:nvSpPr>
        <p:spPr>
          <a:xfrm>
            <a:off x="3261360" y="2862072"/>
            <a:ext cx="2621280" cy="1417320"/>
          </a:xfrm>
          <a:prstGeom prst="rect">
            <a:avLst/>
          </a:prstGeom>
          <a:solidFill>
            <a:srgbClr val="FFFFFF"/>
          </a:solidFill>
          <a:ln w="9525">
            <a:solidFill>
              <a:srgbClr val="E5E7EB"/>
            </a:solidFill>
            <a:prstDash val="solid"/>
          </a:ln>
          <a:effectLst>
            <a:outerShdw sx="100000" sy="100000" kx="0" ky="0" algn="bl" rotWithShape="0" blurRad="76200" dist="25400" dir="5400000">
              <a:srgbClr val="000000">
                <a:alpha val="12000"/>
              </a:srgbClr>
            </a:outerShdw>
          </a:effectLst>
        </p:spPr>
      </p:sp>
      <p:sp>
        <p:nvSpPr>
          <p:cNvPr id="21" name="Shape 19"/>
          <p:cNvSpPr/>
          <p:nvPr/>
        </p:nvSpPr>
        <p:spPr>
          <a:xfrm>
            <a:off x="3261360" y="2862072"/>
            <a:ext cx="2621280" cy="64008"/>
          </a:xfrm>
          <a:prstGeom prst="rect">
            <a:avLst/>
          </a:prstGeom>
          <a:solidFill>
            <a:srgbClr val="F59E0B"/>
          </a:solidFill>
          <a:ln w="12700">
            <a:solidFill>
              <a:srgbClr val="F59E0B"/>
            </a:solidFill>
            <a:prstDash val="solid"/>
          </a:ln>
        </p:spPr>
      </p:sp>
      <p:sp>
        <p:nvSpPr>
          <p:cNvPr id="22" name="Text 20"/>
          <p:cNvSpPr txBox="1"/>
          <p:nvPr/>
        </p:nvSpPr>
        <p:spPr>
          <a:xfrm>
            <a:off x="3444240" y="2990088"/>
            <a:ext cx="2301240" cy="1234440"/>
          </a:xfrm>
          <a:prstGeom prst="rect">
            <a:avLst/>
          </a:prstGeom>
          <a:noFill/>
          <a:ln/>
        </p:spPr>
        <p:txBody>
          <a:bodyPr wrap="square" lIns="0" tIns="0" rIns="0" bIns="0" rtlCol="0" anchor="ctr"/>
          <a:lstStyle/>
          <a:p>
            <a:pPr indent="0" marL="0">
              <a:buNone/>
            </a:pPr>
            <a:r>
              <a:rPr lang="en-US" sz="1400" b="1" dirty="0">
                <a:solidFill>
                  <a:srgbClr val="0B1F3A"/>
                </a:solidFill>
                <a:latin typeface="Calibri" pitchFamily="34" charset="0"/>
                <a:ea typeface="Calibri" pitchFamily="34" charset="-122"/>
                <a:cs typeface="Calibri" pitchFamily="34" charset="-120"/>
              </a:rPr>
              <a:t>Vishing</a:t>
            </a:r>
            <a:endParaRPr lang="en-US" sz="1400" dirty="0"/>
          </a:p>
          <a:p>
            <a:pPr indent="0" marL="0">
              <a:buNone/>
            </a:pPr>
            <a:r>
              <a:rPr lang="en-US" sz="1150" dirty="0">
                <a:solidFill>
                  <a:srgbClr val="1F2937"/>
                </a:solidFill>
                <a:latin typeface="Calibri" pitchFamily="34" charset="0"/>
                <a:ea typeface="Calibri" pitchFamily="34" charset="-122"/>
                <a:cs typeface="Calibri" pitchFamily="34" charset="-120"/>
              </a:rPr>
              <a:t>Phone calls pretending to be bank or support</a:t>
            </a:r>
            <a:endParaRPr lang="en-US" sz="1400" dirty="0"/>
          </a:p>
        </p:txBody>
      </p:sp>
      <p:sp>
        <p:nvSpPr>
          <p:cNvPr id="23" name="Shape 21"/>
          <p:cNvSpPr/>
          <p:nvPr/>
        </p:nvSpPr>
        <p:spPr>
          <a:xfrm>
            <a:off x="6065520" y="2862072"/>
            <a:ext cx="2621280" cy="1417320"/>
          </a:xfrm>
          <a:prstGeom prst="rect">
            <a:avLst/>
          </a:prstGeom>
          <a:solidFill>
            <a:srgbClr val="FFFFFF"/>
          </a:solidFill>
          <a:ln w="9525">
            <a:solidFill>
              <a:srgbClr val="E5E7EB"/>
            </a:solidFill>
            <a:prstDash val="solid"/>
          </a:ln>
          <a:effectLst>
            <a:outerShdw sx="100000" sy="100000" kx="0" ky="0" algn="bl" rotWithShape="0" blurRad="76200" dist="25400" dir="5400000">
              <a:srgbClr val="000000">
                <a:alpha val="12000"/>
              </a:srgbClr>
            </a:outerShdw>
          </a:effectLst>
        </p:spPr>
      </p:sp>
      <p:sp>
        <p:nvSpPr>
          <p:cNvPr id="24" name="Shape 22"/>
          <p:cNvSpPr/>
          <p:nvPr/>
        </p:nvSpPr>
        <p:spPr>
          <a:xfrm>
            <a:off x="6065520" y="2862072"/>
            <a:ext cx="2621280" cy="64008"/>
          </a:xfrm>
          <a:prstGeom prst="rect">
            <a:avLst/>
          </a:prstGeom>
          <a:solidFill>
            <a:srgbClr val="EF4444"/>
          </a:solidFill>
          <a:ln w="12700">
            <a:solidFill>
              <a:srgbClr val="EF4444"/>
            </a:solidFill>
            <a:prstDash val="solid"/>
          </a:ln>
        </p:spPr>
      </p:sp>
      <p:sp>
        <p:nvSpPr>
          <p:cNvPr id="25" name="Text 23"/>
          <p:cNvSpPr txBox="1"/>
          <p:nvPr/>
        </p:nvSpPr>
        <p:spPr>
          <a:xfrm>
            <a:off x="6248400" y="2990088"/>
            <a:ext cx="2301240" cy="1234440"/>
          </a:xfrm>
          <a:prstGeom prst="rect">
            <a:avLst/>
          </a:prstGeom>
          <a:noFill/>
          <a:ln/>
        </p:spPr>
        <p:txBody>
          <a:bodyPr wrap="square" lIns="0" tIns="0" rIns="0" bIns="0" rtlCol="0" anchor="ctr"/>
          <a:lstStyle/>
          <a:p>
            <a:pPr indent="0" marL="0">
              <a:buNone/>
            </a:pPr>
            <a:r>
              <a:rPr lang="en-US" sz="1400" b="1" dirty="0">
                <a:solidFill>
                  <a:srgbClr val="0B1F3A"/>
                </a:solidFill>
                <a:latin typeface="Calibri" pitchFamily="34" charset="0"/>
                <a:ea typeface="Calibri" pitchFamily="34" charset="-122"/>
                <a:cs typeface="Calibri" pitchFamily="34" charset="-120"/>
              </a:rPr>
              <a:t>Quishing</a:t>
            </a:r>
            <a:endParaRPr lang="en-US" sz="1400" dirty="0"/>
          </a:p>
          <a:p>
            <a:pPr indent="0" marL="0">
              <a:buNone/>
            </a:pPr>
            <a:r>
              <a:rPr lang="en-US" sz="1150" dirty="0">
                <a:solidFill>
                  <a:srgbClr val="1F2937"/>
                </a:solidFill>
                <a:latin typeface="Calibri" pitchFamily="34" charset="0"/>
                <a:ea typeface="Calibri" pitchFamily="34" charset="-122"/>
                <a:cs typeface="Calibri" pitchFamily="34" charset="-120"/>
              </a:rPr>
              <a:t>Malicious QR codes leading to fake logins</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14B8A6"/>
          </a:solidFill>
          <a:ln w="12700">
            <a:solidFill>
              <a:srgbClr val="14B8A6"/>
            </a:solidFill>
            <a:prstDash val="solid"/>
          </a:ln>
        </p:spPr>
      </p:sp>
      <p:sp>
        <p:nvSpPr>
          <p:cNvPr id="3" name="Text 1"/>
          <p:cNvSpPr txBox="1"/>
          <p:nvPr/>
        </p:nvSpPr>
        <p:spPr>
          <a:xfrm>
            <a:off x="457200" y="256032"/>
            <a:ext cx="5486400" cy="228600"/>
          </a:xfrm>
          <a:prstGeom prst="rect">
            <a:avLst/>
          </a:prstGeom>
          <a:noFill/>
          <a:ln/>
        </p:spPr>
        <p:txBody>
          <a:bodyPr wrap="square" lIns="0" tIns="0" rIns="0" bIns="0" rtlCol="0" anchor="ctr"/>
          <a:lstStyle/>
          <a:p>
            <a:pPr indent="0" marL="0">
              <a:buNone/>
            </a:pPr>
            <a:r>
              <a:rPr lang="en-US" sz="1100" b="1" spc="300" kern="0" dirty="0">
                <a:solidFill>
                  <a:srgbClr val="14B8A6"/>
                </a:solidFill>
                <a:latin typeface="Calibri" pitchFamily="34" charset="0"/>
                <a:ea typeface="Calibri" pitchFamily="34" charset="-122"/>
                <a:cs typeface="Calibri" pitchFamily="34" charset="-120"/>
              </a:rPr>
              <a:t>RECOGNIZE IT</a:t>
            </a:r>
            <a:endParaRPr lang="en-US" sz="1100" dirty="0"/>
          </a:p>
        </p:txBody>
      </p:sp>
      <p:sp>
        <p:nvSpPr>
          <p:cNvPr id="4" name="Text 2"/>
          <p:cNvSpPr txBox="1"/>
          <p:nvPr/>
        </p:nvSpPr>
        <p:spPr>
          <a:xfrm>
            <a:off x="457200" y="475488"/>
            <a:ext cx="8229600" cy="548640"/>
          </a:xfrm>
          <a:prstGeom prst="rect">
            <a:avLst/>
          </a:prstGeom>
          <a:noFill/>
          <a:ln/>
        </p:spPr>
        <p:txBody>
          <a:bodyPr wrap="square" lIns="0" tIns="0" rIns="0" bIns="0" rtlCol="0" anchor="ctr"/>
          <a:lstStyle/>
          <a:p>
            <a:pPr indent="0" marL="0">
              <a:buNone/>
            </a:pPr>
            <a:r>
              <a:rPr lang="en-US" sz="2800" b="1" dirty="0">
                <a:solidFill>
                  <a:srgbClr val="0B1F3A"/>
                </a:solidFill>
                <a:latin typeface="Calibri" pitchFamily="34" charset="0"/>
                <a:ea typeface="Calibri" pitchFamily="34" charset="-122"/>
                <a:cs typeface="Calibri" pitchFamily="34" charset="-120"/>
              </a:rPr>
              <a:t>Anatomy of a phishing email</a:t>
            </a:r>
            <a:endParaRPr lang="en-US" sz="2800" dirty="0"/>
          </a:p>
        </p:txBody>
      </p:sp>
      <p:sp>
        <p:nvSpPr>
          <p:cNvPr id="5" name="Shape 3"/>
          <p:cNvSpPr/>
          <p:nvPr/>
        </p:nvSpPr>
        <p:spPr>
          <a:xfrm>
            <a:off x="457200" y="4800600"/>
            <a:ext cx="8229600" cy="0"/>
          </a:xfrm>
          <a:prstGeom prst="line">
            <a:avLst/>
          </a:prstGeom>
          <a:noFill/>
          <a:ln w="9525">
            <a:solidFill>
              <a:srgbClr val="D1D5DB"/>
            </a:solidFill>
            <a:prstDash val="solid"/>
          </a:ln>
        </p:spPr>
      </p:sp>
      <p:sp>
        <p:nvSpPr>
          <p:cNvPr id="6" name="Text 4"/>
          <p:cNvSpPr txBox="1"/>
          <p:nvPr/>
        </p:nvSpPr>
        <p:spPr>
          <a:xfrm>
            <a:off x="457200" y="4846320"/>
            <a:ext cx="5486400" cy="22860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CodeAlpha  |  Phishing Awareness Training</a:t>
            </a:r>
            <a:endParaRPr lang="en-US" sz="1000" dirty="0"/>
          </a:p>
        </p:txBody>
      </p:sp>
      <p:sp>
        <p:nvSpPr>
          <p:cNvPr id="7" name="Text 5"/>
          <p:cNvSpPr txBox="1"/>
          <p:nvPr/>
        </p:nvSpPr>
        <p:spPr>
          <a:xfrm>
            <a:off x="8229600" y="4846320"/>
            <a:ext cx="457200" cy="22860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6</a:t>
            </a:r>
            <a:endParaRPr lang="en-US" sz="1000" dirty="0"/>
          </a:p>
        </p:txBody>
      </p:sp>
      <p:sp>
        <p:nvSpPr>
          <p:cNvPr id="8" name="Shape 6"/>
          <p:cNvSpPr/>
          <p:nvPr/>
        </p:nvSpPr>
        <p:spPr>
          <a:xfrm>
            <a:off x="457200" y="1234440"/>
            <a:ext cx="4389120" cy="3383280"/>
          </a:xfrm>
          <a:prstGeom prst="rect">
            <a:avLst/>
          </a:prstGeom>
          <a:solidFill>
            <a:srgbClr val="FFFFFF"/>
          </a:solidFill>
          <a:ln w="12700">
            <a:solidFill>
              <a:srgbClr val="9CA3AF"/>
            </a:solidFill>
            <a:prstDash val="solid"/>
          </a:ln>
          <a:effectLst>
            <a:outerShdw sx="100000" sy="100000" kx="0" ky="0" algn="bl" rotWithShape="0" blurRad="76200" dist="25400" dir="5400000">
              <a:srgbClr val="000000">
                <a:alpha val="12000"/>
              </a:srgbClr>
            </a:outerShdw>
          </a:effectLst>
        </p:spPr>
      </p:sp>
      <p:sp>
        <p:nvSpPr>
          <p:cNvPr id="9" name="Shape 7"/>
          <p:cNvSpPr/>
          <p:nvPr/>
        </p:nvSpPr>
        <p:spPr>
          <a:xfrm>
            <a:off x="457200" y="1234440"/>
            <a:ext cx="4389120" cy="320040"/>
          </a:xfrm>
          <a:prstGeom prst="rect">
            <a:avLst/>
          </a:prstGeom>
          <a:solidFill>
            <a:srgbClr val="E5E7EB"/>
          </a:solidFill>
          <a:ln w="12700">
            <a:solidFill>
              <a:srgbClr val="E5E7EB"/>
            </a:solidFill>
            <a:prstDash val="solid"/>
          </a:ln>
        </p:spPr>
      </p:sp>
      <p:sp>
        <p:nvSpPr>
          <p:cNvPr id="10" name="Text 8"/>
          <p:cNvSpPr txBox="1"/>
          <p:nvPr/>
        </p:nvSpPr>
        <p:spPr>
          <a:xfrm>
            <a:off x="594360" y="1234440"/>
            <a:ext cx="3657600" cy="320040"/>
          </a:xfrm>
          <a:prstGeom prst="rect">
            <a:avLst/>
          </a:prstGeom>
          <a:noFill/>
          <a:ln/>
        </p:spPr>
        <p:txBody>
          <a:bodyPr wrap="square" lIns="0" tIns="0" rIns="0" bIns="0" rtlCol="0" anchor="ctr"/>
          <a:lstStyle/>
          <a:p>
            <a:pPr indent="0" marL="0">
              <a:buNone/>
            </a:pPr>
            <a:r>
              <a:rPr lang="en-US" sz="1100" dirty="0">
                <a:solidFill>
                  <a:srgbClr val="6B7280"/>
                </a:solidFill>
                <a:latin typeface="Calibri" pitchFamily="34" charset="0"/>
                <a:ea typeface="Calibri" pitchFamily="34" charset="-122"/>
                <a:cs typeface="Calibri" pitchFamily="34" charset="-120"/>
              </a:rPr>
              <a:t>Inbox  &gt;  New message</a:t>
            </a:r>
            <a:endParaRPr lang="en-US" sz="1100" dirty="0"/>
          </a:p>
        </p:txBody>
      </p:sp>
      <p:sp>
        <p:nvSpPr>
          <p:cNvPr id="11" name="Text 9"/>
          <p:cNvSpPr txBox="1"/>
          <p:nvPr/>
        </p:nvSpPr>
        <p:spPr>
          <a:xfrm>
            <a:off x="640080" y="1691640"/>
            <a:ext cx="4069080" cy="2834640"/>
          </a:xfrm>
          <a:prstGeom prst="rect">
            <a:avLst/>
          </a:prstGeom>
          <a:noFill/>
          <a:ln/>
        </p:spPr>
        <p:txBody>
          <a:bodyPr wrap="square" lIns="0" tIns="0" rIns="0" bIns="0" rtlCol="0" anchor="t"/>
          <a:lstStyle/>
          <a:p>
            <a:pPr indent="0" marL="0">
              <a:buNone/>
            </a:pPr>
            <a:r>
              <a:rPr lang="en-US" sz="1200" b="1" dirty="0">
                <a:solidFill>
                  <a:srgbClr val="EF4444"/>
                </a:solidFill>
                <a:latin typeface="Calibri" pitchFamily="34" charset="0"/>
                <a:ea typeface="Calibri" pitchFamily="34" charset="-122"/>
                <a:cs typeface="Calibri" pitchFamily="34" charset="-120"/>
              </a:rPr>
              <a:t>From: PayPal Support &lt;support@paypa1-secure.com&gt;</a:t>
            </a:r>
            <a:endParaRPr lang="en-US" sz="1200" dirty="0"/>
          </a:p>
          <a:p>
            <a:pPr indent="0" marL="0">
              <a:buNone/>
            </a:pPr>
            <a:r>
              <a:rPr lang="en-US" sz="1200" b="1" dirty="0">
                <a:solidFill>
                  <a:srgbClr val="EF4444"/>
                </a:solidFill>
                <a:latin typeface="Calibri" pitchFamily="34" charset="0"/>
                <a:ea typeface="Calibri" pitchFamily="34" charset="-122"/>
                <a:cs typeface="Calibri" pitchFamily="34" charset="-120"/>
              </a:rPr>
              <a:t>Subject: URGENT: Account suspended in 24 hours!</a:t>
            </a:r>
            <a:endParaRPr lang="en-US" sz="1200" dirty="0"/>
          </a:p>
          <a:p>
            <a:pPr indent="0" marL="0">
              <a:buNone/>
            </a:pPr>
            <a:r>
              <a:rPr lang="en-US" sz="1200" dirty="0">
                <a:solidFill>
                  <a:srgbClr val="1F2937"/>
                </a:solidFill>
                <a:latin typeface="Calibri" pitchFamily="34" charset="0"/>
                <a:ea typeface="Calibri" pitchFamily="34" charset="-122"/>
                <a:cs typeface="Calibri" pitchFamily="34" charset="-120"/>
              </a:rPr>
              <a:t> </a:t>
            </a:r>
            <a:endParaRPr lang="en-US" sz="1200" dirty="0"/>
          </a:p>
          <a:p>
            <a:pPr indent="0" marL="0">
              <a:buNone/>
            </a:pPr>
            <a:r>
              <a:rPr lang="en-US" sz="1200" dirty="0">
                <a:solidFill>
                  <a:srgbClr val="1F2937"/>
                </a:solidFill>
                <a:latin typeface="Calibri" pitchFamily="34" charset="0"/>
                <a:ea typeface="Calibri" pitchFamily="34" charset="-122"/>
                <a:cs typeface="Calibri" pitchFamily="34" charset="-120"/>
              </a:rPr>
              <a:t>Dear customer,</a:t>
            </a:r>
            <a:endParaRPr lang="en-US" sz="1200" dirty="0"/>
          </a:p>
          <a:p>
            <a:pPr indent="0" marL="0">
              <a:buNone/>
            </a:pPr>
            <a:r>
              <a:rPr lang="en-US" sz="1200" dirty="0">
                <a:solidFill>
                  <a:srgbClr val="1F2937"/>
                </a:solidFill>
                <a:latin typeface="Calibri" pitchFamily="34" charset="0"/>
                <a:ea typeface="Calibri" pitchFamily="34" charset="-122"/>
                <a:cs typeface="Calibri" pitchFamily="34" charset="-120"/>
              </a:rPr>
              <a:t> </a:t>
            </a:r>
            <a:endParaRPr lang="en-US" sz="1200" dirty="0"/>
          </a:p>
          <a:p>
            <a:pPr indent="0" marL="0">
              <a:buNone/>
            </a:pPr>
            <a:r>
              <a:rPr lang="en-US" sz="1200" dirty="0">
                <a:solidFill>
                  <a:srgbClr val="1F2937"/>
                </a:solidFill>
                <a:latin typeface="Calibri" pitchFamily="34" charset="0"/>
                <a:ea typeface="Calibri" pitchFamily="34" charset="-122"/>
                <a:cs typeface="Calibri" pitchFamily="34" charset="-120"/>
              </a:rPr>
              <a:t>We noticed unusal activity on your acount. Verify now or your account will be closed.</a:t>
            </a:r>
            <a:endParaRPr lang="en-US" sz="1200" dirty="0"/>
          </a:p>
          <a:p>
            <a:pPr indent="0" marL="0">
              <a:buNone/>
            </a:pPr>
            <a:r>
              <a:rPr lang="en-US" sz="1200" dirty="0">
                <a:solidFill>
                  <a:srgbClr val="1F2937"/>
                </a:solidFill>
                <a:latin typeface="Calibri" pitchFamily="34" charset="0"/>
                <a:ea typeface="Calibri" pitchFamily="34" charset="-122"/>
                <a:cs typeface="Calibri" pitchFamily="34" charset="-120"/>
              </a:rPr>
              <a:t> </a:t>
            </a:r>
            <a:endParaRPr lang="en-US" sz="1200" dirty="0"/>
          </a:p>
          <a:p>
            <a:pPr indent="0" marL="0">
              <a:buNone/>
            </a:pPr>
            <a:r>
              <a:rPr lang="en-US" sz="1200" b="1" dirty="0">
                <a:solidFill>
                  <a:srgbClr val="1D4ED8"/>
                </a:solidFill>
                <a:latin typeface="Calibri" pitchFamily="34" charset="0"/>
                <a:ea typeface="Calibri" pitchFamily="34" charset="-122"/>
                <a:cs typeface="Calibri" pitchFamily="34" charset="-120"/>
              </a:rPr>
              <a:t>[ Verify My Account ]  http://paypa1-secure.com/login</a:t>
            </a:r>
            <a:endParaRPr lang="en-US" sz="1200" dirty="0"/>
          </a:p>
          <a:p>
            <a:pPr indent="0" marL="0">
              <a:buNone/>
            </a:pPr>
            <a:r>
              <a:rPr lang="en-US" sz="1200" dirty="0">
                <a:solidFill>
                  <a:srgbClr val="1F2937"/>
                </a:solidFill>
                <a:latin typeface="Calibri" pitchFamily="34" charset="0"/>
                <a:ea typeface="Calibri" pitchFamily="34" charset="-122"/>
                <a:cs typeface="Calibri" pitchFamily="34" charset="-120"/>
              </a:rPr>
              <a:t> </a:t>
            </a:r>
            <a:endParaRPr lang="en-US" sz="1200" dirty="0"/>
          </a:p>
          <a:p>
            <a:pPr indent="0" marL="0">
              <a:buNone/>
            </a:pPr>
            <a:r>
              <a:rPr lang="en-US" sz="1200" dirty="0">
                <a:solidFill>
                  <a:srgbClr val="EF4444"/>
                </a:solidFill>
                <a:latin typeface="Calibri" pitchFamily="34" charset="0"/>
                <a:ea typeface="Calibri" pitchFamily="34" charset="-122"/>
                <a:cs typeface="Calibri" pitchFamily="34" charset="-120"/>
              </a:rPr>
              <a:t>Attachment: invoice_2026.zip</a:t>
            </a:r>
            <a:endParaRPr lang="en-US" sz="1200" dirty="0"/>
          </a:p>
        </p:txBody>
      </p:sp>
      <p:sp>
        <p:nvSpPr>
          <p:cNvPr id="12" name="Shape 10"/>
          <p:cNvSpPr/>
          <p:nvPr/>
        </p:nvSpPr>
        <p:spPr>
          <a:xfrm>
            <a:off x="5120640" y="1289304"/>
            <a:ext cx="365760" cy="365760"/>
          </a:xfrm>
          <a:prstGeom prst="ellipse">
            <a:avLst/>
          </a:prstGeom>
          <a:solidFill>
            <a:srgbClr val="EF4444"/>
          </a:solidFill>
          <a:ln w="12700">
            <a:solidFill>
              <a:srgbClr val="EF4444"/>
            </a:solidFill>
            <a:prstDash val="solid"/>
          </a:ln>
        </p:spPr>
      </p:sp>
      <p:sp>
        <p:nvSpPr>
          <p:cNvPr id="13" name="Text 11"/>
          <p:cNvSpPr txBox="1"/>
          <p:nvPr/>
        </p:nvSpPr>
        <p:spPr>
          <a:xfrm>
            <a:off x="5120640" y="1289304"/>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4" name="Text 12"/>
          <p:cNvSpPr txBox="1"/>
          <p:nvPr/>
        </p:nvSpPr>
        <p:spPr>
          <a:xfrm>
            <a:off x="5623560" y="1234440"/>
            <a:ext cx="3108960" cy="502920"/>
          </a:xfrm>
          <a:prstGeom prst="rect">
            <a:avLst/>
          </a:prstGeom>
          <a:noFill/>
          <a:ln/>
        </p:spPr>
        <p:txBody>
          <a:bodyPr wrap="square" lIns="0" tIns="0" rIns="0" bIns="0" rtlCol="0" anchor="ctr"/>
          <a:lstStyle/>
          <a:p>
            <a:pPr indent="0" marL="0">
              <a:buNone/>
            </a:pPr>
            <a:r>
              <a:rPr lang="en-US" sz="1300" b="1" dirty="0">
                <a:solidFill>
                  <a:srgbClr val="0B1F3A"/>
                </a:solidFill>
                <a:latin typeface="Calibri" pitchFamily="34" charset="0"/>
                <a:ea typeface="Calibri" pitchFamily="34" charset="-122"/>
                <a:cs typeface="Calibri" pitchFamily="34" charset="-120"/>
              </a:rPr>
              <a:t>Look-alike sender</a:t>
            </a:r>
            <a:endParaRPr lang="en-US" sz="1300" dirty="0"/>
          </a:p>
          <a:p>
            <a:pPr indent="0" marL="0">
              <a:buNone/>
            </a:pPr>
            <a:r>
              <a:rPr lang="en-US" sz="1100" dirty="0">
                <a:solidFill>
                  <a:srgbClr val="1F2937"/>
                </a:solidFill>
                <a:latin typeface="Calibri" pitchFamily="34" charset="0"/>
                <a:ea typeface="Calibri" pitchFamily="34" charset="-122"/>
                <a:cs typeface="Calibri" pitchFamily="34" charset="-120"/>
              </a:rPr>
              <a:t>paypa1 uses the number 1, not the letter l</a:t>
            </a:r>
            <a:endParaRPr lang="en-US" sz="1300" dirty="0"/>
          </a:p>
        </p:txBody>
      </p:sp>
      <p:sp>
        <p:nvSpPr>
          <p:cNvPr id="15" name="Shape 13"/>
          <p:cNvSpPr/>
          <p:nvPr/>
        </p:nvSpPr>
        <p:spPr>
          <a:xfrm>
            <a:off x="5120640" y="1865376"/>
            <a:ext cx="365760" cy="365760"/>
          </a:xfrm>
          <a:prstGeom prst="ellipse">
            <a:avLst/>
          </a:prstGeom>
          <a:solidFill>
            <a:srgbClr val="EF4444"/>
          </a:solidFill>
          <a:ln w="12700">
            <a:solidFill>
              <a:srgbClr val="EF4444"/>
            </a:solidFill>
            <a:prstDash val="solid"/>
          </a:ln>
        </p:spPr>
      </p:sp>
      <p:sp>
        <p:nvSpPr>
          <p:cNvPr id="16" name="Text 14"/>
          <p:cNvSpPr txBox="1"/>
          <p:nvPr/>
        </p:nvSpPr>
        <p:spPr>
          <a:xfrm>
            <a:off x="5120640" y="1865376"/>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7" name="Text 15"/>
          <p:cNvSpPr txBox="1"/>
          <p:nvPr/>
        </p:nvSpPr>
        <p:spPr>
          <a:xfrm>
            <a:off x="5623560" y="1810512"/>
            <a:ext cx="3108960" cy="502920"/>
          </a:xfrm>
          <a:prstGeom prst="rect">
            <a:avLst/>
          </a:prstGeom>
          <a:noFill/>
          <a:ln/>
        </p:spPr>
        <p:txBody>
          <a:bodyPr wrap="square" lIns="0" tIns="0" rIns="0" bIns="0" rtlCol="0" anchor="ctr"/>
          <a:lstStyle/>
          <a:p>
            <a:pPr indent="0" marL="0">
              <a:buNone/>
            </a:pPr>
            <a:r>
              <a:rPr lang="en-US" sz="1300" b="1" dirty="0">
                <a:solidFill>
                  <a:srgbClr val="0B1F3A"/>
                </a:solidFill>
                <a:latin typeface="Calibri" pitchFamily="34" charset="0"/>
                <a:ea typeface="Calibri" pitchFamily="34" charset="-122"/>
                <a:cs typeface="Calibri" pitchFamily="34" charset="-120"/>
              </a:rPr>
              <a:t>Urgency and threats</a:t>
            </a:r>
            <a:endParaRPr lang="en-US" sz="1300" dirty="0"/>
          </a:p>
          <a:p>
            <a:pPr indent="0" marL="0">
              <a:buNone/>
            </a:pPr>
            <a:r>
              <a:rPr lang="en-US" sz="1100" dirty="0">
                <a:solidFill>
                  <a:srgbClr val="1F2937"/>
                </a:solidFill>
                <a:latin typeface="Calibri" pitchFamily="34" charset="0"/>
                <a:ea typeface="Calibri" pitchFamily="34" charset="-122"/>
                <a:cs typeface="Calibri" pitchFamily="34" charset="-120"/>
              </a:rPr>
              <a:t>Pressure stops you from thinking</a:t>
            </a:r>
            <a:endParaRPr lang="en-US" sz="1300" dirty="0"/>
          </a:p>
        </p:txBody>
      </p:sp>
      <p:sp>
        <p:nvSpPr>
          <p:cNvPr id="18" name="Shape 16"/>
          <p:cNvSpPr/>
          <p:nvPr/>
        </p:nvSpPr>
        <p:spPr>
          <a:xfrm>
            <a:off x="5120640" y="2441448"/>
            <a:ext cx="365760" cy="365760"/>
          </a:xfrm>
          <a:prstGeom prst="ellipse">
            <a:avLst/>
          </a:prstGeom>
          <a:solidFill>
            <a:srgbClr val="EF4444"/>
          </a:solidFill>
          <a:ln w="12700">
            <a:solidFill>
              <a:srgbClr val="EF4444"/>
            </a:solidFill>
            <a:prstDash val="solid"/>
          </a:ln>
        </p:spPr>
      </p:sp>
      <p:sp>
        <p:nvSpPr>
          <p:cNvPr id="19" name="Text 17"/>
          <p:cNvSpPr txBox="1"/>
          <p:nvPr/>
        </p:nvSpPr>
        <p:spPr>
          <a:xfrm>
            <a:off x="5120640" y="244144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0" name="Text 18"/>
          <p:cNvSpPr txBox="1"/>
          <p:nvPr/>
        </p:nvSpPr>
        <p:spPr>
          <a:xfrm>
            <a:off x="5623560" y="2386584"/>
            <a:ext cx="3108960" cy="502920"/>
          </a:xfrm>
          <a:prstGeom prst="rect">
            <a:avLst/>
          </a:prstGeom>
          <a:noFill/>
          <a:ln/>
        </p:spPr>
        <p:txBody>
          <a:bodyPr wrap="square" lIns="0" tIns="0" rIns="0" bIns="0" rtlCol="0" anchor="ctr"/>
          <a:lstStyle/>
          <a:p>
            <a:pPr indent="0" marL="0">
              <a:buNone/>
            </a:pPr>
            <a:r>
              <a:rPr lang="en-US" sz="1300" b="1" dirty="0">
                <a:solidFill>
                  <a:srgbClr val="0B1F3A"/>
                </a:solidFill>
                <a:latin typeface="Calibri" pitchFamily="34" charset="0"/>
                <a:ea typeface="Calibri" pitchFamily="34" charset="-122"/>
                <a:cs typeface="Calibri" pitchFamily="34" charset="-120"/>
              </a:rPr>
              <a:t>Generic greeting</a:t>
            </a:r>
            <a:endParaRPr lang="en-US" sz="1300" dirty="0"/>
          </a:p>
          <a:p>
            <a:pPr indent="0" marL="0">
              <a:buNone/>
            </a:pPr>
            <a:r>
              <a:rPr lang="en-US" sz="1100" dirty="0">
                <a:solidFill>
                  <a:srgbClr val="1F2937"/>
                </a:solidFill>
                <a:latin typeface="Calibri" pitchFamily="34" charset="0"/>
                <a:ea typeface="Calibri" pitchFamily="34" charset="-122"/>
                <a:cs typeface="Calibri" pitchFamily="34" charset="-120"/>
              </a:rPr>
              <a:t>Real companies use your name</a:t>
            </a:r>
            <a:endParaRPr lang="en-US" sz="1300" dirty="0"/>
          </a:p>
        </p:txBody>
      </p:sp>
      <p:sp>
        <p:nvSpPr>
          <p:cNvPr id="21" name="Shape 19"/>
          <p:cNvSpPr/>
          <p:nvPr/>
        </p:nvSpPr>
        <p:spPr>
          <a:xfrm>
            <a:off x="5120640" y="3017520"/>
            <a:ext cx="365760" cy="365760"/>
          </a:xfrm>
          <a:prstGeom prst="ellipse">
            <a:avLst/>
          </a:prstGeom>
          <a:solidFill>
            <a:srgbClr val="EF4444"/>
          </a:solidFill>
          <a:ln w="12700">
            <a:solidFill>
              <a:srgbClr val="EF4444"/>
            </a:solidFill>
            <a:prstDash val="solid"/>
          </a:ln>
        </p:spPr>
      </p:sp>
      <p:sp>
        <p:nvSpPr>
          <p:cNvPr id="22" name="Text 20"/>
          <p:cNvSpPr txBox="1"/>
          <p:nvPr/>
        </p:nvSpPr>
        <p:spPr>
          <a:xfrm>
            <a:off x="5120640" y="301752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3" name="Text 21"/>
          <p:cNvSpPr txBox="1"/>
          <p:nvPr/>
        </p:nvSpPr>
        <p:spPr>
          <a:xfrm>
            <a:off x="5623560" y="2962656"/>
            <a:ext cx="3108960" cy="502920"/>
          </a:xfrm>
          <a:prstGeom prst="rect">
            <a:avLst/>
          </a:prstGeom>
          <a:noFill/>
          <a:ln/>
        </p:spPr>
        <p:txBody>
          <a:bodyPr wrap="square" lIns="0" tIns="0" rIns="0" bIns="0" rtlCol="0" anchor="ctr"/>
          <a:lstStyle/>
          <a:p>
            <a:pPr indent="0" marL="0">
              <a:buNone/>
            </a:pPr>
            <a:r>
              <a:rPr lang="en-US" sz="1300" b="1" dirty="0">
                <a:solidFill>
                  <a:srgbClr val="0B1F3A"/>
                </a:solidFill>
                <a:latin typeface="Calibri" pitchFamily="34" charset="0"/>
                <a:ea typeface="Calibri" pitchFamily="34" charset="-122"/>
                <a:cs typeface="Calibri" pitchFamily="34" charset="-120"/>
              </a:rPr>
              <a:t>Spelling mistakes</a:t>
            </a:r>
            <a:endParaRPr lang="en-US" sz="1300" dirty="0"/>
          </a:p>
          <a:p>
            <a:pPr indent="0" marL="0">
              <a:buNone/>
            </a:pPr>
            <a:r>
              <a:rPr lang="en-US" sz="1100" dirty="0">
                <a:solidFill>
                  <a:srgbClr val="1F2937"/>
                </a:solidFill>
                <a:latin typeface="Calibri" pitchFamily="34" charset="0"/>
                <a:ea typeface="Calibri" pitchFamily="34" charset="-122"/>
                <a:cs typeface="Calibri" pitchFamily="34" charset="-120"/>
              </a:rPr>
              <a:t>Unusal, acount</a:t>
            </a:r>
            <a:endParaRPr lang="en-US" sz="1300" dirty="0"/>
          </a:p>
        </p:txBody>
      </p:sp>
      <p:sp>
        <p:nvSpPr>
          <p:cNvPr id="24" name="Shape 22"/>
          <p:cNvSpPr/>
          <p:nvPr/>
        </p:nvSpPr>
        <p:spPr>
          <a:xfrm>
            <a:off x="5120640" y="3593592"/>
            <a:ext cx="365760" cy="365760"/>
          </a:xfrm>
          <a:prstGeom prst="ellipse">
            <a:avLst/>
          </a:prstGeom>
          <a:solidFill>
            <a:srgbClr val="EF4444"/>
          </a:solidFill>
          <a:ln w="12700">
            <a:solidFill>
              <a:srgbClr val="EF4444"/>
            </a:solidFill>
            <a:prstDash val="solid"/>
          </a:ln>
        </p:spPr>
      </p:sp>
      <p:sp>
        <p:nvSpPr>
          <p:cNvPr id="25" name="Text 23"/>
          <p:cNvSpPr txBox="1"/>
          <p:nvPr/>
        </p:nvSpPr>
        <p:spPr>
          <a:xfrm>
            <a:off x="5120640" y="359359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6" name="Text 24"/>
          <p:cNvSpPr txBox="1"/>
          <p:nvPr/>
        </p:nvSpPr>
        <p:spPr>
          <a:xfrm>
            <a:off x="5623560" y="3538728"/>
            <a:ext cx="3108960" cy="502920"/>
          </a:xfrm>
          <a:prstGeom prst="rect">
            <a:avLst/>
          </a:prstGeom>
          <a:noFill/>
          <a:ln/>
        </p:spPr>
        <p:txBody>
          <a:bodyPr wrap="square" lIns="0" tIns="0" rIns="0" bIns="0" rtlCol="0" anchor="ctr"/>
          <a:lstStyle/>
          <a:p>
            <a:pPr indent="0" marL="0">
              <a:buNone/>
            </a:pPr>
            <a:r>
              <a:rPr lang="en-US" sz="1300" b="1" dirty="0">
                <a:solidFill>
                  <a:srgbClr val="0B1F3A"/>
                </a:solidFill>
                <a:latin typeface="Calibri" pitchFamily="34" charset="0"/>
                <a:ea typeface="Calibri" pitchFamily="34" charset="-122"/>
                <a:cs typeface="Calibri" pitchFamily="34" charset="-120"/>
              </a:rPr>
              <a:t>Suspicious link</a:t>
            </a:r>
            <a:endParaRPr lang="en-US" sz="1300" dirty="0"/>
          </a:p>
          <a:p>
            <a:pPr indent="0" marL="0">
              <a:buNone/>
            </a:pPr>
            <a:r>
              <a:rPr lang="en-US" sz="1100" dirty="0">
                <a:solidFill>
                  <a:srgbClr val="1F2937"/>
                </a:solidFill>
                <a:latin typeface="Calibri" pitchFamily="34" charset="0"/>
                <a:ea typeface="Calibri" pitchFamily="34" charset="-122"/>
                <a:cs typeface="Calibri" pitchFamily="34" charset="-120"/>
              </a:rPr>
              <a:t>Hover first to see the real URL</a:t>
            </a:r>
            <a:endParaRPr lang="en-US" sz="1300" dirty="0"/>
          </a:p>
        </p:txBody>
      </p:sp>
      <p:sp>
        <p:nvSpPr>
          <p:cNvPr id="27" name="Shape 25"/>
          <p:cNvSpPr/>
          <p:nvPr/>
        </p:nvSpPr>
        <p:spPr>
          <a:xfrm>
            <a:off x="5120640" y="4169664"/>
            <a:ext cx="365760" cy="365760"/>
          </a:xfrm>
          <a:prstGeom prst="ellipse">
            <a:avLst/>
          </a:prstGeom>
          <a:solidFill>
            <a:srgbClr val="EF4444"/>
          </a:solidFill>
          <a:ln w="12700">
            <a:solidFill>
              <a:srgbClr val="EF4444"/>
            </a:solidFill>
            <a:prstDash val="solid"/>
          </a:ln>
        </p:spPr>
      </p:sp>
      <p:sp>
        <p:nvSpPr>
          <p:cNvPr id="28" name="Text 26"/>
          <p:cNvSpPr txBox="1"/>
          <p:nvPr/>
        </p:nvSpPr>
        <p:spPr>
          <a:xfrm>
            <a:off x="5120640" y="4169664"/>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29" name="Text 27"/>
          <p:cNvSpPr txBox="1"/>
          <p:nvPr/>
        </p:nvSpPr>
        <p:spPr>
          <a:xfrm>
            <a:off x="5623560" y="4114800"/>
            <a:ext cx="3108960" cy="502920"/>
          </a:xfrm>
          <a:prstGeom prst="rect">
            <a:avLst/>
          </a:prstGeom>
          <a:noFill/>
          <a:ln/>
        </p:spPr>
        <p:txBody>
          <a:bodyPr wrap="square" lIns="0" tIns="0" rIns="0" bIns="0" rtlCol="0" anchor="ctr"/>
          <a:lstStyle/>
          <a:p>
            <a:pPr indent="0" marL="0">
              <a:buNone/>
            </a:pPr>
            <a:r>
              <a:rPr lang="en-US" sz="1300" b="1" dirty="0">
                <a:solidFill>
                  <a:srgbClr val="0B1F3A"/>
                </a:solidFill>
                <a:latin typeface="Calibri" pitchFamily="34" charset="0"/>
                <a:ea typeface="Calibri" pitchFamily="34" charset="-122"/>
                <a:cs typeface="Calibri" pitchFamily="34" charset="-120"/>
              </a:rPr>
              <a:t>Risky attachment</a:t>
            </a:r>
            <a:endParaRPr lang="en-US" sz="1300" dirty="0"/>
          </a:p>
          <a:p>
            <a:pPr indent="0" marL="0">
              <a:buNone/>
            </a:pPr>
            <a:r>
              <a:rPr lang="en-US" sz="1100" dirty="0">
                <a:solidFill>
                  <a:srgbClr val="1F2937"/>
                </a:solidFill>
                <a:latin typeface="Calibri" pitchFamily="34" charset="0"/>
                <a:ea typeface="Calibri" pitchFamily="34" charset="-122"/>
                <a:cs typeface="Calibri" pitchFamily="34" charset="-120"/>
              </a:rPr>
              <a:t>Unexpected .zip, .exe or macro files</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14B8A6"/>
          </a:solidFill>
          <a:ln w="12700">
            <a:solidFill>
              <a:srgbClr val="14B8A6"/>
            </a:solidFill>
            <a:prstDash val="solid"/>
          </a:ln>
        </p:spPr>
      </p:sp>
      <p:sp>
        <p:nvSpPr>
          <p:cNvPr id="3" name="Text 1"/>
          <p:cNvSpPr txBox="1"/>
          <p:nvPr/>
        </p:nvSpPr>
        <p:spPr>
          <a:xfrm>
            <a:off x="457200" y="256032"/>
            <a:ext cx="5486400" cy="228600"/>
          </a:xfrm>
          <a:prstGeom prst="rect">
            <a:avLst/>
          </a:prstGeom>
          <a:noFill/>
          <a:ln/>
        </p:spPr>
        <p:txBody>
          <a:bodyPr wrap="square" lIns="0" tIns="0" rIns="0" bIns="0" rtlCol="0" anchor="ctr"/>
          <a:lstStyle/>
          <a:p>
            <a:pPr indent="0" marL="0">
              <a:buNone/>
            </a:pPr>
            <a:r>
              <a:rPr lang="en-US" sz="1100" b="1" spc="300" kern="0" dirty="0">
                <a:solidFill>
                  <a:srgbClr val="14B8A6"/>
                </a:solidFill>
                <a:latin typeface="Calibri" pitchFamily="34" charset="0"/>
                <a:ea typeface="Calibri" pitchFamily="34" charset="-122"/>
                <a:cs typeface="Calibri" pitchFamily="34" charset="-120"/>
              </a:rPr>
              <a:t>RECOGNIZE IT</a:t>
            </a:r>
            <a:endParaRPr lang="en-US" sz="1100" dirty="0"/>
          </a:p>
        </p:txBody>
      </p:sp>
      <p:sp>
        <p:nvSpPr>
          <p:cNvPr id="4" name="Text 2"/>
          <p:cNvSpPr txBox="1"/>
          <p:nvPr/>
        </p:nvSpPr>
        <p:spPr>
          <a:xfrm>
            <a:off x="457200" y="475488"/>
            <a:ext cx="8229600" cy="548640"/>
          </a:xfrm>
          <a:prstGeom prst="rect">
            <a:avLst/>
          </a:prstGeom>
          <a:noFill/>
          <a:ln/>
        </p:spPr>
        <p:txBody>
          <a:bodyPr wrap="square" lIns="0" tIns="0" rIns="0" bIns="0" rtlCol="0" anchor="ctr"/>
          <a:lstStyle/>
          <a:p>
            <a:pPr indent="0" marL="0">
              <a:buNone/>
            </a:pPr>
            <a:r>
              <a:rPr lang="en-US" sz="2800" b="1" dirty="0">
                <a:solidFill>
                  <a:srgbClr val="0B1F3A"/>
                </a:solidFill>
                <a:latin typeface="Calibri" pitchFamily="34" charset="0"/>
                <a:ea typeface="Calibri" pitchFamily="34" charset="-122"/>
                <a:cs typeface="Calibri" pitchFamily="34" charset="-120"/>
              </a:rPr>
              <a:t>Spotting fake websites</a:t>
            </a:r>
            <a:endParaRPr lang="en-US" sz="2800" dirty="0"/>
          </a:p>
        </p:txBody>
      </p:sp>
      <p:sp>
        <p:nvSpPr>
          <p:cNvPr id="5" name="Shape 3"/>
          <p:cNvSpPr/>
          <p:nvPr/>
        </p:nvSpPr>
        <p:spPr>
          <a:xfrm>
            <a:off x="457200" y="4800600"/>
            <a:ext cx="8229600" cy="0"/>
          </a:xfrm>
          <a:prstGeom prst="line">
            <a:avLst/>
          </a:prstGeom>
          <a:noFill/>
          <a:ln w="9525">
            <a:solidFill>
              <a:srgbClr val="D1D5DB"/>
            </a:solidFill>
            <a:prstDash val="solid"/>
          </a:ln>
        </p:spPr>
      </p:sp>
      <p:sp>
        <p:nvSpPr>
          <p:cNvPr id="6" name="Text 4"/>
          <p:cNvSpPr txBox="1"/>
          <p:nvPr/>
        </p:nvSpPr>
        <p:spPr>
          <a:xfrm>
            <a:off x="457200" y="4846320"/>
            <a:ext cx="5486400" cy="22860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CodeAlpha  |  Phishing Awareness Training</a:t>
            </a:r>
            <a:endParaRPr lang="en-US" sz="1000" dirty="0"/>
          </a:p>
        </p:txBody>
      </p:sp>
      <p:sp>
        <p:nvSpPr>
          <p:cNvPr id="7" name="Text 5"/>
          <p:cNvSpPr txBox="1"/>
          <p:nvPr/>
        </p:nvSpPr>
        <p:spPr>
          <a:xfrm>
            <a:off x="8229600" y="4846320"/>
            <a:ext cx="457200" cy="22860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7</a:t>
            </a:r>
            <a:endParaRPr lang="en-US" sz="1000" dirty="0"/>
          </a:p>
        </p:txBody>
      </p:sp>
      <p:sp>
        <p:nvSpPr>
          <p:cNvPr id="8" name="Text 6"/>
          <p:cNvSpPr txBox="1"/>
          <p:nvPr/>
        </p:nvSpPr>
        <p:spPr>
          <a:xfrm>
            <a:off x="457200" y="1188720"/>
            <a:ext cx="4572000" cy="274320"/>
          </a:xfrm>
          <a:prstGeom prst="rect">
            <a:avLst/>
          </a:prstGeom>
          <a:noFill/>
          <a:ln/>
        </p:spPr>
        <p:txBody>
          <a:bodyPr wrap="square" lIns="0" tIns="0" rIns="0" bIns="0" rtlCol="0" anchor="ctr"/>
          <a:lstStyle/>
          <a:p>
            <a:pPr indent="0" marL="0">
              <a:buNone/>
            </a:pPr>
            <a:r>
              <a:rPr lang="en-US" sz="1500" b="1" dirty="0">
                <a:solidFill>
                  <a:srgbClr val="0B1F3A"/>
                </a:solidFill>
                <a:latin typeface="Calibri" pitchFamily="34" charset="0"/>
                <a:ea typeface="Calibri" pitchFamily="34" charset="-122"/>
                <a:cs typeface="Calibri" pitchFamily="34" charset="-120"/>
              </a:rPr>
              <a:t>Real vs fake web addresses</a:t>
            </a:r>
            <a:endParaRPr lang="en-US" sz="1500" dirty="0"/>
          </a:p>
        </p:txBody>
      </p:sp>
      <p:sp>
        <p:nvSpPr>
          <p:cNvPr id="9" name="Shape 7"/>
          <p:cNvSpPr/>
          <p:nvPr/>
        </p:nvSpPr>
        <p:spPr>
          <a:xfrm>
            <a:off x="457200" y="1600200"/>
            <a:ext cx="4663440" cy="475488"/>
          </a:xfrm>
          <a:prstGeom prst="rect">
            <a:avLst/>
          </a:prstGeom>
          <a:solidFill>
            <a:srgbClr val="FFFFFF"/>
          </a:solidFill>
          <a:ln w="19050">
            <a:solidFill>
              <a:srgbClr val="14B8A6"/>
            </a:solidFill>
            <a:prstDash val="solid"/>
          </a:ln>
        </p:spPr>
      </p:sp>
      <p:sp>
        <p:nvSpPr>
          <p:cNvPr id="10" name="Text 8"/>
          <p:cNvSpPr txBox="1"/>
          <p:nvPr/>
        </p:nvSpPr>
        <p:spPr>
          <a:xfrm>
            <a:off x="594360" y="1600200"/>
            <a:ext cx="4480560" cy="475488"/>
          </a:xfrm>
          <a:prstGeom prst="rect">
            <a:avLst/>
          </a:prstGeom>
          <a:noFill/>
          <a:ln/>
        </p:spPr>
        <p:txBody>
          <a:bodyPr wrap="square" lIns="0" tIns="0" rIns="0" bIns="0" rtlCol="0" anchor="ctr"/>
          <a:lstStyle/>
          <a:p>
            <a:pPr indent="0" marL="0">
              <a:buNone/>
            </a:pPr>
            <a:r>
              <a:rPr lang="en-US" sz="1100" dirty="0">
                <a:solidFill>
                  <a:srgbClr val="0F766E"/>
                </a:solidFill>
                <a:latin typeface="Consolas" pitchFamily="34" charset="0"/>
                <a:ea typeface="Consolas" pitchFamily="34" charset="-122"/>
                <a:cs typeface="Consolas" pitchFamily="34" charset="-120"/>
              </a:rPr>
              <a:t>REAL  https://www.paypal.com</a:t>
            </a:r>
            <a:endParaRPr lang="en-US" sz="1100" dirty="0"/>
          </a:p>
        </p:txBody>
      </p:sp>
      <p:sp>
        <p:nvSpPr>
          <p:cNvPr id="11" name="Text 9"/>
          <p:cNvSpPr txBox="1"/>
          <p:nvPr/>
        </p:nvSpPr>
        <p:spPr>
          <a:xfrm>
            <a:off x="457200" y="2093976"/>
            <a:ext cx="4663440" cy="201168"/>
          </a:xfrm>
          <a:prstGeom prst="rect">
            <a:avLst/>
          </a:prstGeom>
          <a:noFill/>
          <a:ln/>
        </p:spPr>
        <p:txBody>
          <a:bodyPr wrap="square" lIns="0" tIns="0" rIns="0" bIns="0" rtlCol="0" anchor="ctr"/>
          <a:lstStyle/>
          <a:p>
            <a:pPr indent="0" marL="0">
              <a:buNone/>
            </a:pPr>
            <a:r>
              <a:rPr lang="en-US" sz="1050" i="1" dirty="0">
                <a:solidFill>
                  <a:srgbClr val="6B7280"/>
                </a:solidFill>
                <a:latin typeface="Calibri" pitchFamily="34" charset="0"/>
                <a:ea typeface="Calibri" pitchFamily="34" charset="-122"/>
                <a:cs typeface="Calibri" pitchFamily="34" charset="-120"/>
              </a:rPr>
              <a:t>Correct domain</a:t>
            </a:r>
            <a:endParaRPr lang="en-US" sz="1050" dirty="0"/>
          </a:p>
        </p:txBody>
      </p:sp>
      <p:sp>
        <p:nvSpPr>
          <p:cNvPr id="12" name="Shape 10"/>
          <p:cNvSpPr/>
          <p:nvPr/>
        </p:nvSpPr>
        <p:spPr>
          <a:xfrm>
            <a:off x="457200" y="2313432"/>
            <a:ext cx="4663440" cy="475488"/>
          </a:xfrm>
          <a:prstGeom prst="rect">
            <a:avLst/>
          </a:prstGeom>
          <a:solidFill>
            <a:srgbClr val="FFFFFF"/>
          </a:solidFill>
          <a:ln w="19050">
            <a:solidFill>
              <a:srgbClr val="EF4444"/>
            </a:solidFill>
            <a:prstDash val="solid"/>
          </a:ln>
        </p:spPr>
      </p:sp>
      <p:sp>
        <p:nvSpPr>
          <p:cNvPr id="13" name="Text 11"/>
          <p:cNvSpPr txBox="1"/>
          <p:nvPr/>
        </p:nvSpPr>
        <p:spPr>
          <a:xfrm>
            <a:off x="594360" y="2313432"/>
            <a:ext cx="4480560" cy="475488"/>
          </a:xfrm>
          <a:prstGeom prst="rect">
            <a:avLst/>
          </a:prstGeom>
          <a:noFill/>
          <a:ln/>
        </p:spPr>
        <p:txBody>
          <a:bodyPr wrap="square" lIns="0" tIns="0" rIns="0" bIns="0" rtlCol="0" anchor="ctr"/>
          <a:lstStyle/>
          <a:p>
            <a:pPr indent="0" marL="0">
              <a:buNone/>
            </a:pPr>
            <a:r>
              <a:rPr lang="en-US" sz="1100" dirty="0">
                <a:solidFill>
                  <a:srgbClr val="EF4444"/>
                </a:solidFill>
                <a:latin typeface="Consolas" pitchFamily="34" charset="0"/>
                <a:ea typeface="Consolas" pitchFamily="34" charset="-122"/>
                <a:cs typeface="Consolas" pitchFamily="34" charset="-120"/>
              </a:rPr>
              <a:t>FAKE  https://paypa1.com</a:t>
            </a:r>
            <a:endParaRPr lang="en-US" sz="1100" dirty="0"/>
          </a:p>
        </p:txBody>
      </p:sp>
      <p:sp>
        <p:nvSpPr>
          <p:cNvPr id="14" name="Text 12"/>
          <p:cNvSpPr txBox="1"/>
          <p:nvPr/>
        </p:nvSpPr>
        <p:spPr>
          <a:xfrm>
            <a:off x="457200" y="2807208"/>
            <a:ext cx="4663440" cy="201168"/>
          </a:xfrm>
          <a:prstGeom prst="rect">
            <a:avLst/>
          </a:prstGeom>
          <a:noFill/>
          <a:ln/>
        </p:spPr>
        <p:txBody>
          <a:bodyPr wrap="square" lIns="0" tIns="0" rIns="0" bIns="0" rtlCol="0" anchor="ctr"/>
          <a:lstStyle/>
          <a:p>
            <a:pPr indent="0" marL="0">
              <a:buNone/>
            </a:pPr>
            <a:r>
              <a:rPr lang="en-US" sz="1050" i="1" dirty="0">
                <a:solidFill>
                  <a:srgbClr val="6B7280"/>
                </a:solidFill>
                <a:latin typeface="Calibri" pitchFamily="34" charset="0"/>
                <a:ea typeface="Calibri" pitchFamily="34" charset="-122"/>
                <a:cs typeface="Calibri" pitchFamily="34" charset="-120"/>
              </a:rPr>
              <a:t>Number 1 replaces l</a:t>
            </a:r>
            <a:endParaRPr lang="en-US" sz="1050" dirty="0"/>
          </a:p>
        </p:txBody>
      </p:sp>
      <p:sp>
        <p:nvSpPr>
          <p:cNvPr id="15" name="Shape 13"/>
          <p:cNvSpPr/>
          <p:nvPr/>
        </p:nvSpPr>
        <p:spPr>
          <a:xfrm>
            <a:off x="457200" y="3026664"/>
            <a:ext cx="4663440" cy="475488"/>
          </a:xfrm>
          <a:prstGeom prst="rect">
            <a:avLst/>
          </a:prstGeom>
          <a:solidFill>
            <a:srgbClr val="FFFFFF"/>
          </a:solidFill>
          <a:ln w="19050">
            <a:solidFill>
              <a:srgbClr val="EF4444"/>
            </a:solidFill>
            <a:prstDash val="solid"/>
          </a:ln>
        </p:spPr>
      </p:sp>
      <p:sp>
        <p:nvSpPr>
          <p:cNvPr id="16" name="Text 14"/>
          <p:cNvSpPr txBox="1"/>
          <p:nvPr/>
        </p:nvSpPr>
        <p:spPr>
          <a:xfrm>
            <a:off x="594360" y="3026664"/>
            <a:ext cx="4480560" cy="475488"/>
          </a:xfrm>
          <a:prstGeom prst="rect">
            <a:avLst/>
          </a:prstGeom>
          <a:noFill/>
          <a:ln/>
        </p:spPr>
        <p:txBody>
          <a:bodyPr wrap="square" lIns="0" tIns="0" rIns="0" bIns="0" rtlCol="0" anchor="ctr"/>
          <a:lstStyle/>
          <a:p>
            <a:pPr indent="0" marL="0">
              <a:buNone/>
            </a:pPr>
            <a:r>
              <a:rPr lang="en-US" sz="1100" dirty="0">
                <a:solidFill>
                  <a:srgbClr val="EF4444"/>
                </a:solidFill>
                <a:latin typeface="Consolas" pitchFamily="34" charset="0"/>
                <a:ea typeface="Consolas" pitchFamily="34" charset="-122"/>
                <a:cs typeface="Consolas" pitchFamily="34" charset="-120"/>
              </a:rPr>
              <a:t>FAKE  https://paypal.com.secure-login.xyz</a:t>
            </a:r>
            <a:endParaRPr lang="en-US" sz="1100" dirty="0"/>
          </a:p>
        </p:txBody>
      </p:sp>
      <p:sp>
        <p:nvSpPr>
          <p:cNvPr id="17" name="Text 15"/>
          <p:cNvSpPr txBox="1"/>
          <p:nvPr/>
        </p:nvSpPr>
        <p:spPr>
          <a:xfrm>
            <a:off x="457200" y="3520440"/>
            <a:ext cx="4663440" cy="201168"/>
          </a:xfrm>
          <a:prstGeom prst="rect">
            <a:avLst/>
          </a:prstGeom>
          <a:noFill/>
          <a:ln/>
        </p:spPr>
        <p:txBody>
          <a:bodyPr wrap="square" lIns="0" tIns="0" rIns="0" bIns="0" rtlCol="0" anchor="ctr"/>
          <a:lstStyle/>
          <a:p>
            <a:pPr indent="0" marL="0">
              <a:buNone/>
            </a:pPr>
            <a:r>
              <a:rPr lang="en-US" sz="1050" i="1" dirty="0">
                <a:solidFill>
                  <a:srgbClr val="6B7280"/>
                </a:solidFill>
                <a:latin typeface="Calibri" pitchFamily="34" charset="0"/>
                <a:ea typeface="Calibri" pitchFamily="34" charset="-122"/>
                <a:cs typeface="Calibri" pitchFamily="34" charset="-120"/>
              </a:rPr>
              <a:t>Real domain is secure-login.xyz</a:t>
            </a:r>
            <a:endParaRPr lang="en-US" sz="1050" dirty="0"/>
          </a:p>
        </p:txBody>
      </p:sp>
      <p:sp>
        <p:nvSpPr>
          <p:cNvPr id="18" name="Shape 16"/>
          <p:cNvSpPr/>
          <p:nvPr/>
        </p:nvSpPr>
        <p:spPr>
          <a:xfrm>
            <a:off x="457200" y="3739896"/>
            <a:ext cx="4663440" cy="475488"/>
          </a:xfrm>
          <a:prstGeom prst="rect">
            <a:avLst/>
          </a:prstGeom>
          <a:solidFill>
            <a:srgbClr val="FFFFFF"/>
          </a:solidFill>
          <a:ln w="19050">
            <a:solidFill>
              <a:srgbClr val="EF4444"/>
            </a:solidFill>
            <a:prstDash val="solid"/>
          </a:ln>
        </p:spPr>
      </p:sp>
      <p:sp>
        <p:nvSpPr>
          <p:cNvPr id="19" name="Text 17"/>
          <p:cNvSpPr txBox="1"/>
          <p:nvPr/>
        </p:nvSpPr>
        <p:spPr>
          <a:xfrm>
            <a:off x="594360" y="3739896"/>
            <a:ext cx="4480560" cy="475488"/>
          </a:xfrm>
          <a:prstGeom prst="rect">
            <a:avLst/>
          </a:prstGeom>
          <a:noFill/>
          <a:ln/>
        </p:spPr>
        <p:txBody>
          <a:bodyPr wrap="square" lIns="0" tIns="0" rIns="0" bIns="0" rtlCol="0" anchor="ctr"/>
          <a:lstStyle/>
          <a:p>
            <a:pPr indent="0" marL="0">
              <a:buNone/>
            </a:pPr>
            <a:r>
              <a:rPr lang="en-US" sz="1100" dirty="0">
                <a:solidFill>
                  <a:srgbClr val="EF4444"/>
                </a:solidFill>
                <a:latin typeface="Consolas" pitchFamily="34" charset="0"/>
                <a:ea typeface="Consolas" pitchFamily="34" charset="-122"/>
                <a:cs typeface="Consolas" pitchFamily="34" charset="-120"/>
              </a:rPr>
              <a:t>FAKE  http://paypal-verify-account.net</a:t>
            </a:r>
            <a:endParaRPr lang="en-US" sz="1100" dirty="0"/>
          </a:p>
        </p:txBody>
      </p:sp>
      <p:sp>
        <p:nvSpPr>
          <p:cNvPr id="20" name="Text 18"/>
          <p:cNvSpPr txBox="1"/>
          <p:nvPr/>
        </p:nvSpPr>
        <p:spPr>
          <a:xfrm>
            <a:off x="457200" y="4233672"/>
            <a:ext cx="4663440" cy="201168"/>
          </a:xfrm>
          <a:prstGeom prst="rect">
            <a:avLst/>
          </a:prstGeom>
          <a:noFill/>
          <a:ln/>
        </p:spPr>
        <p:txBody>
          <a:bodyPr wrap="square" lIns="0" tIns="0" rIns="0" bIns="0" rtlCol="0" anchor="ctr"/>
          <a:lstStyle/>
          <a:p>
            <a:pPr indent="0" marL="0">
              <a:buNone/>
            </a:pPr>
            <a:r>
              <a:rPr lang="en-US" sz="1050" i="1" dirty="0">
                <a:solidFill>
                  <a:srgbClr val="6B7280"/>
                </a:solidFill>
                <a:latin typeface="Calibri" pitchFamily="34" charset="0"/>
                <a:ea typeface="Calibri" pitchFamily="34" charset="-122"/>
                <a:cs typeface="Calibri" pitchFamily="34" charset="-120"/>
              </a:rPr>
              <a:t>Extra words, no HTTPS</a:t>
            </a:r>
            <a:endParaRPr lang="en-US" sz="1050" dirty="0"/>
          </a:p>
        </p:txBody>
      </p:sp>
      <p:sp>
        <p:nvSpPr>
          <p:cNvPr id="21" name="Shape 19"/>
          <p:cNvSpPr/>
          <p:nvPr/>
        </p:nvSpPr>
        <p:spPr>
          <a:xfrm>
            <a:off x="5394960" y="1234440"/>
            <a:ext cx="3291840" cy="3383280"/>
          </a:xfrm>
          <a:prstGeom prst="rect">
            <a:avLst/>
          </a:prstGeom>
          <a:solidFill>
            <a:srgbClr val="FFFFFF"/>
          </a:solidFill>
          <a:ln w="9525">
            <a:solidFill>
              <a:srgbClr val="E5E7EB"/>
            </a:solidFill>
            <a:prstDash val="solid"/>
          </a:ln>
          <a:effectLst>
            <a:outerShdw sx="100000" sy="100000" kx="0" ky="0" algn="bl" rotWithShape="0" blurRad="76200" dist="25400" dir="5400000">
              <a:srgbClr val="000000">
                <a:alpha val="12000"/>
              </a:srgbClr>
            </a:outerShdw>
          </a:effectLst>
        </p:spPr>
      </p:sp>
      <p:sp>
        <p:nvSpPr>
          <p:cNvPr id="22" name="Shape 20"/>
          <p:cNvSpPr/>
          <p:nvPr/>
        </p:nvSpPr>
        <p:spPr>
          <a:xfrm>
            <a:off x="5394960" y="1234440"/>
            <a:ext cx="3291840" cy="64008"/>
          </a:xfrm>
          <a:prstGeom prst="rect">
            <a:avLst/>
          </a:prstGeom>
          <a:solidFill>
            <a:srgbClr val="F59E0B"/>
          </a:solidFill>
          <a:ln w="12700">
            <a:solidFill>
              <a:srgbClr val="F59E0B"/>
            </a:solidFill>
            <a:prstDash val="solid"/>
          </a:ln>
        </p:spPr>
      </p:sp>
      <p:sp>
        <p:nvSpPr>
          <p:cNvPr id="23" name="Text 21"/>
          <p:cNvSpPr txBox="1"/>
          <p:nvPr/>
        </p:nvSpPr>
        <p:spPr>
          <a:xfrm>
            <a:off x="5577840" y="1362456"/>
            <a:ext cx="2971800" cy="3200400"/>
          </a:xfrm>
          <a:prstGeom prst="rect">
            <a:avLst/>
          </a:prstGeom>
          <a:noFill/>
          <a:ln/>
        </p:spPr>
        <p:txBody>
          <a:bodyPr wrap="square" lIns="0" tIns="0" rIns="0" bIns="0" rtlCol="0" anchor="ctr"/>
          <a:lstStyle/>
          <a:p>
            <a:pPr indent="0" marL="0">
              <a:buNone/>
            </a:pPr>
            <a:r>
              <a:rPr lang="en-US" sz="1400" b="1" dirty="0">
                <a:solidFill>
                  <a:srgbClr val="0B1F3A"/>
                </a:solidFill>
                <a:latin typeface="Calibri" pitchFamily="34" charset="0"/>
                <a:ea typeface="Calibri" pitchFamily="34" charset="-122"/>
                <a:cs typeface="Calibri" pitchFamily="34" charset="-120"/>
              </a:rPr>
              <a:t>Website checklist</a:t>
            </a:r>
            <a:endParaRPr lang="en-US" sz="1400" dirty="0"/>
          </a:p>
          <a:p>
            <a:pPr indent="0" marL="0">
              <a:buNone/>
            </a:pPr>
            <a:r>
              <a:rPr lang="en-US" sz="1150" dirty="0">
                <a:solidFill>
                  <a:srgbClr val="1F2937"/>
                </a:solidFill>
                <a:latin typeface="Calibri" pitchFamily="34" charset="0"/>
                <a:ea typeface="Calibri" pitchFamily="34" charset="-122"/>
                <a:cs typeface="Calibri" pitchFamily="34" charset="-120"/>
              </a:rPr>
              <a:t>Read the domain letter by letter.</a:t>
            </a:r>
            <a:endParaRPr lang="en-US" sz="1400" dirty="0"/>
          </a:p>
          <a:p>
            <a:pPr indent="0" marL="0">
              <a:buNone/>
            </a:pPr>
            <a:r>
              <a:rPr lang="en-US" sz="1150" dirty="0">
                <a:solidFill>
                  <a:srgbClr val="1F2937"/>
                </a:solidFill>
                <a:latin typeface="Calibri" pitchFamily="34" charset="0"/>
                <a:ea typeface="Calibri" pitchFamily="34" charset="-122"/>
                <a:cs typeface="Calibri" pitchFamily="34" charset="-120"/>
              </a:rPr>
              <a:t>The real domain is the last two parts before the first single slash.</a:t>
            </a:r>
            <a:endParaRPr lang="en-US" sz="1400" dirty="0"/>
          </a:p>
          <a:p>
            <a:pPr indent="0" marL="0">
              <a:buNone/>
            </a:pPr>
            <a:r>
              <a:rPr lang="en-US" sz="1150" dirty="0">
                <a:solidFill>
                  <a:srgbClr val="1F2937"/>
                </a:solidFill>
                <a:latin typeface="Calibri" pitchFamily="34" charset="0"/>
                <a:ea typeface="Calibri" pitchFamily="34" charset="-122"/>
                <a:cs typeface="Calibri" pitchFamily="34" charset="-120"/>
              </a:rPr>
              <a:t>Be wary of pages asking for passwords or card details out of the blue.</a:t>
            </a:r>
            <a:endParaRPr lang="en-US" sz="1400" dirty="0"/>
          </a:p>
          <a:p>
            <a:pPr indent="0" marL="0">
              <a:buNone/>
            </a:pPr>
            <a:r>
              <a:rPr lang="en-US" sz="1150" dirty="0">
                <a:solidFill>
                  <a:srgbClr val="1F2937"/>
                </a:solidFill>
                <a:latin typeface="Calibri" pitchFamily="34" charset="0"/>
                <a:ea typeface="Calibri" pitchFamily="34" charset="-122"/>
                <a:cs typeface="Calibri" pitchFamily="34" charset="-120"/>
              </a:rPr>
              <a:t>A padlock only means the connection is encrypted. Phishing sites can have one too.</a:t>
            </a:r>
            <a:endParaRPr lang="en-US" sz="1400" dirty="0"/>
          </a:p>
          <a:p>
            <a:pPr indent="0" marL="0">
              <a:buNone/>
            </a:pPr>
            <a:r>
              <a:rPr lang="en-US" sz="1150" dirty="0">
                <a:solidFill>
                  <a:srgbClr val="1F2937"/>
                </a:solidFill>
                <a:latin typeface="Calibri" pitchFamily="34" charset="0"/>
                <a:ea typeface="Calibri" pitchFamily="34" charset="-122"/>
                <a:cs typeface="Calibri" pitchFamily="34" charset="-120"/>
              </a:rPr>
              <a:t>Type the address or use a bookmark.</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14B8A6"/>
          </a:solidFill>
          <a:ln w="12700">
            <a:solidFill>
              <a:srgbClr val="14B8A6"/>
            </a:solidFill>
            <a:prstDash val="solid"/>
          </a:ln>
        </p:spPr>
      </p:sp>
      <p:sp>
        <p:nvSpPr>
          <p:cNvPr id="3" name="Text 1"/>
          <p:cNvSpPr txBox="1"/>
          <p:nvPr/>
        </p:nvSpPr>
        <p:spPr>
          <a:xfrm>
            <a:off x="457200" y="256032"/>
            <a:ext cx="5486400" cy="228600"/>
          </a:xfrm>
          <a:prstGeom prst="rect">
            <a:avLst/>
          </a:prstGeom>
          <a:noFill/>
          <a:ln/>
        </p:spPr>
        <p:txBody>
          <a:bodyPr wrap="square" lIns="0" tIns="0" rIns="0" bIns="0" rtlCol="0" anchor="ctr"/>
          <a:lstStyle/>
          <a:p>
            <a:pPr indent="0" marL="0">
              <a:buNone/>
            </a:pPr>
            <a:r>
              <a:rPr lang="en-US" sz="1100" b="1" spc="300" kern="0" dirty="0">
                <a:solidFill>
                  <a:srgbClr val="14B8A6"/>
                </a:solidFill>
                <a:latin typeface="Calibri" pitchFamily="34" charset="0"/>
                <a:ea typeface="Calibri" pitchFamily="34" charset="-122"/>
                <a:cs typeface="Calibri" pitchFamily="34" charset="-120"/>
              </a:rPr>
              <a:t>RECOGNIZE IT</a:t>
            </a:r>
            <a:endParaRPr lang="en-US" sz="1100" dirty="0"/>
          </a:p>
        </p:txBody>
      </p:sp>
      <p:sp>
        <p:nvSpPr>
          <p:cNvPr id="4" name="Text 2"/>
          <p:cNvSpPr txBox="1"/>
          <p:nvPr/>
        </p:nvSpPr>
        <p:spPr>
          <a:xfrm>
            <a:off x="457200" y="475488"/>
            <a:ext cx="8229600" cy="548640"/>
          </a:xfrm>
          <a:prstGeom prst="rect">
            <a:avLst/>
          </a:prstGeom>
          <a:noFill/>
          <a:ln/>
        </p:spPr>
        <p:txBody>
          <a:bodyPr wrap="square" lIns="0" tIns="0" rIns="0" bIns="0" rtlCol="0" anchor="ctr"/>
          <a:lstStyle/>
          <a:p>
            <a:pPr indent="0" marL="0">
              <a:buNone/>
            </a:pPr>
            <a:r>
              <a:rPr lang="en-US" sz="2800" b="1" dirty="0">
                <a:solidFill>
                  <a:srgbClr val="0B1F3A"/>
                </a:solidFill>
                <a:latin typeface="Calibri" pitchFamily="34" charset="0"/>
                <a:ea typeface="Calibri" pitchFamily="34" charset="-122"/>
                <a:cs typeface="Calibri" pitchFamily="34" charset="-120"/>
              </a:rPr>
              <a:t>Smishing and vishing in the wild</a:t>
            </a:r>
            <a:endParaRPr lang="en-US" sz="2800" dirty="0"/>
          </a:p>
        </p:txBody>
      </p:sp>
      <p:sp>
        <p:nvSpPr>
          <p:cNvPr id="5" name="Shape 3"/>
          <p:cNvSpPr/>
          <p:nvPr/>
        </p:nvSpPr>
        <p:spPr>
          <a:xfrm>
            <a:off x="457200" y="4800600"/>
            <a:ext cx="8229600" cy="0"/>
          </a:xfrm>
          <a:prstGeom prst="line">
            <a:avLst/>
          </a:prstGeom>
          <a:noFill/>
          <a:ln w="9525">
            <a:solidFill>
              <a:srgbClr val="D1D5DB"/>
            </a:solidFill>
            <a:prstDash val="solid"/>
          </a:ln>
        </p:spPr>
      </p:sp>
      <p:sp>
        <p:nvSpPr>
          <p:cNvPr id="6" name="Text 4"/>
          <p:cNvSpPr txBox="1"/>
          <p:nvPr/>
        </p:nvSpPr>
        <p:spPr>
          <a:xfrm>
            <a:off x="457200" y="4846320"/>
            <a:ext cx="5486400" cy="22860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CodeAlpha  |  Phishing Awareness Training</a:t>
            </a:r>
            <a:endParaRPr lang="en-US" sz="1000" dirty="0"/>
          </a:p>
        </p:txBody>
      </p:sp>
      <p:sp>
        <p:nvSpPr>
          <p:cNvPr id="7" name="Text 5"/>
          <p:cNvSpPr txBox="1"/>
          <p:nvPr/>
        </p:nvSpPr>
        <p:spPr>
          <a:xfrm>
            <a:off x="8229600" y="4846320"/>
            <a:ext cx="457200" cy="22860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8</a:t>
            </a:r>
            <a:endParaRPr lang="en-US" sz="1000" dirty="0"/>
          </a:p>
        </p:txBody>
      </p:sp>
      <p:sp>
        <p:nvSpPr>
          <p:cNvPr id="8" name="Shape 6"/>
          <p:cNvSpPr/>
          <p:nvPr/>
        </p:nvSpPr>
        <p:spPr>
          <a:xfrm>
            <a:off x="457200" y="1234440"/>
            <a:ext cx="3931920" cy="3383280"/>
          </a:xfrm>
          <a:prstGeom prst="roundRect">
            <a:avLst>
              <a:gd name="adj" fmla="val 6757"/>
            </a:avLst>
          </a:prstGeom>
          <a:solidFill>
            <a:srgbClr val="E5E7EB"/>
          </a:solidFill>
          <a:ln w="12700">
            <a:solidFill>
              <a:srgbClr val="9CA3AF"/>
            </a:solidFill>
            <a:prstDash val="solid"/>
          </a:ln>
        </p:spPr>
      </p:sp>
      <p:sp>
        <p:nvSpPr>
          <p:cNvPr id="9" name="Text 7"/>
          <p:cNvSpPr txBox="1"/>
          <p:nvPr/>
        </p:nvSpPr>
        <p:spPr>
          <a:xfrm>
            <a:off x="640080" y="1371600"/>
            <a:ext cx="3566160" cy="274320"/>
          </a:xfrm>
          <a:prstGeom prst="rect">
            <a:avLst/>
          </a:prstGeom>
          <a:noFill/>
          <a:ln/>
        </p:spPr>
        <p:txBody>
          <a:bodyPr wrap="square" lIns="0" tIns="0" rIns="0" bIns="0" rtlCol="0" anchor="ctr"/>
          <a:lstStyle/>
          <a:p>
            <a:pPr indent="0" marL="0">
              <a:buNone/>
            </a:pPr>
            <a:r>
              <a:rPr lang="en-US" sz="1100" dirty="0">
                <a:solidFill>
                  <a:srgbClr val="6B7280"/>
                </a:solidFill>
                <a:latin typeface="Calibri" pitchFamily="34" charset="0"/>
                <a:ea typeface="Calibri" pitchFamily="34" charset="-122"/>
                <a:cs typeface="Calibri" pitchFamily="34" charset="-120"/>
              </a:rPr>
              <a:t>Text message  (unknown number)</a:t>
            </a:r>
            <a:endParaRPr lang="en-US" sz="1100" dirty="0"/>
          </a:p>
        </p:txBody>
      </p:sp>
      <p:sp>
        <p:nvSpPr>
          <p:cNvPr id="10" name="Shape 8"/>
          <p:cNvSpPr/>
          <p:nvPr/>
        </p:nvSpPr>
        <p:spPr>
          <a:xfrm>
            <a:off x="685800" y="1783080"/>
            <a:ext cx="3474720" cy="1463040"/>
          </a:xfrm>
          <a:prstGeom prst="roundRect">
            <a:avLst>
              <a:gd name="adj" fmla="val 9375"/>
            </a:avLst>
          </a:prstGeom>
          <a:solidFill>
            <a:srgbClr val="FFFFFF"/>
          </a:solidFill>
          <a:ln w="9525">
            <a:solidFill>
              <a:srgbClr val="D1D5DB"/>
            </a:solidFill>
            <a:prstDash val="solid"/>
          </a:ln>
        </p:spPr>
      </p:sp>
      <p:sp>
        <p:nvSpPr>
          <p:cNvPr id="11" name="Text 9"/>
          <p:cNvSpPr txBox="1"/>
          <p:nvPr/>
        </p:nvSpPr>
        <p:spPr>
          <a:xfrm>
            <a:off x="822960" y="1874520"/>
            <a:ext cx="3200400" cy="1280160"/>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DHL: Your parcel could not be delivered. Pay a 1.99 fee to reschedule: http://dhl-redelivery.top/pay</a:t>
            </a:r>
            <a:endParaRPr lang="en-US" sz="1300" dirty="0"/>
          </a:p>
        </p:txBody>
      </p:sp>
      <p:sp>
        <p:nvSpPr>
          <p:cNvPr id="12" name="Text 10"/>
          <p:cNvSpPr txBox="1"/>
          <p:nvPr/>
        </p:nvSpPr>
        <p:spPr>
          <a:xfrm>
            <a:off x="685800" y="3429000"/>
            <a:ext cx="3474720" cy="1005840"/>
          </a:xfrm>
          <a:prstGeom prst="rect">
            <a:avLst/>
          </a:prstGeom>
          <a:noFill/>
          <a:ln/>
        </p:spPr>
        <p:txBody>
          <a:bodyPr wrap="square" lIns="0" tIns="0" rIns="0" bIns="0" rtlCol="0" anchor="ctr"/>
          <a:lstStyle/>
          <a:p>
            <a:pPr indent="0" marL="0">
              <a:buNone/>
            </a:pPr>
            <a:r>
              <a:rPr lang="en-US" sz="1200" b="1" dirty="0">
                <a:solidFill>
                  <a:srgbClr val="EF4444"/>
                </a:solidFill>
                <a:latin typeface="Calibri" pitchFamily="34" charset="0"/>
                <a:ea typeface="Calibri" pitchFamily="34" charset="-122"/>
                <a:cs typeface="Calibri" pitchFamily="34" charset="-120"/>
              </a:rPr>
              <a:t>Red flags: unexpected delivery, small fee, odd domain (.top), no tracking number.</a:t>
            </a:r>
            <a:endParaRPr lang="en-US" sz="1200" dirty="0"/>
          </a:p>
        </p:txBody>
      </p:sp>
      <p:sp>
        <p:nvSpPr>
          <p:cNvPr id="13" name="Shape 11"/>
          <p:cNvSpPr/>
          <p:nvPr/>
        </p:nvSpPr>
        <p:spPr>
          <a:xfrm>
            <a:off x="4663440" y="1234440"/>
            <a:ext cx="4023360" cy="1600200"/>
          </a:xfrm>
          <a:prstGeom prst="rect">
            <a:avLst/>
          </a:prstGeom>
          <a:solidFill>
            <a:srgbClr val="FFFFFF"/>
          </a:solidFill>
          <a:ln w="9525">
            <a:solidFill>
              <a:srgbClr val="E5E7EB"/>
            </a:solidFill>
            <a:prstDash val="solid"/>
          </a:ln>
          <a:effectLst>
            <a:outerShdw sx="100000" sy="100000" kx="0" ky="0" algn="bl" rotWithShape="0" blurRad="76200" dist="25400" dir="5400000">
              <a:srgbClr val="000000">
                <a:alpha val="12000"/>
              </a:srgbClr>
            </a:outerShdw>
          </a:effectLst>
        </p:spPr>
      </p:sp>
      <p:sp>
        <p:nvSpPr>
          <p:cNvPr id="14" name="Shape 12"/>
          <p:cNvSpPr/>
          <p:nvPr/>
        </p:nvSpPr>
        <p:spPr>
          <a:xfrm>
            <a:off x="4663440" y="1234440"/>
            <a:ext cx="4023360" cy="64008"/>
          </a:xfrm>
          <a:prstGeom prst="rect">
            <a:avLst/>
          </a:prstGeom>
          <a:solidFill>
            <a:srgbClr val="EF4444"/>
          </a:solidFill>
          <a:ln w="12700">
            <a:solidFill>
              <a:srgbClr val="EF4444"/>
            </a:solidFill>
            <a:prstDash val="solid"/>
          </a:ln>
        </p:spPr>
      </p:sp>
      <p:sp>
        <p:nvSpPr>
          <p:cNvPr id="15" name="Text 13"/>
          <p:cNvSpPr txBox="1"/>
          <p:nvPr/>
        </p:nvSpPr>
        <p:spPr>
          <a:xfrm>
            <a:off x="4846320" y="1362456"/>
            <a:ext cx="3703320" cy="1417320"/>
          </a:xfrm>
          <a:prstGeom prst="rect">
            <a:avLst/>
          </a:prstGeom>
          <a:noFill/>
          <a:ln/>
        </p:spPr>
        <p:txBody>
          <a:bodyPr wrap="square" lIns="0" tIns="0" rIns="0" bIns="0" rtlCol="0" anchor="ctr"/>
          <a:lstStyle/>
          <a:p>
            <a:pPr indent="0" marL="0">
              <a:buNone/>
            </a:pPr>
            <a:r>
              <a:rPr lang="en-US" sz="1400" b="1" dirty="0">
                <a:solidFill>
                  <a:srgbClr val="0B1F3A"/>
                </a:solidFill>
                <a:latin typeface="Calibri" pitchFamily="34" charset="0"/>
                <a:ea typeface="Calibri" pitchFamily="34" charset="-122"/>
                <a:cs typeface="Calibri" pitchFamily="34" charset="-120"/>
              </a:rPr>
              <a:t>Vishing call script</a:t>
            </a:r>
            <a:endParaRPr lang="en-US" sz="1400" dirty="0"/>
          </a:p>
          <a:p>
            <a:pPr indent="0" marL="0">
              <a:buNone/>
            </a:pPr>
            <a:r>
              <a:rPr lang="en-US" sz="1150" dirty="0">
                <a:solidFill>
                  <a:srgbClr val="1F2937"/>
                </a:solidFill>
                <a:latin typeface="Calibri" pitchFamily="34" charset="0"/>
                <a:ea typeface="Calibri" pitchFamily="34" charset="-122"/>
                <a:cs typeface="Calibri" pitchFamily="34" charset="-120"/>
              </a:rPr>
              <a:t>Hello, this is your bank's fraud team. We detected a suspicious transfer. For your safety, read us the code we just sent to your phone.</a:t>
            </a:r>
            <a:endParaRPr lang="en-US" sz="1400" dirty="0"/>
          </a:p>
        </p:txBody>
      </p:sp>
      <p:sp>
        <p:nvSpPr>
          <p:cNvPr id="16" name="Shape 14"/>
          <p:cNvSpPr/>
          <p:nvPr/>
        </p:nvSpPr>
        <p:spPr>
          <a:xfrm>
            <a:off x="4663440" y="3017520"/>
            <a:ext cx="4023360" cy="1600200"/>
          </a:xfrm>
          <a:prstGeom prst="rect">
            <a:avLst/>
          </a:prstGeom>
          <a:solidFill>
            <a:srgbClr val="FFFFFF"/>
          </a:solidFill>
          <a:ln w="9525">
            <a:solidFill>
              <a:srgbClr val="E5E7EB"/>
            </a:solidFill>
            <a:prstDash val="solid"/>
          </a:ln>
          <a:effectLst>
            <a:outerShdw sx="100000" sy="100000" kx="0" ky="0" algn="bl" rotWithShape="0" blurRad="76200" dist="25400" dir="5400000">
              <a:srgbClr val="000000">
                <a:alpha val="12000"/>
              </a:srgbClr>
            </a:outerShdw>
          </a:effectLst>
        </p:spPr>
      </p:sp>
      <p:sp>
        <p:nvSpPr>
          <p:cNvPr id="17" name="Shape 15"/>
          <p:cNvSpPr/>
          <p:nvPr/>
        </p:nvSpPr>
        <p:spPr>
          <a:xfrm>
            <a:off x="4663440" y="3017520"/>
            <a:ext cx="4023360" cy="64008"/>
          </a:xfrm>
          <a:prstGeom prst="rect">
            <a:avLst/>
          </a:prstGeom>
          <a:solidFill>
            <a:srgbClr val="14B8A6"/>
          </a:solidFill>
          <a:ln w="12700">
            <a:solidFill>
              <a:srgbClr val="14B8A6"/>
            </a:solidFill>
            <a:prstDash val="solid"/>
          </a:ln>
        </p:spPr>
      </p:sp>
      <p:sp>
        <p:nvSpPr>
          <p:cNvPr id="18" name="Text 16"/>
          <p:cNvSpPr txBox="1"/>
          <p:nvPr/>
        </p:nvSpPr>
        <p:spPr>
          <a:xfrm>
            <a:off x="4846320" y="3145536"/>
            <a:ext cx="3703320" cy="1417320"/>
          </a:xfrm>
          <a:prstGeom prst="rect">
            <a:avLst/>
          </a:prstGeom>
          <a:noFill/>
          <a:ln/>
        </p:spPr>
        <p:txBody>
          <a:bodyPr wrap="square" lIns="0" tIns="0" rIns="0" bIns="0" rtlCol="0" anchor="ctr"/>
          <a:lstStyle/>
          <a:p>
            <a:pPr indent="0" marL="0">
              <a:buNone/>
            </a:pPr>
            <a:r>
              <a:rPr lang="en-US" sz="1400" b="1" dirty="0">
                <a:solidFill>
                  <a:srgbClr val="0B1F3A"/>
                </a:solidFill>
                <a:latin typeface="Calibri" pitchFamily="34" charset="0"/>
                <a:ea typeface="Calibri" pitchFamily="34" charset="-122"/>
                <a:cs typeface="Calibri" pitchFamily="34" charset="-120"/>
              </a:rPr>
              <a:t>What to do</a:t>
            </a:r>
            <a:endParaRPr lang="en-US" sz="1400" dirty="0"/>
          </a:p>
          <a:p>
            <a:pPr indent="0" marL="0">
              <a:buNone/>
            </a:pPr>
            <a:r>
              <a:rPr lang="en-US" sz="1150" dirty="0">
                <a:solidFill>
                  <a:srgbClr val="1F2937"/>
                </a:solidFill>
                <a:latin typeface="Calibri" pitchFamily="34" charset="0"/>
                <a:ea typeface="Calibri" pitchFamily="34" charset="-122"/>
                <a:cs typeface="Calibri" pitchFamily="34" charset="-120"/>
              </a:rPr>
              <a:t>Hang up. Call the number on your card or the official site. Real banks never ask for one-time codes or PINs.</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14B8A6"/>
          </a:solidFill>
          <a:ln w="12700">
            <a:solidFill>
              <a:srgbClr val="14B8A6"/>
            </a:solidFill>
            <a:prstDash val="solid"/>
          </a:ln>
        </p:spPr>
      </p:sp>
      <p:sp>
        <p:nvSpPr>
          <p:cNvPr id="3" name="Text 1"/>
          <p:cNvSpPr txBox="1"/>
          <p:nvPr/>
        </p:nvSpPr>
        <p:spPr>
          <a:xfrm>
            <a:off x="457200" y="256032"/>
            <a:ext cx="5486400" cy="228600"/>
          </a:xfrm>
          <a:prstGeom prst="rect">
            <a:avLst/>
          </a:prstGeom>
          <a:noFill/>
          <a:ln/>
        </p:spPr>
        <p:txBody>
          <a:bodyPr wrap="square" lIns="0" tIns="0" rIns="0" bIns="0" rtlCol="0" anchor="ctr"/>
          <a:lstStyle/>
          <a:p>
            <a:pPr indent="0" marL="0">
              <a:buNone/>
            </a:pPr>
            <a:r>
              <a:rPr lang="en-US" sz="1100" b="1" spc="300" kern="0" dirty="0">
                <a:solidFill>
                  <a:srgbClr val="14B8A6"/>
                </a:solidFill>
                <a:latin typeface="Calibri" pitchFamily="34" charset="0"/>
                <a:ea typeface="Calibri" pitchFamily="34" charset="-122"/>
                <a:cs typeface="Calibri" pitchFamily="34" charset="-120"/>
              </a:rPr>
              <a:t>SOCIAL ENGINEERING</a:t>
            </a:r>
            <a:endParaRPr lang="en-US" sz="1100" dirty="0"/>
          </a:p>
        </p:txBody>
      </p:sp>
      <p:sp>
        <p:nvSpPr>
          <p:cNvPr id="4" name="Text 2"/>
          <p:cNvSpPr txBox="1"/>
          <p:nvPr/>
        </p:nvSpPr>
        <p:spPr>
          <a:xfrm>
            <a:off x="457200" y="475488"/>
            <a:ext cx="8229600" cy="548640"/>
          </a:xfrm>
          <a:prstGeom prst="rect">
            <a:avLst/>
          </a:prstGeom>
          <a:noFill/>
          <a:ln/>
        </p:spPr>
        <p:txBody>
          <a:bodyPr wrap="square" lIns="0" tIns="0" rIns="0" bIns="0" rtlCol="0" anchor="ctr"/>
          <a:lstStyle/>
          <a:p>
            <a:pPr indent="0" marL="0">
              <a:buNone/>
            </a:pPr>
            <a:r>
              <a:rPr lang="en-US" sz="2800" b="1" dirty="0">
                <a:solidFill>
                  <a:srgbClr val="0B1F3A"/>
                </a:solidFill>
                <a:latin typeface="Calibri" pitchFamily="34" charset="0"/>
                <a:ea typeface="Calibri" pitchFamily="34" charset="-122"/>
                <a:cs typeface="Calibri" pitchFamily="34" charset="-120"/>
              </a:rPr>
              <a:t>Social engineering tactics</a:t>
            </a:r>
            <a:endParaRPr lang="en-US" sz="2800" dirty="0"/>
          </a:p>
        </p:txBody>
      </p:sp>
      <p:sp>
        <p:nvSpPr>
          <p:cNvPr id="5" name="Shape 3"/>
          <p:cNvSpPr/>
          <p:nvPr/>
        </p:nvSpPr>
        <p:spPr>
          <a:xfrm>
            <a:off x="457200" y="4800600"/>
            <a:ext cx="8229600" cy="0"/>
          </a:xfrm>
          <a:prstGeom prst="line">
            <a:avLst/>
          </a:prstGeom>
          <a:noFill/>
          <a:ln w="9525">
            <a:solidFill>
              <a:srgbClr val="D1D5DB"/>
            </a:solidFill>
            <a:prstDash val="solid"/>
          </a:ln>
        </p:spPr>
      </p:sp>
      <p:sp>
        <p:nvSpPr>
          <p:cNvPr id="6" name="Text 4"/>
          <p:cNvSpPr txBox="1"/>
          <p:nvPr/>
        </p:nvSpPr>
        <p:spPr>
          <a:xfrm>
            <a:off x="457200" y="4846320"/>
            <a:ext cx="5486400" cy="22860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CodeAlpha  |  Phishing Awareness Training</a:t>
            </a:r>
            <a:endParaRPr lang="en-US" sz="1000" dirty="0"/>
          </a:p>
        </p:txBody>
      </p:sp>
      <p:sp>
        <p:nvSpPr>
          <p:cNvPr id="7" name="Text 5"/>
          <p:cNvSpPr txBox="1"/>
          <p:nvPr/>
        </p:nvSpPr>
        <p:spPr>
          <a:xfrm>
            <a:off x="8229600" y="4846320"/>
            <a:ext cx="457200" cy="22860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9</a:t>
            </a:r>
            <a:endParaRPr lang="en-US" sz="1000" dirty="0"/>
          </a:p>
        </p:txBody>
      </p:sp>
      <p:sp>
        <p:nvSpPr>
          <p:cNvPr id="8" name="Shape 6"/>
          <p:cNvSpPr/>
          <p:nvPr/>
        </p:nvSpPr>
        <p:spPr>
          <a:xfrm>
            <a:off x="457200" y="1280160"/>
            <a:ext cx="2621280" cy="1417320"/>
          </a:xfrm>
          <a:prstGeom prst="rect">
            <a:avLst/>
          </a:prstGeom>
          <a:solidFill>
            <a:srgbClr val="FFFFFF"/>
          </a:solidFill>
          <a:ln w="9525">
            <a:solidFill>
              <a:srgbClr val="E5E7EB"/>
            </a:solidFill>
            <a:prstDash val="solid"/>
          </a:ln>
          <a:effectLst>
            <a:outerShdw sx="100000" sy="100000" kx="0" ky="0" algn="bl" rotWithShape="0" blurRad="76200" dist="25400" dir="5400000">
              <a:srgbClr val="000000">
                <a:alpha val="12000"/>
              </a:srgbClr>
            </a:outerShdw>
          </a:effectLst>
        </p:spPr>
      </p:sp>
      <p:sp>
        <p:nvSpPr>
          <p:cNvPr id="9" name="Shape 7"/>
          <p:cNvSpPr/>
          <p:nvPr/>
        </p:nvSpPr>
        <p:spPr>
          <a:xfrm>
            <a:off x="457200" y="1280160"/>
            <a:ext cx="2621280" cy="64008"/>
          </a:xfrm>
          <a:prstGeom prst="rect">
            <a:avLst/>
          </a:prstGeom>
          <a:solidFill>
            <a:srgbClr val="F59E0B"/>
          </a:solidFill>
          <a:ln w="12700">
            <a:solidFill>
              <a:srgbClr val="F59E0B"/>
            </a:solidFill>
            <a:prstDash val="solid"/>
          </a:ln>
        </p:spPr>
      </p:sp>
      <p:sp>
        <p:nvSpPr>
          <p:cNvPr id="10" name="Text 8"/>
          <p:cNvSpPr txBox="1"/>
          <p:nvPr/>
        </p:nvSpPr>
        <p:spPr>
          <a:xfrm>
            <a:off x="640080" y="1408176"/>
            <a:ext cx="2301240" cy="1234440"/>
          </a:xfrm>
          <a:prstGeom prst="rect">
            <a:avLst/>
          </a:prstGeom>
          <a:noFill/>
          <a:ln/>
        </p:spPr>
        <p:txBody>
          <a:bodyPr wrap="square" lIns="0" tIns="0" rIns="0" bIns="0" rtlCol="0" anchor="ctr"/>
          <a:lstStyle/>
          <a:p>
            <a:pPr indent="0" marL="0">
              <a:buNone/>
            </a:pPr>
            <a:r>
              <a:rPr lang="en-US" sz="1400" b="1" dirty="0">
                <a:solidFill>
                  <a:srgbClr val="0B1F3A"/>
                </a:solidFill>
                <a:latin typeface="Calibri" pitchFamily="34" charset="0"/>
                <a:ea typeface="Calibri" pitchFamily="34" charset="-122"/>
                <a:cs typeface="Calibri" pitchFamily="34" charset="-120"/>
              </a:rPr>
              <a:t>Urgency</a:t>
            </a:r>
            <a:endParaRPr lang="en-US" sz="1400" dirty="0"/>
          </a:p>
          <a:p>
            <a:pPr indent="0" marL="0">
              <a:buNone/>
            </a:pPr>
            <a:r>
              <a:rPr lang="en-US" sz="1150" dirty="0">
                <a:solidFill>
                  <a:srgbClr val="1F2937"/>
                </a:solidFill>
                <a:latin typeface="Calibri" pitchFamily="34" charset="0"/>
                <a:ea typeface="Calibri" pitchFamily="34" charset="-122"/>
                <a:cs typeface="Calibri" pitchFamily="34" charset="-120"/>
              </a:rPr>
              <a:t>Act now or lose access</a:t>
            </a:r>
            <a:endParaRPr lang="en-US" sz="1400" dirty="0"/>
          </a:p>
        </p:txBody>
      </p:sp>
      <p:sp>
        <p:nvSpPr>
          <p:cNvPr id="11" name="Shape 9"/>
          <p:cNvSpPr/>
          <p:nvPr/>
        </p:nvSpPr>
        <p:spPr>
          <a:xfrm>
            <a:off x="3261360" y="1280160"/>
            <a:ext cx="2621280" cy="1417320"/>
          </a:xfrm>
          <a:prstGeom prst="rect">
            <a:avLst/>
          </a:prstGeom>
          <a:solidFill>
            <a:srgbClr val="FFFFFF"/>
          </a:solidFill>
          <a:ln w="9525">
            <a:solidFill>
              <a:srgbClr val="E5E7EB"/>
            </a:solidFill>
            <a:prstDash val="solid"/>
          </a:ln>
          <a:effectLst>
            <a:outerShdw sx="100000" sy="100000" kx="0" ky="0" algn="bl" rotWithShape="0" blurRad="76200" dist="25400" dir="5400000">
              <a:srgbClr val="000000">
                <a:alpha val="12000"/>
              </a:srgbClr>
            </a:outerShdw>
          </a:effectLst>
        </p:spPr>
      </p:sp>
      <p:sp>
        <p:nvSpPr>
          <p:cNvPr id="12" name="Shape 10"/>
          <p:cNvSpPr/>
          <p:nvPr/>
        </p:nvSpPr>
        <p:spPr>
          <a:xfrm>
            <a:off x="3261360" y="1280160"/>
            <a:ext cx="2621280" cy="64008"/>
          </a:xfrm>
          <a:prstGeom prst="rect">
            <a:avLst/>
          </a:prstGeom>
          <a:solidFill>
            <a:srgbClr val="F59E0B"/>
          </a:solidFill>
          <a:ln w="12700">
            <a:solidFill>
              <a:srgbClr val="F59E0B"/>
            </a:solidFill>
            <a:prstDash val="solid"/>
          </a:ln>
        </p:spPr>
      </p:sp>
      <p:sp>
        <p:nvSpPr>
          <p:cNvPr id="13" name="Text 11"/>
          <p:cNvSpPr txBox="1"/>
          <p:nvPr/>
        </p:nvSpPr>
        <p:spPr>
          <a:xfrm>
            <a:off x="3444240" y="1408176"/>
            <a:ext cx="2301240" cy="1234440"/>
          </a:xfrm>
          <a:prstGeom prst="rect">
            <a:avLst/>
          </a:prstGeom>
          <a:noFill/>
          <a:ln/>
        </p:spPr>
        <p:txBody>
          <a:bodyPr wrap="square" lIns="0" tIns="0" rIns="0" bIns="0" rtlCol="0" anchor="ctr"/>
          <a:lstStyle/>
          <a:p>
            <a:pPr indent="0" marL="0">
              <a:buNone/>
            </a:pPr>
            <a:r>
              <a:rPr lang="en-US" sz="1400" b="1" dirty="0">
                <a:solidFill>
                  <a:srgbClr val="0B1F3A"/>
                </a:solidFill>
                <a:latin typeface="Calibri" pitchFamily="34" charset="0"/>
                <a:ea typeface="Calibri" pitchFamily="34" charset="-122"/>
                <a:cs typeface="Calibri" pitchFamily="34" charset="-120"/>
              </a:rPr>
              <a:t>Fear</a:t>
            </a:r>
            <a:endParaRPr lang="en-US" sz="1400" dirty="0"/>
          </a:p>
          <a:p>
            <a:pPr indent="0" marL="0">
              <a:buNone/>
            </a:pPr>
            <a:r>
              <a:rPr lang="en-US" sz="1150" dirty="0">
                <a:solidFill>
                  <a:srgbClr val="1F2937"/>
                </a:solidFill>
                <a:latin typeface="Calibri" pitchFamily="34" charset="0"/>
                <a:ea typeface="Calibri" pitchFamily="34" charset="-122"/>
                <a:cs typeface="Calibri" pitchFamily="34" charset="-120"/>
              </a:rPr>
              <a:t>Threats of fines, arrest or closure</a:t>
            </a:r>
            <a:endParaRPr lang="en-US" sz="1400" dirty="0"/>
          </a:p>
        </p:txBody>
      </p:sp>
      <p:sp>
        <p:nvSpPr>
          <p:cNvPr id="14" name="Shape 12"/>
          <p:cNvSpPr/>
          <p:nvPr/>
        </p:nvSpPr>
        <p:spPr>
          <a:xfrm>
            <a:off x="6065520" y="1280160"/>
            <a:ext cx="2621280" cy="1417320"/>
          </a:xfrm>
          <a:prstGeom prst="rect">
            <a:avLst/>
          </a:prstGeom>
          <a:solidFill>
            <a:srgbClr val="FFFFFF"/>
          </a:solidFill>
          <a:ln w="9525">
            <a:solidFill>
              <a:srgbClr val="E5E7EB"/>
            </a:solidFill>
            <a:prstDash val="solid"/>
          </a:ln>
          <a:effectLst>
            <a:outerShdw sx="100000" sy="100000" kx="0" ky="0" algn="bl" rotWithShape="0" blurRad="76200" dist="25400" dir="5400000">
              <a:srgbClr val="000000">
                <a:alpha val="12000"/>
              </a:srgbClr>
            </a:outerShdw>
          </a:effectLst>
        </p:spPr>
      </p:sp>
      <p:sp>
        <p:nvSpPr>
          <p:cNvPr id="15" name="Shape 13"/>
          <p:cNvSpPr/>
          <p:nvPr/>
        </p:nvSpPr>
        <p:spPr>
          <a:xfrm>
            <a:off x="6065520" y="1280160"/>
            <a:ext cx="2621280" cy="64008"/>
          </a:xfrm>
          <a:prstGeom prst="rect">
            <a:avLst/>
          </a:prstGeom>
          <a:solidFill>
            <a:srgbClr val="F59E0B"/>
          </a:solidFill>
          <a:ln w="12700">
            <a:solidFill>
              <a:srgbClr val="F59E0B"/>
            </a:solidFill>
            <a:prstDash val="solid"/>
          </a:ln>
        </p:spPr>
      </p:sp>
      <p:sp>
        <p:nvSpPr>
          <p:cNvPr id="16" name="Text 14"/>
          <p:cNvSpPr txBox="1"/>
          <p:nvPr/>
        </p:nvSpPr>
        <p:spPr>
          <a:xfrm>
            <a:off x="6248400" y="1408176"/>
            <a:ext cx="2301240" cy="1234440"/>
          </a:xfrm>
          <a:prstGeom prst="rect">
            <a:avLst/>
          </a:prstGeom>
          <a:noFill/>
          <a:ln/>
        </p:spPr>
        <p:txBody>
          <a:bodyPr wrap="square" lIns="0" tIns="0" rIns="0" bIns="0" rtlCol="0" anchor="ctr"/>
          <a:lstStyle/>
          <a:p>
            <a:pPr indent="0" marL="0">
              <a:buNone/>
            </a:pPr>
            <a:r>
              <a:rPr lang="en-US" sz="1400" b="1" dirty="0">
                <a:solidFill>
                  <a:srgbClr val="0B1F3A"/>
                </a:solidFill>
                <a:latin typeface="Calibri" pitchFamily="34" charset="0"/>
                <a:ea typeface="Calibri" pitchFamily="34" charset="-122"/>
                <a:cs typeface="Calibri" pitchFamily="34" charset="-120"/>
              </a:rPr>
              <a:t>Authority</a:t>
            </a:r>
            <a:endParaRPr lang="en-US" sz="1400" dirty="0"/>
          </a:p>
          <a:p>
            <a:pPr indent="0" marL="0">
              <a:buNone/>
            </a:pPr>
            <a:r>
              <a:rPr lang="en-US" sz="1150" dirty="0">
                <a:solidFill>
                  <a:srgbClr val="1F2937"/>
                </a:solidFill>
                <a:latin typeface="Calibri" pitchFamily="34" charset="0"/>
                <a:ea typeface="Calibri" pitchFamily="34" charset="-122"/>
                <a:cs typeface="Calibri" pitchFamily="34" charset="-120"/>
              </a:rPr>
              <a:t>Posing as the CEO, IT, bank or police</a:t>
            </a:r>
            <a:endParaRPr lang="en-US" sz="1400" dirty="0"/>
          </a:p>
        </p:txBody>
      </p:sp>
      <p:sp>
        <p:nvSpPr>
          <p:cNvPr id="17" name="Shape 15"/>
          <p:cNvSpPr/>
          <p:nvPr/>
        </p:nvSpPr>
        <p:spPr>
          <a:xfrm>
            <a:off x="457200" y="2862072"/>
            <a:ext cx="2621280" cy="1417320"/>
          </a:xfrm>
          <a:prstGeom prst="rect">
            <a:avLst/>
          </a:prstGeom>
          <a:solidFill>
            <a:srgbClr val="FFFFFF"/>
          </a:solidFill>
          <a:ln w="9525">
            <a:solidFill>
              <a:srgbClr val="E5E7EB"/>
            </a:solidFill>
            <a:prstDash val="solid"/>
          </a:ln>
          <a:effectLst>
            <a:outerShdw sx="100000" sy="100000" kx="0" ky="0" algn="bl" rotWithShape="0" blurRad="76200" dist="25400" dir="5400000">
              <a:srgbClr val="000000">
                <a:alpha val="12000"/>
              </a:srgbClr>
            </a:outerShdw>
          </a:effectLst>
        </p:spPr>
      </p:sp>
      <p:sp>
        <p:nvSpPr>
          <p:cNvPr id="18" name="Shape 16"/>
          <p:cNvSpPr/>
          <p:nvPr/>
        </p:nvSpPr>
        <p:spPr>
          <a:xfrm>
            <a:off x="457200" y="2862072"/>
            <a:ext cx="2621280" cy="64008"/>
          </a:xfrm>
          <a:prstGeom prst="rect">
            <a:avLst/>
          </a:prstGeom>
          <a:solidFill>
            <a:srgbClr val="F59E0B"/>
          </a:solidFill>
          <a:ln w="12700">
            <a:solidFill>
              <a:srgbClr val="F59E0B"/>
            </a:solidFill>
            <a:prstDash val="solid"/>
          </a:ln>
        </p:spPr>
      </p:sp>
      <p:sp>
        <p:nvSpPr>
          <p:cNvPr id="19" name="Text 17"/>
          <p:cNvSpPr txBox="1"/>
          <p:nvPr/>
        </p:nvSpPr>
        <p:spPr>
          <a:xfrm>
            <a:off x="640080" y="2990088"/>
            <a:ext cx="2301240" cy="1234440"/>
          </a:xfrm>
          <a:prstGeom prst="rect">
            <a:avLst/>
          </a:prstGeom>
          <a:noFill/>
          <a:ln/>
        </p:spPr>
        <p:txBody>
          <a:bodyPr wrap="square" lIns="0" tIns="0" rIns="0" bIns="0" rtlCol="0" anchor="ctr"/>
          <a:lstStyle/>
          <a:p>
            <a:pPr indent="0" marL="0">
              <a:buNone/>
            </a:pPr>
            <a:r>
              <a:rPr lang="en-US" sz="1400" b="1" dirty="0">
                <a:solidFill>
                  <a:srgbClr val="0B1F3A"/>
                </a:solidFill>
                <a:latin typeface="Calibri" pitchFamily="34" charset="0"/>
                <a:ea typeface="Calibri" pitchFamily="34" charset="-122"/>
                <a:cs typeface="Calibri" pitchFamily="34" charset="-120"/>
              </a:rPr>
              <a:t>Greed and curiosity</a:t>
            </a:r>
            <a:endParaRPr lang="en-US" sz="1400" dirty="0"/>
          </a:p>
          <a:p>
            <a:pPr indent="0" marL="0">
              <a:buNone/>
            </a:pPr>
            <a:r>
              <a:rPr lang="en-US" sz="1150" dirty="0">
                <a:solidFill>
                  <a:srgbClr val="1F2937"/>
                </a:solidFill>
                <a:latin typeface="Calibri" pitchFamily="34" charset="0"/>
                <a:ea typeface="Calibri" pitchFamily="34" charset="-122"/>
                <a:cs typeface="Calibri" pitchFamily="34" charset="-120"/>
              </a:rPr>
              <a:t>Prizes, refunds, 'see this photo'</a:t>
            </a:r>
            <a:endParaRPr lang="en-US" sz="1400" dirty="0"/>
          </a:p>
        </p:txBody>
      </p:sp>
      <p:sp>
        <p:nvSpPr>
          <p:cNvPr id="20" name="Shape 18"/>
          <p:cNvSpPr/>
          <p:nvPr/>
        </p:nvSpPr>
        <p:spPr>
          <a:xfrm>
            <a:off x="3261360" y="2862072"/>
            <a:ext cx="2621280" cy="1417320"/>
          </a:xfrm>
          <a:prstGeom prst="rect">
            <a:avLst/>
          </a:prstGeom>
          <a:solidFill>
            <a:srgbClr val="FFFFFF"/>
          </a:solidFill>
          <a:ln w="9525">
            <a:solidFill>
              <a:srgbClr val="E5E7EB"/>
            </a:solidFill>
            <a:prstDash val="solid"/>
          </a:ln>
          <a:effectLst>
            <a:outerShdw sx="100000" sy="100000" kx="0" ky="0" algn="bl" rotWithShape="0" blurRad="76200" dist="25400" dir="5400000">
              <a:srgbClr val="000000">
                <a:alpha val="12000"/>
              </a:srgbClr>
            </a:outerShdw>
          </a:effectLst>
        </p:spPr>
      </p:sp>
      <p:sp>
        <p:nvSpPr>
          <p:cNvPr id="21" name="Shape 19"/>
          <p:cNvSpPr/>
          <p:nvPr/>
        </p:nvSpPr>
        <p:spPr>
          <a:xfrm>
            <a:off x="3261360" y="2862072"/>
            <a:ext cx="2621280" cy="64008"/>
          </a:xfrm>
          <a:prstGeom prst="rect">
            <a:avLst/>
          </a:prstGeom>
          <a:solidFill>
            <a:srgbClr val="F59E0B"/>
          </a:solidFill>
          <a:ln w="12700">
            <a:solidFill>
              <a:srgbClr val="F59E0B"/>
            </a:solidFill>
            <a:prstDash val="solid"/>
          </a:ln>
        </p:spPr>
      </p:sp>
      <p:sp>
        <p:nvSpPr>
          <p:cNvPr id="22" name="Text 20"/>
          <p:cNvSpPr txBox="1"/>
          <p:nvPr/>
        </p:nvSpPr>
        <p:spPr>
          <a:xfrm>
            <a:off x="3444240" y="2990088"/>
            <a:ext cx="2301240" cy="1234440"/>
          </a:xfrm>
          <a:prstGeom prst="rect">
            <a:avLst/>
          </a:prstGeom>
          <a:noFill/>
          <a:ln/>
        </p:spPr>
        <p:txBody>
          <a:bodyPr wrap="square" lIns="0" tIns="0" rIns="0" bIns="0" rtlCol="0" anchor="ctr"/>
          <a:lstStyle/>
          <a:p>
            <a:pPr indent="0" marL="0">
              <a:buNone/>
            </a:pPr>
            <a:r>
              <a:rPr lang="en-US" sz="1400" b="1" dirty="0">
                <a:solidFill>
                  <a:srgbClr val="0B1F3A"/>
                </a:solidFill>
                <a:latin typeface="Calibri" pitchFamily="34" charset="0"/>
                <a:ea typeface="Calibri" pitchFamily="34" charset="-122"/>
                <a:cs typeface="Calibri" pitchFamily="34" charset="-120"/>
              </a:rPr>
              <a:t>Pretexting</a:t>
            </a:r>
            <a:endParaRPr lang="en-US" sz="1400" dirty="0"/>
          </a:p>
          <a:p>
            <a:pPr indent="0" marL="0">
              <a:buNone/>
            </a:pPr>
            <a:r>
              <a:rPr lang="en-US" sz="1150" dirty="0">
                <a:solidFill>
                  <a:srgbClr val="1F2937"/>
                </a:solidFill>
                <a:latin typeface="Calibri" pitchFamily="34" charset="0"/>
                <a:ea typeface="Calibri" pitchFamily="34" charset="-122"/>
                <a:cs typeface="Calibri" pitchFamily="34" charset="-120"/>
              </a:rPr>
              <a:t>An invented story to gain trust</a:t>
            </a:r>
            <a:endParaRPr lang="en-US" sz="1400" dirty="0"/>
          </a:p>
        </p:txBody>
      </p:sp>
      <p:sp>
        <p:nvSpPr>
          <p:cNvPr id="23" name="Shape 21"/>
          <p:cNvSpPr/>
          <p:nvPr/>
        </p:nvSpPr>
        <p:spPr>
          <a:xfrm>
            <a:off x="6065520" y="2862072"/>
            <a:ext cx="2621280" cy="1417320"/>
          </a:xfrm>
          <a:prstGeom prst="rect">
            <a:avLst/>
          </a:prstGeom>
          <a:solidFill>
            <a:srgbClr val="FFFFFF"/>
          </a:solidFill>
          <a:ln w="9525">
            <a:solidFill>
              <a:srgbClr val="E5E7EB"/>
            </a:solidFill>
            <a:prstDash val="solid"/>
          </a:ln>
          <a:effectLst>
            <a:outerShdw sx="100000" sy="100000" kx="0" ky="0" algn="bl" rotWithShape="0" blurRad="76200" dist="25400" dir="5400000">
              <a:srgbClr val="000000">
                <a:alpha val="12000"/>
              </a:srgbClr>
            </a:outerShdw>
          </a:effectLst>
        </p:spPr>
      </p:sp>
      <p:sp>
        <p:nvSpPr>
          <p:cNvPr id="24" name="Shape 22"/>
          <p:cNvSpPr/>
          <p:nvPr/>
        </p:nvSpPr>
        <p:spPr>
          <a:xfrm>
            <a:off x="6065520" y="2862072"/>
            <a:ext cx="2621280" cy="64008"/>
          </a:xfrm>
          <a:prstGeom prst="rect">
            <a:avLst/>
          </a:prstGeom>
          <a:solidFill>
            <a:srgbClr val="F59E0B"/>
          </a:solidFill>
          <a:ln w="12700">
            <a:solidFill>
              <a:srgbClr val="F59E0B"/>
            </a:solidFill>
            <a:prstDash val="solid"/>
          </a:ln>
        </p:spPr>
      </p:sp>
      <p:sp>
        <p:nvSpPr>
          <p:cNvPr id="25" name="Text 23"/>
          <p:cNvSpPr txBox="1"/>
          <p:nvPr/>
        </p:nvSpPr>
        <p:spPr>
          <a:xfrm>
            <a:off x="6248400" y="2990088"/>
            <a:ext cx="2301240" cy="1234440"/>
          </a:xfrm>
          <a:prstGeom prst="rect">
            <a:avLst/>
          </a:prstGeom>
          <a:noFill/>
          <a:ln/>
        </p:spPr>
        <p:txBody>
          <a:bodyPr wrap="square" lIns="0" tIns="0" rIns="0" bIns="0" rtlCol="0" anchor="ctr"/>
          <a:lstStyle/>
          <a:p>
            <a:pPr indent="0" marL="0">
              <a:buNone/>
            </a:pPr>
            <a:r>
              <a:rPr lang="en-US" sz="1400" b="1" dirty="0">
                <a:solidFill>
                  <a:srgbClr val="0B1F3A"/>
                </a:solidFill>
                <a:latin typeface="Calibri" pitchFamily="34" charset="0"/>
                <a:ea typeface="Calibri" pitchFamily="34" charset="-122"/>
                <a:cs typeface="Calibri" pitchFamily="34" charset="-120"/>
              </a:rPr>
              <a:t>Baiting and tailgating</a:t>
            </a:r>
            <a:endParaRPr lang="en-US" sz="1400" dirty="0"/>
          </a:p>
          <a:p>
            <a:pPr indent="0" marL="0">
              <a:buNone/>
            </a:pPr>
            <a:r>
              <a:rPr lang="en-US" sz="1150" dirty="0">
                <a:solidFill>
                  <a:srgbClr val="1F2937"/>
                </a:solidFill>
                <a:latin typeface="Calibri" pitchFamily="34" charset="0"/>
                <a:ea typeface="Calibri" pitchFamily="34" charset="-122"/>
                <a:cs typeface="Calibri" pitchFamily="34" charset="-120"/>
              </a:rPr>
              <a:t>Infected USB drives or following staff through doors</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14B8A6"/>
          </a:solidFill>
          <a:ln w="12700">
            <a:solidFill>
              <a:srgbClr val="14B8A6"/>
            </a:solidFill>
            <a:prstDash val="solid"/>
          </a:ln>
        </p:spPr>
      </p:sp>
      <p:sp>
        <p:nvSpPr>
          <p:cNvPr id="3" name="Text 1"/>
          <p:cNvSpPr txBox="1"/>
          <p:nvPr/>
        </p:nvSpPr>
        <p:spPr>
          <a:xfrm>
            <a:off x="457200" y="256032"/>
            <a:ext cx="5486400" cy="228600"/>
          </a:xfrm>
          <a:prstGeom prst="rect">
            <a:avLst/>
          </a:prstGeom>
          <a:noFill/>
          <a:ln/>
        </p:spPr>
        <p:txBody>
          <a:bodyPr wrap="square" lIns="0" tIns="0" rIns="0" bIns="0" rtlCol="0" anchor="ctr"/>
          <a:lstStyle/>
          <a:p>
            <a:pPr indent="0" marL="0">
              <a:buNone/>
            </a:pPr>
            <a:r>
              <a:rPr lang="en-US" sz="1100" b="1" spc="300" kern="0" dirty="0">
                <a:solidFill>
                  <a:srgbClr val="14B8A6"/>
                </a:solidFill>
                <a:latin typeface="Calibri" pitchFamily="34" charset="0"/>
                <a:ea typeface="Calibri" pitchFamily="34" charset="-122"/>
                <a:cs typeface="Calibri" pitchFamily="34" charset="-120"/>
              </a:rPr>
              <a:t>REAL CASES</a:t>
            </a:r>
            <a:endParaRPr lang="en-US" sz="1100" dirty="0"/>
          </a:p>
        </p:txBody>
      </p:sp>
      <p:sp>
        <p:nvSpPr>
          <p:cNvPr id="4" name="Text 2"/>
          <p:cNvSpPr txBox="1"/>
          <p:nvPr/>
        </p:nvSpPr>
        <p:spPr>
          <a:xfrm>
            <a:off x="457200" y="475488"/>
            <a:ext cx="8229600" cy="548640"/>
          </a:xfrm>
          <a:prstGeom prst="rect">
            <a:avLst/>
          </a:prstGeom>
          <a:noFill/>
          <a:ln/>
        </p:spPr>
        <p:txBody>
          <a:bodyPr wrap="square" lIns="0" tIns="0" rIns="0" bIns="0" rtlCol="0" anchor="ctr"/>
          <a:lstStyle/>
          <a:p>
            <a:pPr indent="0" marL="0">
              <a:buNone/>
            </a:pPr>
            <a:r>
              <a:rPr lang="en-US" sz="2800" b="1" dirty="0">
                <a:solidFill>
                  <a:srgbClr val="0B1F3A"/>
                </a:solidFill>
                <a:latin typeface="Calibri" pitchFamily="34" charset="0"/>
                <a:ea typeface="Calibri" pitchFamily="34" charset="-122"/>
                <a:cs typeface="Calibri" pitchFamily="34" charset="-120"/>
              </a:rPr>
              <a:t>Real-world cases</a:t>
            </a:r>
            <a:endParaRPr lang="en-US" sz="2800" dirty="0"/>
          </a:p>
        </p:txBody>
      </p:sp>
      <p:sp>
        <p:nvSpPr>
          <p:cNvPr id="5" name="Shape 3"/>
          <p:cNvSpPr/>
          <p:nvPr/>
        </p:nvSpPr>
        <p:spPr>
          <a:xfrm>
            <a:off x="457200" y="4800600"/>
            <a:ext cx="8229600" cy="0"/>
          </a:xfrm>
          <a:prstGeom prst="line">
            <a:avLst/>
          </a:prstGeom>
          <a:noFill/>
          <a:ln w="9525">
            <a:solidFill>
              <a:srgbClr val="D1D5DB"/>
            </a:solidFill>
            <a:prstDash val="solid"/>
          </a:ln>
        </p:spPr>
      </p:sp>
      <p:sp>
        <p:nvSpPr>
          <p:cNvPr id="6" name="Text 4"/>
          <p:cNvSpPr txBox="1"/>
          <p:nvPr/>
        </p:nvSpPr>
        <p:spPr>
          <a:xfrm>
            <a:off x="457200" y="4846320"/>
            <a:ext cx="5486400" cy="22860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CodeAlpha  |  Phishing Awareness Training</a:t>
            </a:r>
            <a:endParaRPr lang="en-US" sz="1000" dirty="0"/>
          </a:p>
        </p:txBody>
      </p:sp>
      <p:sp>
        <p:nvSpPr>
          <p:cNvPr id="7" name="Text 5"/>
          <p:cNvSpPr txBox="1"/>
          <p:nvPr/>
        </p:nvSpPr>
        <p:spPr>
          <a:xfrm>
            <a:off x="8229600" y="4846320"/>
            <a:ext cx="457200" cy="22860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10</a:t>
            </a:r>
            <a:endParaRPr lang="en-US" sz="1000" dirty="0"/>
          </a:p>
        </p:txBody>
      </p:sp>
      <p:sp>
        <p:nvSpPr>
          <p:cNvPr id="8" name="Shape 6"/>
          <p:cNvSpPr/>
          <p:nvPr/>
        </p:nvSpPr>
        <p:spPr>
          <a:xfrm>
            <a:off x="457200" y="1280160"/>
            <a:ext cx="4023360" cy="1554480"/>
          </a:xfrm>
          <a:prstGeom prst="rect">
            <a:avLst/>
          </a:prstGeom>
          <a:solidFill>
            <a:srgbClr val="FFFFFF"/>
          </a:solidFill>
          <a:ln w="9525">
            <a:solidFill>
              <a:srgbClr val="E5E7EB"/>
            </a:solidFill>
            <a:prstDash val="solid"/>
          </a:ln>
          <a:effectLst>
            <a:outerShdw sx="100000" sy="100000" kx="0" ky="0" algn="bl" rotWithShape="0" blurRad="76200" dist="25400" dir="5400000">
              <a:srgbClr val="000000">
                <a:alpha val="12000"/>
              </a:srgbClr>
            </a:outerShdw>
          </a:effectLst>
        </p:spPr>
      </p:sp>
      <p:sp>
        <p:nvSpPr>
          <p:cNvPr id="9" name="Shape 7"/>
          <p:cNvSpPr/>
          <p:nvPr/>
        </p:nvSpPr>
        <p:spPr>
          <a:xfrm>
            <a:off x="457200" y="1280160"/>
            <a:ext cx="4023360" cy="64008"/>
          </a:xfrm>
          <a:prstGeom prst="rect">
            <a:avLst/>
          </a:prstGeom>
          <a:solidFill>
            <a:srgbClr val="EF4444"/>
          </a:solidFill>
          <a:ln w="12700">
            <a:solidFill>
              <a:srgbClr val="EF4444"/>
            </a:solidFill>
            <a:prstDash val="solid"/>
          </a:ln>
        </p:spPr>
      </p:sp>
      <p:sp>
        <p:nvSpPr>
          <p:cNvPr id="10" name="Text 8"/>
          <p:cNvSpPr txBox="1"/>
          <p:nvPr/>
        </p:nvSpPr>
        <p:spPr>
          <a:xfrm>
            <a:off x="640080" y="1408176"/>
            <a:ext cx="3703320" cy="1371600"/>
          </a:xfrm>
          <a:prstGeom prst="rect">
            <a:avLst/>
          </a:prstGeom>
          <a:noFill/>
          <a:ln/>
        </p:spPr>
        <p:txBody>
          <a:bodyPr wrap="square" lIns="0" tIns="0" rIns="0" bIns="0" rtlCol="0" anchor="ctr"/>
          <a:lstStyle/>
          <a:p>
            <a:pPr indent="0" marL="0">
              <a:buNone/>
            </a:pPr>
            <a:r>
              <a:rPr lang="en-US" sz="1400" b="1" dirty="0">
                <a:solidFill>
                  <a:srgbClr val="0B1F3A"/>
                </a:solidFill>
                <a:latin typeface="Calibri" pitchFamily="34" charset="0"/>
                <a:ea typeface="Calibri" pitchFamily="34" charset="-122"/>
                <a:cs typeface="Calibri" pitchFamily="34" charset="-120"/>
              </a:rPr>
              <a:t>Google and Facebook (2013-15)</a:t>
            </a:r>
            <a:endParaRPr lang="en-US" sz="1400" dirty="0"/>
          </a:p>
          <a:p>
            <a:pPr indent="0" marL="0">
              <a:buNone/>
            </a:pPr>
            <a:r>
              <a:rPr lang="en-US" sz="1150" dirty="0">
                <a:solidFill>
                  <a:srgbClr val="1F2937"/>
                </a:solidFill>
                <a:latin typeface="Calibri" pitchFamily="34" charset="0"/>
                <a:ea typeface="Calibri" pitchFamily="34" charset="-122"/>
                <a:cs typeface="Calibri" pitchFamily="34" charset="-120"/>
              </a:rPr>
              <a:t>A fraudster posed as a hardware vendor and invoiced both firms for over 100 million dollars.</a:t>
            </a:r>
            <a:endParaRPr lang="en-US" sz="1400" dirty="0"/>
          </a:p>
        </p:txBody>
      </p:sp>
      <p:sp>
        <p:nvSpPr>
          <p:cNvPr id="11" name="Shape 9"/>
          <p:cNvSpPr/>
          <p:nvPr/>
        </p:nvSpPr>
        <p:spPr>
          <a:xfrm>
            <a:off x="4663440" y="1280160"/>
            <a:ext cx="4023360" cy="1554480"/>
          </a:xfrm>
          <a:prstGeom prst="rect">
            <a:avLst/>
          </a:prstGeom>
          <a:solidFill>
            <a:srgbClr val="FFFFFF"/>
          </a:solidFill>
          <a:ln w="9525">
            <a:solidFill>
              <a:srgbClr val="E5E7EB"/>
            </a:solidFill>
            <a:prstDash val="solid"/>
          </a:ln>
          <a:effectLst>
            <a:outerShdw sx="100000" sy="100000" kx="0" ky="0" algn="bl" rotWithShape="0" blurRad="76200" dist="25400" dir="5400000">
              <a:srgbClr val="000000">
                <a:alpha val="12000"/>
              </a:srgbClr>
            </a:outerShdw>
          </a:effectLst>
        </p:spPr>
      </p:sp>
      <p:sp>
        <p:nvSpPr>
          <p:cNvPr id="12" name="Shape 10"/>
          <p:cNvSpPr/>
          <p:nvPr/>
        </p:nvSpPr>
        <p:spPr>
          <a:xfrm>
            <a:off x="4663440" y="1280160"/>
            <a:ext cx="4023360" cy="64008"/>
          </a:xfrm>
          <a:prstGeom prst="rect">
            <a:avLst/>
          </a:prstGeom>
          <a:solidFill>
            <a:srgbClr val="EF4444"/>
          </a:solidFill>
          <a:ln w="12700">
            <a:solidFill>
              <a:srgbClr val="EF4444"/>
            </a:solidFill>
            <a:prstDash val="solid"/>
          </a:ln>
        </p:spPr>
      </p:sp>
      <p:sp>
        <p:nvSpPr>
          <p:cNvPr id="13" name="Text 11"/>
          <p:cNvSpPr txBox="1"/>
          <p:nvPr/>
        </p:nvSpPr>
        <p:spPr>
          <a:xfrm>
            <a:off x="4846320" y="1408176"/>
            <a:ext cx="3703320" cy="1371600"/>
          </a:xfrm>
          <a:prstGeom prst="rect">
            <a:avLst/>
          </a:prstGeom>
          <a:noFill/>
          <a:ln/>
        </p:spPr>
        <p:txBody>
          <a:bodyPr wrap="square" lIns="0" tIns="0" rIns="0" bIns="0" rtlCol="0" anchor="ctr"/>
          <a:lstStyle/>
          <a:p>
            <a:pPr indent="0" marL="0">
              <a:buNone/>
            </a:pPr>
            <a:r>
              <a:rPr lang="en-US" sz="1400" b="1" dirty="0">
                <a:solidFill>
                  <a:srgbClr val="0B1F3A"/>
                </a:solidFill>
                <a:latin typeface="Calibri" pitchFamily="34" charset="0"/>
                <a:ea typeface="Calibri" pitchFamily="34" charset="-122"/>
                <a:cs typeface="Calibri" pitchFamily="34" charset="-120"/>
              </a:rPr>
              <a:t>Twitter (2020)</a:t>
            </a:r>
            <a:endParaRPr lang="en-US" sz="1400" dirty="0"/>
          </a:p>
          <a:p>
            <a:pPr indent="0" marL="0">
              <a:buNone/>
            </a:pPr>
            <a:r>
              <a:rPr lang="en-US" sz="1150" dirty="0">
                <a:solidFill>
                  <a:srgbClr val="1F2937"/>
                </a:solidFill>
                <a:latin typeface="Calibri" pitchFamily="34" charset="0"/>
                <a:ea typeface="Calibri" pitchFamily="34" charset="-122"/>
                <a:cs typeface="Calibri" pitchFamily="34" charset="-120"/>
              </a:rPr>
              <a:t>Attackers phoned staff, obtained credentials and took over high-profile accounts.</a:t>
            </a:r>
            <a:endParaRPr lang="en-US" sz="1400" dirty="0"/>
          </a:p>
        </p:txBody>
      </p:sp>
      <p:sp>
        <p:nvSpPr>
          <p:cNvPr id="14" name="Shape 12"/>
          <p:cNvSpPr/>
          <p:nvPr/>
        </p:nvSpPr>
        <p:spPr>
          <a:xfrm>
            <a:off x="457200" y="2999232"/>
            <a:ext cx="4023360" cy="1554480"/>
          </a:xfrm>
          <a:prstGeom prst="rect">
            <a:avLst/>
          </a:prstGeom>
          <a:solidFill>
            <a:srgbClr val="FFFFFF"/>
          </a:solidFill>
          <a:ln w="9525">
            <a:solidFill>
              <a:srgbClr val="E5E7EB"/>
            </a:solidFill>
            <a:prstDash val="solid"/>
          </a:ln>
          <a:effectLst>
            <a:outerShdw sx="100000" sy="100000" kx="0" ky="0" algn="bl" rotWithShape="0" blurRad="76200" dist="25400" dir="5400000">
              <a:srgbClr val="000000">
                <a:alpha val="12000"/>
              </a:srgbClr>
            </a:outerShdw>
          </a:effectLst>
        </p:spPr>
      </p:sp>
      <p:sp>
        <p:nvSpPr>
          <p:cNvPr id="15" name="Shape 13"/>
          <p:cNvSpPr/>
          <p:nvPr/>
        </p:nvSpPr>
        <p:spPr>
          <a:xfrm>
            <a:off x="457200" y="2999232"/>
            <a:ext cx="4023360" cy="64008"/>
          </a:xfrm>
          <a:prstGeom prst="rect">
            <a:avLst/>
          </a:prstGeom>
          <a:solidFill>
            <a:srgbClr val="EF4444"/>
          </a:solidFill>
          <a:ln w="12700">
            <a:solidFill>
              <a:srgbClr val="EF4444"/>
            </a:solidFill>
            <a:prstDash val="solid"/>
          </a:ln>
        </p:spPr>
      </p:sp>
      <p:sp>
        <p:nvSpPr>
          <p:cNvPr id="16" name="Text 14"/>
          <p:cNvSpPr txBox="1"/>
          <p:nvPr/>
        </p:nvSpPr>
        <p:spPr>
          <a:xfrm>
            <a:off x="640080" y="3127248"/>
            <a:ext cx="3703320" cy="1371600"/>
          </a:xfrm>
          <a:prstGeom prst="rect">
            <a:avLst/>
          </a:prstGeom>
          <a:noFill/>
          <a:ln/>
        </p:spPr>
        <p:txBody>
          <a:bodyPr wrap="square" lIns="0" tIns="0" rIns="0" bIns="0" rtlCol="0" anchor="ctr"/>
          <a:lstStyle/>
          <a:p>
            <a:pPr indent="0" marL="0">
              <a:buNone/>
            </a:pPr>
            <a:r>
              <a:rPr lang="en-US" sz="1400" b="1" dirty="0">
                <a:solidFill>
                  <a:srgbClr val="0B1F3A"/>
                </a:solidFill>
                <a:latin typeface="Calibri" pitchFamily="34" charset="0"/>
                <a:ea typeface="Calibri" pitchFamily="34" charset="-122"/>
                <a:cs typeface="Calibri" pitchFamily="34" charset="-120"/>
              </a:rPr>
              <a:t>Target (2013)</a:t>
            </a:r>
            <a:endParaRPr lang="en-US" sz="1400" dirty="0"/>
          </a:p>
          <a:p>
            <a:pPr indent="0" marL="0">
              <a:buNone/>
            </a:pPr>
            <a:r>
              <a:rPr lang="en-US" sz="1150" dirty="0">
                <a:solidFill>
                  <a:srgbClr val="1F2937"/>
                </a:solidFill>
                <a:latin typeface="Calibri" pitchFamily="34" charset="0"/>
                <a:ea typeface="Calibri" pitchFamily="34" charset="-122"/>
                <a:cs typeface="Calibri" pitchFamily="34" charset="-120"/>
              </a:rPr>
              <a:t>Credentials stolen from a phished HVAC vendor led to a major card-data breach.</a:t>
            </a:r>
            <a:endParaRPr lang="en-US" sz="1400" dirty="0"/>
          </a:p>
        </p:txBody>
      </p:sp>
      <p:sp>
        <p:nvSpPr>
          <p:cNvPr id="17" name="Shape 15"/>
          <p:cNvSpPr/>
          <p:nvPr/>
        </p:nvSpPr>
        <p:spPr>
          <a:xfrm>
            <a:off x="4663440" y="2999232"/>
            <a:ext cx="4023360" cy="1554480"/>
          </a:xfrm>
          <a:prstGeom prst="rect">
            <a:avLst/>
          </a:prstGeom>
          <a:solidFill>
            <a:srgbClr val="FFFFFF"/>
          </a:solidFill>
          <a:ln w="9525">
            <a:solidFill>
              <a:srgbClr val="E5E7EB"/>
            </a:solidFill>
            <a:prstDash val="solid"/>
          </a:ln>
          <a:effectLst>
            <a:outerShdw sx="100000" sy="100000" kx="0" ky="0" algn="bl" rotWithShape="0" blurRad="76200" dist="25400" dir="5400000">
              <a:srgbClr val="000000">
                <a:alpha val="12000"/>
              </a:srgbClr>
            </a:outerShdw>
          </a:effectLst>
        </p:spPr>
      </p:sp>
      <p:sp>
        <p:nvSpPr>
          <p:cNvPr id="18" name="Shape 16"/>
          <p:cNvSpPr/>
          <p:nvPr/>
        </p:nvSpPr>
        <p:spPr>
          <a:xfrm>
            <a:off x="4663440" y="2999232"/>
            <a:ext cx="4023360" cy="64008"/>
          </a:xfrm>
          <a:prstGeom prst="rect">
            <a:avLst/>
          </a:prstGeom>
          <a:solidFill>
            <a:srgbClr val="EF4444"/>
          </a:solidFill>
          <a:ln w="12700">
            <a:solidFill>
              <a:srgbClr val="EF4444"/>
            </a:solidFill>
            <a:prstDash val="solid"/>
          </a:ln>
        </p:spPr>
      </p:sp>
      <p:sp>
        <p:nvSpPr>
          <p:cNvPr id="19" name="Text 17"/>
          <p:cNvSpPr txBox="1"/>
          <p:nvPr/>
        </p:nvSpPr>
        <p:spPr>
          <a:xfrm>
            <a:off x="4846320" y="3127248"/>
            <a:ext cx="3703320" cy="1371600"/>
          </a:xfrm>
          <a:prstGeom prst="rect">
            <a:avLst/>
          </a:prstGeom>
          <a:noFill/>
          <a:ln/>
        </p:spPr>
        <p:txBody>
          <a:bodyPr wrap="square" lIns="0" tIns="0" rIns="0" bIns="0" rtlCol="0" anchor="ctr"/>
          <a:lstStyle/>
          <a:p>
            <a:pPr indent="0" marL="0">
              <a:buNone/>
            </a:pPr>
            <a:r>
              <a:rPr lang="en-US" sz="1400" b="1" dirty="0">
                <a:solidFill>
                  <a:srgbClr val="0B1F3A"/>
                </a:solidFill>
                <a:latin typeface="Calibri" pitchFamily="34" charset="0"/>
                <a:ea typeface="Calibri" pitchFamily="34" charset="-122"/>
                <a:cs typeface="Calibri" pitchFamily="34" charset="-120"/>
              </a:rPr>
              <a:t>Business Email Compromise</a:t>
            </a:r>
            <a:endParaRPr lang="en-US" sz="1400" dirty="0"/>
          </a:p>
          <a:p>
            <a:pPr indent="0" marL="0">
              <a:buNone/>
            </a:pPr>
            <a:r>
              <a:rPr lang="en-US" sz="1150" dirty="0">
                <a:solidFill>
                  <a:srgbClr val="1F2937"/>
                </a:solidFill>
                <a:latin typeface="Calibri" pitchFamily="34" charset="0"/>
                <a:ea typeface="Calibri" pitchFamily="34" charset="-122"/>
                <a:cs typeface="Calibri" pitchFamily="34" charset="-120"/>
              </a:rPr>
              <a:t>Fake CEO or supplier emails ask for urgent wire transfers or new bank details.</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14B8A6"/>
          </a:solidFill>
          <a:ln w="12700">
            <a:solidFill>
              <a:srgbClr val="14B8A6"/>
            </a:solidFill>
            <a:prstDash val="solid"/>
          </a:ln>
        </p:spPr>
      </p:sp>
      <p:sp>
        <p:nvSpPr>
          <p:cNvPr id="3" name="Text 1"/>
          <p:cNvSpPr txBox="1"/>
          <p:nvPr/>
        </p:nvSpPr>
        <p:spPr>
          <a:xfrm>
            <a:off x="457200" y="256032"/>
            <a:ext cx="5486400" cy="228600"/>
          </a:xfrm>
          <a:prstGeom prst="rect">
            <a:avLst/>
          </a:prstGeom>
          <a:noFill/>
          <a:ln/>
        </p:spPr>
        <p:txBody>
          <a:bodyPr wrap="square" lIns="0" tIns="0" rIns="0" bIns="0" rtlCol="0" anchor="ctr"/>
          <a:lstStyle/>
          <a:p>
            <a:pPr indent="0" marL="0">
              <a:buNone/>
            </a:pPr>
            <a:r>
              <a:rPr lang="en-US" sz="1100" b="1" spc="300" kern="0" dirty="0">
                <a:solidFill>
                  <a:srgbClr val="14B8A6"/>
                </a:solidFill>
                <a:latin typeface="Calibri" pitchFamily="34" charset="0"/>
                <a:ea typeface="Calibri" pitchFamily="34" charset="-122"/>
                <a:cs typeface="Calibri" pitchFamily="34" charset="-120"/>
              </a:rPr>
              <a:t>DEFEND</a:t>
            </a:r>
            <a:endParaRPr lang="en-US" sz="1100" dirty="0"/>
          </a:p>
        </p:txBody>
      </p:sp>
      <p:sp>
        <p:nvSpPr>
          <p:cNvPr id="4" name="Text 2"/>
          <p:cNvSpPr txBox="1"/>
          <p:nvPr/>
        </p:nvSpPr>
        <p:spPr>
          <a:xfrm>
            <a:off x="457200" y="475488"/>
            <a:ext cx="8229600" cy="548640"/>
          </a:xfrm>
          <a:prstGeom prst="rect">
            <a:avLst/>
          </a:prstGeom>
          <a:noFill/>
          <a:ln/>
        </p:spPr>
        <p:txBody>
          <a:bodyPr wrap="square" lIns="0" tIns="0" rIns="0" bIns="0" rtlCol="0" anchor="ctr"/>
          <a:lstStyle/>
          <a:p>
            <a:pPr indent="0" marL="0">
              <a:buNone/>
            </a:pPr>
            <a:r>
              <a:rPr lang="en-US" sz="2800" b="1" dirty="0">
                <a:solidFill>
                  <a:srgbClr val="0B1F3A"/>
                </a:solidFill>
                <a:latin typeface="Calibri" pitchFamily="34" charset="0"/>
                <a:ea typeface="Calibri" pitchFamily="34" charset="-122"/>
                <a:cs typeface="Calibri" pitchFamily="34" charset="-120"/>
              </a:rPr>
              <a:t>The S.T.O.P. check</a:t>
            </a:r>
            <a:endParaRPr lang="en-US" sz="2800" dirty="0"/>
          </a:p>
        </p:txBody>
      </p:sp>
      <p:sp>
        <p:nvSpPr>
          <p:cNvPr id="5" name="Shape 3"/>
          <p:cNvSpPr/>
          <p:nvPr/>
        </p:nvSpPr>
        <p:spPr>
          <a:xfrm>
            <a:off x="457200" y="4800600"/>
            <a:ext cx="8229600" cy="0"/>
          </a:xfrm>
          <a:prstGeom prst="line">
            <a:avLst/>
          </a:prstGeom>
          <a:noFill/>
          <a:ln w="9525">
            <a:solidFill>
              <a:srgbClr val="D1D5DB"/>
            </a:solidFill>
            <a:prstDash val="solid"/>
          </a:ln>
        </p:spPr>
      </p:sp>
      <p:sp>
        <p:nvSpPr>
          <p:cNvPr id="6" name="Text 4"/>
          <p:cNvSpPr txBox="1"/>
          <p:nvPr/>
        </p:nvSpPr>
        <p:spPr>
          <a:xfrm>
            <a:off x="457200" y="4846320"/>
            <a:ext cx="5486400" cy="22860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CodeAlpha  |  Phishing Awareness Training</a:t>
            </a:r>
            <a:endParaRPr lang="en-US" sz="1000" dirty="0"/>
          </a:p>
        </p:txBody>
      </p:sp>
      <p:sp>
        <p:nvSpPr>
          <p:cNvPr id="7" name="Text 5"/>
          <p:cNvSpPr txBox="1"/>
          <p:nvPr/>
        </p:nvSpPr>
        <p:spPr>
          <a:xfrm>
            <a:off x="8229600" y="4846320"/>
            <a:ext cx="457200" cy="22860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11</a:t>
            </a:r>
            <a:endParaRPr lang="en-US" sz="1000" dirty="0"/>
          </a:p>
        </p:txBody>
      </p:sp>
      <p:sp>
        <p:nvSpPr>
          <p:cNvPr id="8" name="Shape 6"/>
          <p:cNvSpPr/>
          <p:nvPr/>
        </p:nvSpPr>
        <p:spPr>
          <a:xfrm>
            <a:off x="457200" y="1280160"/>
            <a:ext cx="1920240" cy="2743200"/>
          </a:xfrm>
          <a:prstGeom prst="rect">
            <a:avLst/>
          </a:prstGeom>
          <a:solidFill>
            <a:srgbClr val="FFFFFF"/>
          </a:solidFill>
          <a:ln w="9525">
            <a:solidFill>
              <a:srgbClr val="E5E7EB"/>
            </a:solidFill>
            <a:prstDash val="solid"/>
          </a:ln>
          <a:effectLst>
            <a:outerShdw sx="100000" sy="100000" kx="0" ky="0" algn="bl" rotWithShape="0" blurRad="76200" dist="25400" dir="5400000">
              <a:srgbClr val="000000">
                <a:alpha val="12000"/>
              </a:srgbClr>
            </a:outerShdw>
          </a:effectLst>
        </p:spPr>
      </p:sp>
      <p:sp>
        <p:nvSpPr>
          <p:cNvPr id="9" name="Shape 7"/>
          <p:cNvSpPr/>
          <p:nvPr/>
        </p:nvSpPr>
        <p:spPr>
          <a:xfrm>
            <a:off x="960120" y="1463040"/>
            <a:ext cx="914400" cy="914400"/>
          </a:xfrm>
          <a:prstGeom prst="ellipse">
            <a:avLst/>
          </a:prstGeom>
          <a:solidFill>
            <a:srgbClr val="14B8A6"/>
          </a:solidFill>
          <a:ln w="12700">
            <a:solidFill>
              <a:srgbClr val="14B8A6"/>
            </a:solidFill>
            <a:prstDash val="solid"/>
          </a:ln>
        </p:spPr>
      </p:sp>
      <p:sp>
        <p:nvSpPr>
          <p:cNvPr id="10" name="Text 8"/>
          <p:cNvSpPr txBox="1"/>
          <p:nvPr/>
        </p:nvSpPr>
        <p:spPr>
          <a:xfrm>
            <a:off x="960120" y="1463040"/>
            <a:ext cx="914400" cy="914400"/>
          </a:xfrm>
          <a:prstGeom prst="rect">
            <a:avLst/>
          </a:prstGeom>
          <a:noFill/>
          <a:ln/>
        </p:spPr>
        <p:txBody>
          <a:bodyPr wrap="square" lIns="0" tIns="0" rIns="0" bIns="0" rtlCol="0" anchor="ctr"/>
          <a:lstStyle/>
          <a:p>
            <a:pPr algn="ctr" indent="0" marL="0">
              <a:buNone/>
            </a:pPr>
            <a:r>
              <a:rPr lang="en-US" sz="3600" b="1" dirty="0">
                <a:solidFill>
                  <a:srgbClr val="FFFFFF"/>
                </a:solidFill>
                <a:latin typeface="Calibri" pitchFamily="34" charset="0"/>
                <a:ea typeface="Calibri" pitchFamily="34" charset="-122"/>
                <a:cs typeface="Calibri" pitchFamily="34" charset="-120"/>
              </a:rPr>
              <a:t>S</a:t>
            </a:r>
            <a:endParaRPr lang="en-US" sz="3600" dirty="0"/>
          </a:p>
        </p:txBody>
      </p:sp>
      <p:sp>
        <p:nvSpPr>
          <p:cNvPr id="11" name="Text 9"/>
          <p:cNvSpPr txBox="1"/>
          <p:nvPr/>
        </p:nvSpPr>
        <p:spPr>
          <a:xfrm>
            <a:off x="457200" y="2514600"/>
            <a:ext cx="1920240" cy="365760"/>
          </a:xfrm>
          <a:prstGeom prst="rect">
            <a:avLst/>
          </a:prstGeom>
          <a:noFill/>
          <a:ln/>
        </p:spPr>
        <p:txBody>
          <a:bodyPr wrap="square" lIns="0" tIns="0" rIns="0" bIns="0" rtlCol="0" anchor="ctr"/>
          <a:lstStyle/>
          <a:p>
            <a:pPr algn="ctr" indent="0" marL="0">
              <a:buNone/>
            </a:pPr>
            <a:r>
              <a:rPr lang="en-US" sz="1800" b="1" dirty="0">
                <a:solidFill>
                  <a:srgbClr val="0B1F3A"/>
                </a:solidFill>
                <a:latin typeface="Calibri" pitchFamily="34" charset="0"/>
                <a:ea typeface="Calibri" pitchFamily="34" charset="-122"/>
                <a:cs typeface="Calibri" pitchFamily="34" charset="-120"/>
              </a:rPr>
              <a:t>Sender</a:t>
            </a:r>
            <a:endParaRPr lang="en-US" sz="1800" dirty="0"/>
          </a:p>
        </p:txBody>
      </p:sp>
      <p:sp>
        <p:nvSpPr>
          <p:cNvPr id="12" name="Text 10"/>
          <p:cNvSpPr txBox="1"/>
          <p:nvPr/>
        </p:nvSpPr>
        <p:spPr>
          <a:xfrm>
            <a:off x="594360" y="2926080"/>
            <a:ext cx="1645920" cy="914400"/>
          </a:xfrm>
          <a:prstGeom prst="rect">
            <a:avLst/>
          </a:prstGeom>
          <a:noFill/>
          <a:ln/>
        </p:spPr>
        <p:txBody>
          <a:bodyPr wrap="square" lIns="0" tIns="0" rIns="0" bIns="0" rtlCol="0" anchor="t"/>
          <a:lstStyle/>
          <a:p>
            <a:pPr algn="ctr" indent="0" marL="0">
              <a:buNone/>
            </a:pPr>
            <a:r>
              <a:rPr lang="en-US" sz="1200" dirty="0">
                <a:solidFill>
                  <a:srgbClr val="1F2937"/>
                </a:solidFill>
                <a:latin typeface="Calibri" pitchFamily="34" charset="0"/>
                <a:ea typeface="Calibri" pitchFamily="34" charset="-122"/>
                <a:cs typeface="Calibri" pitchFamily="34" charset="-120"/>
              </a:rPr>
              <a:t>Does the address match exactly?</a:t>
            </a:r>
            <a:endParaRPr lang="en-US" sz="1200" dirty="0"/>
          </a:p>
        </p:txBody>
      </p:sp>
      <p:sp>
        <p:nvSpPr>
          <p:cNvPr id="13" name="Shape 11"/>
          <p:cNvSpPr/>
          <p:nvPr/>
        </p:nvSpPr>
        <p:spPr>
          <a:xfrm>
            <a:off x="2569464" y="1280160"/>
            <a:ext cx="1920240" cy="2743200"/>
          </a:xfrm>
          <a:prstGeom prst="rect">
            <a:avLst/>
          </a:prstGeom>
          <a:solidFill>
            <a:srgbClr val="FFFFFF"/>
          </a:solidFill>
          <a:ln w="9525">
            <a:solidFill>
              <a:srgbClr val="E5E7EB"/>
            </a:solidFill>
            <a:prstDash val="solid"/>
          </a:ln>
          <a:effectLst>
            <a:outerShdw sx="100000" sy="100000" kx="0" ky="0" algn="bl" rotWithShape="0" blurRad="76200" dist="25400" dir="5400000">
              <a:srgbClr val="000000">
                <a:alpha val="12000"/>
              </a:srgbClr>
            </a:outerShdw>
          </a:effectLst>
        </p:spPr>
      </p:sp>
      <p:sp>
        <p:nvSpPr>
          <p:cNvPr id="14" name="Shape 12"/>
          <p:cNvSpPr/>
          <p:nvPr/>
        </p:nvSpPr>
        <p:spPr>
          <a:xfrm>
            <a:off x="3072384" y="1463040"/>
            <a:ext cx="914400" cy="914400"/>
          </a:xfrm>
          <a:prstGeom prst="ellipse">
            <a:avLst/>
          </a:prstGeom>
          <a:solidFill>
            <a:srgbClr val="F59E0B"/>
          </a:solidFill>
          <a:ln w="12700">
            <a:solidFill>
              <a:srgbClr val="F59E0B"/>
            </a:solidFill>
            <a:prstDash val="solid"/>
          </a:ln>
        </p:spPr>
      </p:sp>
      <p:sp>
        <p:nvSpPr>
          <p:cNvPr id="15" name="Text 13"/>
          <p:cNvSpPr txBox="1"/>
          <p:nvPr/>
        </p:nvSpPr>
        <p:spPr>
          <a:xfrm>
            <a:off x="3072384" y="1463040"/>
            <a:ext cx="914400" cy="914400"/>
          </a:xfrm>
          <a:prstGeom prst="rect">
            <a:avLst/>
          </a:prstGeom>
          <a:noFill/>
          <a:ln/>
        </p:spPr>
        <p:txBody>
          <a:bodyPr wrap="square" lIns="0" tIns="0" rIns="0" bIns="0" rtlCol="0" anchor="ctr"/>
          <a:lstStyle/>
          <a:p>
            <a:pPr algn="ctr" indent="0" marL="0">
              <a:buNone/>
            </a:pPr>
            <a:r>
              <a:rPr lang="en-US" sz="3600" b="1" dirty="0">
                <a:solidFill>
                  <a:srgbClr val="FFFFFF"/>
                </a:solidFill>
                <a:latin typeface="Calibri" pitchFamily="34" charset="0"/>
                <a:ea typeface="Calibri" pitchFamily="34" charset="-122"/>
                <a:cs typeface="Calibri" pitchFamily="34" charset="-120"/>
              </a:rPr>
              <a:t>T</a:t>
            </a:r>
            <a:endParaRPr lang="en-US" sz="3600" dirty="0"/>
          </a:p>
        </p:txBody>
      </p:sp>
      <p:sp>
        <p:nvSpPr>
          <p:cNvPr id="16" name="Text 14"/>
          <p:cNvSpPr txBox="1"/>
          <p:nvPr/>
        </p:nvSpPr>
        <p:spPr>
          <a:xfrm>
            <a:off x="2569464" y="2514600"/>
            <a:ext cx="1920240" cy="365760"/>
          </a:xfrm>
          <a:prstGeom prst="rect">
            <a:avLst/>
          </a:prstGeom>
          <a:noFill/>
          <a:ln/>
        </p:spPr>
        <p:txBody>
          <a:bodyPr wrap="square" lIns="0" tIns="0" rIns="0" bIns="0" rtlCol="0" anchor="ctr"/>
          <a:lstStyle/>
          <a:p>
            <a:pPr algn="ctr" indent="0" marL="0">
              <a:buNone/>
            </a:pPr>
            <a:r>
              <a:rPr lang="en-US" sz="1800" b="1" dirty="0">
                <a:solidFill>
                  <a:srgbClr val="0B1F3A"/>
                </a:solidFill>
                <a:latin typeface="Calibri" pitchFamily="34" charset="0"/>
                <a:ea typeface="Calibri" pitchFamily="34" charset="-122"/>
                <a:cs typeface="Calibri" pitchFamily="34" charset="-120"/>
              </a:rPr>
              <a:t>Tone</a:t>
            </a:r>
            <a:endParaRPr lang="en-US" sz="1800" dirty="0"/>
          </a:p>
        </p:txBody>
      </p:sp>
      <p:sp>
        <p:nvSpPr>
          <p:cNvPr id="17" name="Text 15"/>
          <p:cNvSpPr txBox="1"/>
          <p:nvPr/>
        </p:nvSpPr>
        <p:spPr>
          <a:xfrm>
            <a:off x="2706624" y="2926080"/>
            <a:ext cx="1645920" cy="914400"/>
          </a:xfrm>
          <a:prstGeom prst="rect">
            <a:avLst/>
          </a:prstGeom>
          <a:noFill/>
          <a:ln/>
        </p:spPr>
        <p:txBody>
          <a:bodyPr wrap="square" lIns="0" tIns="0" rIns="0" bIns="0" rtlCol="0" anchor="t"/>
          <a:lstStyle/>
          <a:p>
            <a:pPr algn="ctr" indent="0" marL="0">
              <a:buNone/>
            </a:pPr>
            <a:r>
              <a:rPr lang="en-US" sz="1200" dirty="0">
                <a:solidFill>
                  <a:srgbClr val="1F2937"/>
                </a:solidFill>
                <a:latin typeface="Calibri" pitchFamily="34" charset="0"/>
                <a:ea typeface="Calibri" pitchFamily="34" charset="-122"/>
                <a:cs typeface="Calibri" pitchFamily="34" charset="-120"/>
              </a:rPr>
              <a:t>Urgent, scary or too good to be true?</a:t>
            </a:r>
            <a:endParaRPr lang="en-US" sz="1200" dirty="0"/>
          </a:p>
        </p:txBody>
      </p:sp>
      <p:sp>
        <p:nvSpPr>
          <p:cNvPr id="18" name="Shape 16"/>
          <p:cNvSpPr/>
          <p:nvPr/>
        </p:nvSpPr>
        <p:spPr>
          <a:xfrm>
            <a:off x="4681728" y="1280160"/>
            <a:ext cx="1920240" cy="2743200"/>
          </a:xfrm>
          <a:prstGeom prst="rect">
            <a:avLst/>
          </a:prstGeom>
          <a:solidFill>
            <a:srgbClr val="FFFFFF"/>
          </a:solidFill>
          <a:ln w="9525">
            <a:solidFill>
              <a:srgbClr val="E5E7EB"/>
            </a:solidFill>
            <a:prstDash val="solid"/>
          </a:ln>
          <a:effectLst>
            <a:outerShdw sx="100000" sy="100000" kx="0" ky="0" algn="bl" rotWithShape="0" blurRad="76200" dist="25400" dir="5400000">
              <a:srgbClr val="000000">
                <a:alpha val="12000"/>
              </a:srgbClr>
            </a:outerShdw>
          </a:effectLst>
        </p:spPr>
      </p:sp>
      <p:sp>
        <p:nvSpPr>
          <p:cNvPr id="19" name="Shape 17"/>
          <p:cNvSpPr/>
          <p:nvPr/>
        </p:nvSpPr>
        <p:spPr>
          <a:xfrm>
            <a:off x="5184648" y="1463040"/>
            <a:ext cx="914400" cy="914400"/>
          </a:xfrm>
          <a:prstGeom prst="ellipse">
            <a:avLst/>
          </a:prstGeom>
          <a:solidFill>
            <a:srgbClr val="EF4444"/>
          </a:solidFill>
          <a:ln w="12700">
            <a:solidFill>
              <a:srgbClr val="EF4444"/>
            </a:solidFill>
            <a:prstDash val="solid"/>
          </a:ln>
        </p:spPr>
      </p:sp>
      <p:sp>
        <p:nvSpPr>
          <p:cNvPr id="20" name="Text 18"/>
          <p:cNvSpPr txBox="1"/>
          <p:nvPr/>
        </p:nvSpPr>
        <p:spPr>
          <a:xfrm>
            <a:off x="5184648" y="1463040"/>
            <a:ext cx="914400" cy="914400"/>
          </a:xfrm>
          <a:prstGeom prst="rect">
            <a:avLst/>
          </a:prstGeom>
          <a:noFill/>
          <a:ln/>
        </p:spPr>
        <p:txBody>
          <a:bodyPr wrap="square" lIns="0" tIns="0" rIns="0" bIns="0" rtlCol="0" anchor="ctr"/>
          <a:lstStyle/>
          <a:p>
            <a:pPr algn="ctr" indent="0" marL="0">
              <a:buNone/>
            </a:pPr>
            <a:r>
              <a:rPr lang="en-US" sz="3600" b="1" dirty="0">
                <a:solidFill>
                  <a:srgbClr val="FFFFFF"/>
                </a:solidFill>
                <a:latin typeface="Calibri" pitchFamily="34" charset="0"/>
                <a:ea typeface="Calibri" pitchFamily="34" charset="-122"/>
                <a:cs typeface="Calibri" pitchFamily="34" charset="-120"/>
              </a:rPr>
              <a:t>O</a:t>
            </a:r>
            <a:endParaRPr lang="en-US" sz="3600" dirty="0"/>
          </a:p>
        </p:txBody>
      </p:sp>
      <p:sp>
        <p:nvSpPr>
          <p:cNvPr id="21" name="Text 19"/>
          <p:cNvSpPr txBox="1"/>
          <p:nvPr/>
        </p:nvSpPr>
        <p:spPr>
          <a:xfrm>
            <a:off x="4681728" y="2514600"/>
            <a:ext cx="1920240" cy="365760"/>
          </a:xfrm>
          <a:prstGeom prst="rect">
            <a:avLst/>
          </a:prstGeom>
          <a:noFill/>
          <a:ln/>
        </p:spPr>
        <p:txBody>
          <a:bodyPr wrap="square" lIns="0" tIns="0" rIns="0" bIns="0" rtlCol="0" anchor="ctr"/>
          <a:lstStyle/>
          <a:p>
            <a:pPr algn="ctr" indent="0" marL="0">
              <a:buNone/>
            </a:pPr>
            <a:r>
              <a:rPr lang="en-US" sz="1800" b="1" dirty="0">
                <a:solidFill>
                  <a:srgbClr val="0B1F3A"/>
                </a:solidFill>
                <a:latin typeface="Calibri" pitchFamily="34" charset="0"/>
                <a:ea typeface="Calibri" pitchFamily="34" charset="-122"/>
                <a:cs typeface="Calibri" pitchFamily="34" charset="-120"/>
              </a:rPr>
              <a:t>Ask</a:t>
            </a:r>
            <a:endParaRPr lang="en-US" sz="1800" dirty="0"/>
          </a:p>
        </p:txBody>
      </p:sp>
      <p:sp>
        <p:nvSpPr>
          <p:cNvPr id="22" name="Text 20"/>
          <p:cNvSpPr txBox="1"/>
          <p:nvPr/>
        </p:nvSpPr>
        <p:spPr>
          <a:xfrm>
            <a:off x="4818888" y="2926080"/>
            <a:ext cx="1645920" cy="914400"/>
          </a:xfrm>
          <a:prstGeom prst="rect">
            <a:avLst/>
          </a:prstGeom>
          <a:noFill/>
          <a:ln/>
        </p:spPr>
        <p:txBody>
          <a:bodyPr wrap="square" lIns="0" tIns="0" rIns="0" bIns="0" rtlCol="0" anchor="t"/>
          <a:lstStyle/>
          <a:p>
            <a:pPr algn="ctr" indent="0" marL="0">
              <a:buNone/>
            </a:pPr>
            <a:r>
              <a:rPr lang="en-US" sz="1200" dirty="0">
                <a:solidFill>
                  <a:srgbClr val="1F2937"/>
                </a:solidFill>
                <a:latin typeface="Calibri" pitchFamily="34" charset="0"/>
                <a:ea typeface="Calibri" pitchFamily="34" charset="-122"/>
                <a:cs typeface="Calibri" pitchFamily="34" charset="-120"/>
              </a:rPr>
              <a:t>Does it want passwords, money or secrecy?</a:t>
            </a:r>
            <a:endParaRPr lang="en-US" sz="1200" dirty="0"/>
          </a:p>
        </p:txBody>
      </p:sp>
      <p:sp>
        <p:nvSpPr>
          <p:cNvPr id="23" name="Shape 21"/>
          <p:cNvSpPr/>
          <p:nvPr/>
        </p:nvSpPr>
        <p:spPr>
          <a:xfrm>
            <a:off x="6793992" y="1280160"/>
            <a:ext cx="1920240" cy="2743200"/>
          </a:xfrm>
          <a:prstGeom prst="rect">
            <a:avLst/>
          </a:prstGeom>
          <a:solidFill>
            <a:srgbClr val="FFFFFF"/>
          </a:solidFill>
          <a:ln w="9525">
            <a:solidFill>
              <a:srgbClr val="E5E7EB"/>
            </a:solidFill>
            <a:prstDash val="solid"/>
          </a:ln>
          <a:effectLst>
            <a:outerShdw sx="100000" sy="100000" kx="0" ky="0" algn="bl" rotWithShape="0" blurRad="76200" dist="25400" dir="5400000">
              <a:srgbClr val="000000">
                <a:alpha val="12000"/>
              </a:srgbClr>
            </a:outerShdw>
          </a:effectLst>
        </p:spPr>
      </p:sp>
      <p:sp>
        <p:nvSpPr>
          <p:cNvPr id="24" name="Shape 22"/>
          <p:cNvSpPr/>
          <p:nvPr/>
        </p:nvSpPr>
        <p:spPr>
          <a:xfrm>
            <a:off x="7296912" y="1463040"/>
            <a:ext cx="914400" cy="914400"/>
          </a:xfrm>
          <a:prstGeom prst="ellipse">
            <a:avLst/>
          </a:prstGeom>
          <a:solidFill>
            <a:srgbClr val="16345F"/>
          </a:solidFill>
          <a:ln w="12700">
            <a:solidFill>
              <a:srgbClr val="16345F"/>
            </a:solidFill>
            <a:prstDash val="solid"/>
          </a:ln>
        </p:spPr>
      </p:sp>
      <p:sp>
        <p:nvSpPr>
          <p:cNvPr id="25" name="Text 23"/>
          <p:cNvSpPr txBox="1"/>
          <p:nvPr/>
        </p:nvSpPr>
        <p:spPr>
          <a:xfrm>
            <a:off x="7296912" y="1463040"/>
            <a:ext cx="914400" cy="914400"/>
          </a:xfrm>
          <a:prstGeom prst="rect">
            <a:avLst/>
          </a:prstGeom>
          <a:noFill/>
          <a:ln/>
        </p:spPr>
        <p:txBody>
          <a:bodyPr wrap="square" lIns="0" tIns="0" rIns="0" bIns="0" rtlCol="0" anchor="ctr"/>
          <a:lstStyle/>
          <a:p>
            <a:pPr algn="ctr" indent="0" marL="0">
              <a:buNone/>
            </a:pPr>
            <a:r>
              <a:rPr lang="en-US" sz="3600" b="1" dirty="0">
                <a:solidFill>
                  <a:srgbClr val="FFFFFF"/>
                </a:solidFill>
                <a:latin typeface="Calibri" pitchFamily="34" charset="0"/>
                <a:ea typeface="Calibri" pitchFamily="34" charset="-122"/>
                <a:cs typeface="Calibri" pitchFamily="34" charset="-120"/>
              </a:rPr>
              <a:t>P</a:t>
            </a:r>
            <a:endParaRPr lang="en-US" sz="3600" dirty="0"/>
          </a:p>
        </p:txBody>
      </p:sp>
      <p:sp>
        <p:nvSpPr>
          <p:cNvPr id="26" name="Text 24"/>
          <p:cNvSpPr txBox="1"/>
          <p:nvPr/>
        </p:nvSpPr>
        <p:spPr>
          <a:xfrm>
            <a:off x="6793992" y="2514600"/>
            <a:ext cx="1920240" cy="365760"/>
          </a:xfrm>
          <a:prstGeom prst="rect">
            <a:avLst/>
          </a:prstGeom>
          <a:noFill/>
          <a:ln/>
        </p:spPr>
        <p:txBody>
          <a:bodyPr wrap="square" lIns="0" tIns="0" rIns="0" bIns="0" rtlCol="0" anchor="ctr"/>
          <a:lstStyle/>
          <a:p>
            <a:pPr algn="ctr" indent="0" marL="0">
              <a:buNone/>
            </a:pPr>
            <a:r>
              <a:rPr lang="en-US" sz="1800" b="1" dirty="0">
                <a:solidFill>
                  <a:srgbClr val="0B1F3A"/>
                </a:solidFill>
                <a:latin typeface="Calibri" pitchFamily="34" charset="0"/>
                <a:ea typeface="Calibri" pitchFamily="34" charset="-122"/>
                <a:cs typeface="Calibri" pitchFamily="34" charset="-120"/>
              </a:rPr>
              <a:t>Path</a:t>
            </a:r>
            <a:endParaRPr lang="en-US" sz="1800" dirty="0"/>
          </a:p>
        </p:txBody>
      </p:sp>
      <p:sp>
        <p:nvSpPr>
          <p:cNvPr id="27" name="Text 25"/>
          <p:cNvSpPr txBox="1"/>
          <p:nvPr/>
        </p:nvSpPr>
        <p:spPr>
          <a:xfrm>
            <a:off x="6931152" y="2926080"/>
            <a:ext cx="1645920" cy="914400"/>
          </a:xfrm>
          <a:prstGeom prst="rect">
            <a:avLst/>
          </a:prstGeom>
          <a:noFill/>
          <a:ln/>
        </p:spPr>
        <p:txBody>
          <a:bodyPr wrap="square" lIns="0" tIns="0" rIns="0" bIns="0" rtlCol="0" anchor="t"/>
          <a:lstStyle/>
          <a:p>
            <a:pPr algn="ctr" indent="0" marL="0">
              <a:buNone/>
            </a:pPr>
            <a:r>
              <a:rPr lang="en-US" sz="1200" dirty="0">
                <a:solidFill>
                  <a:srgbClr val="1F2937"/>
                </a:solidFill>
                <a:latin typeface="Calibri" pitchFamily="34" charset="0"/>
                <a:ea typeface="Calibri" pitchFamily="34" charset="-122"/>
                <a:cs typeface="Calibri" pitchFamily="34" charset="-120"/>
              </a:rPr>
              <a:t>Hover links. Check the domain. Skip surprise files.</a:t>
            </a:r>
            <a:endParaRPr lang="en-US" sz="1200" dirty="0"/>
          </a:p>
        </p:txBody>
      </p:sp>
      <p:sp>
        <p:nvSpPr>
          <p:cNvPr id="28" name="Shape 26"/>
          <p:cNvSpPr/>
          <p:nvPr/>
        </p:nvSpPr>
        <p:spPr>
          <a:xfrm>
            <a:off x="457200" y="4206240"/>
            <a:ext cx="8229600" cy="457200"/>
          </a:xfrm>
          <a:prstGeom prst="roundRect">
            <a:avLst>
              <a:gd name="adj" fmla="val 20000"/>
            </a:avLst>
          </a:prstGeom>
          <a:solidFill>
            <a:srgbClr val="0B1F3A"/>
          </a:solidFill>
          <a:ln w="12700">
            <a:solidFill>
              <a:srgbClr val="0B1F3A"/>
            </a:solidFill>
            <a:prstDash val="solid"/>
          </a:ln>
        </p:spPr>
      </p:sp>
      <p:sp>
        <p:nvSpPr>
          <p:cNvPr id="29" name="Text 27"/>
          <p:cNvSpPr txBox="1"/>
          <p:nvPr/>
        </p:nvSpPr>
        <p:spPr>
          <a:xfrm>
            <a:off x="457200" y="4206240"/>
            <a:ext cx="82296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Any red flag?  Don't click. Report it.</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14B8A6"/>
          </a:solidFill>
          <a:ln w="12700">
            <a:solidFill>
              <a:srgbClr val="14B8A6"/>
            </a:solidFill>
            <a:prstDash val="solid"/>
          </a:ln>
        </p:spPr>
      </p:sp>
      <p:sp>
        <p:nvSpPr>
          <p:cNvPr id="3" name="Text 1"/>
          <p:cNvSpPr txBox="1"/>
          <p:nvPr/>
        </p:nvSpPr>
        <p:spPr>
          <a:xfrm>
            <a:off x="457200" y="256032"/>
            <a:ext cx="5486400" cy="228600"/>
          </a:xfrm>
          <a:prstGeom prst="rect">
            <a:avLst/>
          </a:prstGeom>
          <a:noFill/>
          <a:ln/>
        </p:spPr>
        <p:txBody>
          <a:bodyPr wrap="square" lIns="0" tIns="0" rIns="0" bIns="0" rtlCol="0" anchor="ctr"/>
          <a:lstStyle/>
          <a:p>
            <a:pPr indent="0" marL="0">
              <a:buNone/>
            </a:pPr>
            <a:r>
              <a:rPr lang="en-US" sz="1100" b="1" spc="300" kern="0" dirty="0">
                <a:solidFill>
                  <a:srgbClr val="14B8A6"/>
                </a:solidFill>
                <a:latin typeface="Calibri" pitchFamily="34" charset="0"/>
                <a:ea typeface="Calibri" pitchFamily="34" charset="-122"/>
                <a:cs typeface="Calibri" pitchFamily="34" charset="-120"/>
              </a:rPr>
              <a:t>DEFEND</a:t>
            </a:r>
            <a:endParaRPr lang="en-US" sz="1100" dirty="0"/>
          </a:p>
        </p:txBody>
      </p:sp>
      <p:sp>
        <p:nvSpPr>
          <p:cNvPr id="4" name="Text 2"/>
          <p:cNvSpPr txBox="1"/>
          <p:nvPr/>
        </p:nvSpPr>
        <p:spPr>
          <a:xfrm>
            <a:off x="457200" y="475488"/>
            <a:ext cx="8229600" cy="548640"/>
          </a:xfrm>
          <a:prstGeom prst="rect">
            <a:avLst/>
          </a:prstGeom>
          <a:noFill/>
          <a:ln/>
        </p:spPr>
        <p:txBody>
          <a:bodyPr wrap="square" lIns="0" tIns="0" rIns="0" bIns="0" rtlCol="0" anchor="ctr"/>
          <a:lstStyle/>
          <a:p>
            <a:pPr indent="0" marL="0">
              <a:buNone/>
            </a:pPr>
            <a:r>
              <a:rPr lang="en-US" sz="2800" b="1" dirty="0">
                <a:solidFill>
                  <a:srgbClr val="0B1F3A"/>
                </a:solidFill>
                <a:latin typeface="Calibri" pitchFamily="34" charset="0"/>
                <a:ea typeface="Calibri" pitchFamily="34" charset="-122"/>
                <a:cs typeface="Calibri" pitchFamily="34" charset="-120"/>
              </a:rPr>
              <a:t>Best practices for individuals</a:t>
            </a:r>
            <a:endParaRPr lang="en-US" sz="2800" dirty="0"/>
          </a:p>
        </p:txBody>
      </p:sp>
      <p:sp>
        <p:nvSpPr>
          <p:cNvPr id="5" name="Shape 3"/>
          <p:cNvSpPr/>
          <p:nvPr/>
        </p:nvSpPr>
        <p:spPr>
          <a:xfrm>
            <a:off x="457200" y="4800600"/>
            <a:ext cx="8229600" cy="0"/>
          </a:xfrm>
          <a:prstGeom prst="line">
            <a:avLst/>
          </a:prstGeom>
          <a:noFill/>
          <a:ln w="9525">
            <a:solidFill>
              <a:srgbClr val="D1D5DB"/>
            </a:solidFill>
            <a:prstDash val="solid"/>
          </a:ln>
        </p:spPr>
      </p:sp>
      <p:sp>
        <p:nvSpPr>
          <p:cNvPr id="6" name="Text 4"/>
          <p:cNvSpPr txBox="1"/>
          <p:nvPr/>
        </p:nvSpPr>
        <p:spPr>
          <a:xfrm>
            <a:off x="457200" y="4846320"/>
            <a:ext cx="5486400" cy="22860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CodeAlpha  |  Phishing Awareness Training</a:t>
            </a:r>
            <a:endParaRPr lang="en-US" sz="1000" dirty="0"/>
          </a:p>
        </p:txBody>
      </p:sp>
      <p:sp>
        <p:nvSpPr>
          <p:cNvPr id="7" name="Text 5"/>
          <p:cNvSpPr txBox="1"/>
          <p:nvPr/>
        </p:nvSpPr>
        <p:spPr>
          <a:xfrm>
            <a:off x="8229600" y="4846320"/>
            <a:ext cx="457200" cy="22860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12</a:t>
            </a:r>
            <a:endParaRPr lang="en-US" sz="1000" dirty="0"/>
          </a:p>
        </p:txBody>
      </p:sp>
      <p:sp>
        <p:nvSpPr>
          <p:cNvPr id="8" name="Shape 6"/>
          <p:cNvSpPr/>
          <p:nvPr/>
        </p:nvSpPr>
        <p:spPr>
          <a:xfrm>
            <a:off x="457200" y="1280160"/>
            <a:ext cx="2621280" cy="1417320"/>
          </a:xfrm>
          <a:prstGeom prst="rect">
            <a:avLst/>
          </a:prstGeom>
          <a:solidFill>
            <a:srgbClr val="FFFFFF"/>
          </a:solidFill>
          <a:ln w="9525">
            <a:solidFill>
              <a:srgbClr val="E5E7EB"/>
            </a:solidFill>
            <a:prstDash val="solid"/>
          </a:ln>
          <a:effectLst>
            <a:outerShdw sx="100000" sy="100000" kx="0" ky="0" algn="bl" rotWithShape="0" blurRad="76200" dist="25400" dir="5400000">
              <a:srgbClr val="000000">
                <a:alpha val="12000"/>
              </a:srgbClr>
            </a:outerShdw>
          </a:effectLst>
        </p:spPr>
      </p:sp>
      <p:sp>
        <p:nvSpPr>
          <p:cNvPr id="9" name="Shape 7"/>
          <p:cNvSpPr/>
          <p:nvPr/>
        </p:nvSpPr>
        <p:spPr>
          <a:xfrm>
            <a:off x="457200" y="1280160"/>
            <a:ext cx="2621280" cy="64008"/>
          </a:xfrm>
          <a:prstGeom prst="rect">
            <a:avLst/>
          </a:prstGeom>
          <a:solidFill>
            <a:srgbClr val="14B8A6"/>
          </a:solidFill>
          <a:ln w="12700">
            <a:solidFill>
              <a:srgbClr val="14B8A6"/>
            </a:solidFill>
            <a:prstDash val="solid"/>
          </a:ln>
        </p:spPr>
      </p:sp>
      <p:sp>
        <p:nvSpPr>
          <p:cNvPr id="10" name="Text 8"/>
          <p:cNvSpPr txBox="1"/>
          <p:nvPr/>
        </p:nvSpPr>
        <p:spPr>
          <a:xfrm>
            <a:off x="640080" y="1408176"/>
            <a:ext cx="2301240" cy="1234440"/>
          </a:xfrm>
          <a:prstGeom prst="rect">
            <a:avLst/>
          </a:prstGeom>
          <a:noFill/>
          <a:ln/>
        </p:spPr>
        <p:txBody>
          <a:bodyPr wrap="square" lIns="0" tIns="0" rIns="0" bIns="0" rtlCol="0" anchor="ctr"/>
          <a:lstStyle/>
          <a:p>
            <a:pPr indent="0" marL="0">
              <a:buNone/>
            </a:pPr>
            <a:r>
              <a:rPr lang="en-US" sz="1400" b="1" dirty="0">
                <a:solidFill>
                  <a:srgbClr val="0B1F3A"/>
                </a:solidFill>
                <a:latin typeface="Calibri" pitchFamily="34" charset="0"/>
                <a:ea typeface="Calibri" pitchFamily="34" charset="-122"/>
                <a:cs typeface="Calibri" pitchFamily="34" charset="-120"/>
              </a:rPr>
              <a:t>Pause and verify</a:t>
            </a:r>
            <a:endParaRPr lang="en-US" sz="1400" dirty="0"/>
          </a:p>
          <a:p>
            <a:pPr indent="0" marL="0">
              <a:buNone/>
            </a:pPr>
            <a:r>
              <a:rPr lang="en-US" sz="1150" dirty="0">
                <a:solidFill>
                  <a:srgbClr val="1F2937"/>
                </a:solidFill>
                <a:latin typeface="Calibri" pitchFamily="34" charset="0"/>
                <a:ea typeface="Calibri" pitchFamily="34" charset="-122"/>
                <a:cs typeface="Calibri" pitchFamily="34" charset="-120"/>
              </a:rPr>
              <a:t>Use a separate, trusted channel</a:t>
            </a:r>
            <a:endParaRPr lang="en-US" sz="1400" dirty="0"/>
          </a:p>
        </p:txBody>
      </p:sp>
      <p:sp>
        <p:nvSpPr>
          <p:cNvPr id="11" name="Shape 9"/>
          <p:cNvSpPr/>
          <p:nvPr/>
        </p:nvSpPr>
        <p:spPr>
          <a:xfrm>
            <a:off x="3261360" y="1280160"/>
            <a:ext cx="2621280" cy="1417320"/>
          </a:xfrm>
          <a:prstGeom prst="rect">
            <a:avLst/>
          </a:prstGeom>
          <a:solidFill>
            <a:srgbClr val="FFFFFF"/>
          </a:solidFill>
          <a:ln w="9525">
            <a:solidFill>
              <a:srgbClr val="E5E7EB"/>
            </a:solidFill>
            <a:prstDash val="solid"/>
          </a:ln>
          <a:effectLst>
            <a:outerShdw sx="100000" sy="100000" kx="0" ky="0" algn="bl" rotWithShape="0" blurRad="76200" dist="25400" dir="5400000">
              <a:srgbClr val="000000">
                <a:alpha val="12000"/>
              </a:srgbClr>
            </a:outerShdw>
          </a:effectLst>
        </p:spPr>
      </p:sp>
      <p:sp>
        <p:nvSpPr>
          <p:cNvPr id="12" name="Shape 10"/>
          <p:cNvSpPr/>
          <p:nvPr/>
        </p:nvSpPr>
        <p:spPr>
          <a:xfrm>
            <a:off x="3261360" y="1280160"/>
            <a:ext cx="2621280" cy="64008"/>
          </a:xfrm>
          <a:prstGeom prst="rect">
            <a:avLst/>
          </a:prstGeom>
          <a:solidFill>
            <a:srgbClr val="14B8A6"/>
          </a:solidFill>
          <a:ln w="12700">
            <a:solidFill>
              <a:srgbClr val="14B8A6"/>
            </a:solidFill>
            <a:prstDash val="solid"/>
          </a:ln>
        </p:spPr>
      </p:sp>
      <p:sp>
        <p:nvSpPr>
          <p:cNvPr id="13" name="Text 11"/>
          <p:cNvSpPr txBox="1"/>
          <p:nvPr/>
        </p:nvSpPr>
        <p:spPr>
          <a:xfrm>
            <a:off x="3444240" y="1408176"/>
            <a:ext cx="2301240" cy="1234440"/>
          </a:xfrm>
          <a:prstGeom prst="rect">
            <a:avLst/>
          </a:prstGeom>
          <a:noFill/>
          <a:ln/>
        </p:spPr>
        <p:txBody>
          <a:bodyPr wrap="square" lIns="0" tIns="0" rIns="0" bIns="0" rtlCol="0" anchor="ctr"/>
          <a:lstStyle/>
          <a:p>
            <a:pPr indent="0" marL="0">
              <a:buNone/>
            </a:pPr>
            <a:r>
              <a:rPr lang="en-US" sz="1400" b="1" dirty="0">
                <a:solidFill>
                  <a:srgbClr val="0B1F3A"/>
                </a:solidFill>
                <a:latin typeface="Calibri" pitchFamily="34" charset="0"/>
                <a:ea typeface="Calibri" pitchFamily="34" charset="-122"/>
                <a:cs typeface="Calibri" pitchFamily="34" charset="-120"/>
              </a:rPr>
              <a:t>Don't click or open</a:t>
            </a:r>
            <a:endParaRPr lang="en-US" sz="1400" dirty="0"/>
          </a:p>
          <a:p>
            <a:pPr indent="0" marL="0">
              <a:buNone/>
            </a:pPr>
            <a:r>
              <a:rPr lang="en-US" sz="1150" dirty="0">
                <a:solidFill>
                  <a:srgbClr val="1F2937"/>
                </a:solidFill>
                <a:latin typeface="Calibri" pitchFamily="34" charset="0"/>
                <a:ea typeface="Calibri" pitchFamily="34" charset="-122"/>
                <a:cs typeface="Calibri" pitchFamily="34" charset="-120"/>
              </a:rPr>
              <a:t>Skip unexpected links and files</a:t>
            </a:r>
            <a:endParaRPr lang="en-US" sz="1400" dirty="0"/>
          </a:p>
        </p:txBody>
      </p:sp>
      <p:sp>
        <p:nvSpPr>
          <p:cNvPr id="14" name="Shape 12"/>
          <p:cNvSpPr/>
          <p:nvPr/>
        </p:nvSpPr>
        <p:spPr>
          <a:xfrm>
            <a:off x="6065520" y="1280160"/>
            <a:ext cx="2621280" cy="1417320"/>
          </a:xfrm>
          <a:prstGeom prst="rect">
            <a:avLst/>
          </a:prstGeom>
          <a:solidFill>
            <a:srgbClr val="FFFFFF"/>
          </a:solidFill>
          <a:ln w="9525">
            <a:solidFill>
              <a:srgbClr val="E5E7EB"/>
            </a:solidFill>
            <a:prstDash val="solid"/>
          </a:ln>
          <a:effectLst>
            <a:outerShdw sx="100000" sy="100000" kx="0" ky="0" algn="bl" rotWithShape="0" blurRad="76200" dist="25400" dir="5400000">
              <a:srgbClr val="000000">
                <a:alpha val="12000"/>
              </a:srgbClr>
            </a:outerShdw>
          </a:effectLst>
        </p:spPr>
      </p:sp>
      <p:sp>
        <p:nvSpPr>
          <p:cNvPr id="15" name="Shape 13"/>
          <p:cNvSpPr/>
          <p:nvPr/>
        </p:nvSpPr>
        <p:spPr>
          <a:xfrm>
            <a:off x="6065520" y="1280160"/>
            <a:ext cx="2621280" cy="64008"/>
          </a:xfrm>
          <a:prstGeom prst="rect">
            <a:avLst/>
          </a:prstGeom>
          <a:solidFill>
            <a:srgbClr val="14B8A6"/>
          </a:solidFill>
          <a:ln w="12700">
            <a:solidFill>
              <a:srgbClr val="14B8A6"/>
            </a:solidFill>
            <a:prstDash val="solid"/>
          </a:ln>
        </p:spPr>
      </p:sp>
      <p:sp>
        <p:nvSpPr>
          <p:cNvPr id="16" name="Text 14"/>
          <p:cNvSpPr txBox="1"/>
          <p:nvPr/>
        </p:nvSpPr>
        <p:spPr>
          <a:xfrm>
            <a:off x="6248400" y="1408176"/>
            <a:ext cx="2301240" cy="1234440"/>
          </a:xfrm>
          <a:prstGeom prst="rect">
            <a:avLst/>
          </a:prstGeom>
          <a:noFill/>
          <a:ln/>
        </p:spPr>
        <p:txBody>
          <a:bodyPr wrap="square" lIns="0" tIns="0" rIns="0" bIns="0" rtlCol="0" anchor="ctr"/>
          <a:lstStyle/>
          <a:p>
            <a:pPr indent="0" marL="0">
              <a:buNone/>
            </a:pPr>
            <a:r>
              <a:rPr lang="en-US" sz="1400" b="1" dirty="0">
                <a:solidFill>
                  <a:srgbClr val="0B1F3A"/>
                </a:solidFill>
                <a:latin typeface="Calibri" pitchFamily="34" charset="0"/>
                <a:ea typeface="Calibri" pitchFamily="34" charset="-122"/>
                <a:cs typeface="Calibri" pitchFamily="34" charset="-120"/>
              </a:rPr>
              <a:t>Use MFA</a:t>
            </a:r>
            <a:endParaRPr lang="en-US" sz="1400" dirty="0"/>
          </a:p>
          <a:p>
            <a:pPr indent="0" marL="0">
              <a:buNone/>
            </a:pPr>
            <a:r>
              <a:rPr lang="en-US" sz="1150" dirty="0">
                <a:solidFill>
                  <a:srgbClr val="1F2937"/>
                </a:solidFill>
                <a:latin typeface="Calibri" pitchFamily="34" charset="0"/>
                <a:ea typeface="Calibri" pitchFamily="34" charset="-122"/>
                <a:cs typeface="Calibri" pitchFamily="34" charset="-120"/>
              </a:rPr>
              <a:t>A stolen password alone won't work</a:t>
            </a:r>
            <a:endParaRPr lang="en-US" sz="1400" dirty="0"/>
          </a:p>
        </p:txBody>
      </p:sp>
      <p:sp>
        <p:nvSpPr>
          <p:cNvPr id="17" name="Shape 15"/>
          <p:cNvSpPr/>
          <p:nvPr/>
        </p:nvSpPr>
        <p:spPr>
          <a:xfrm>
            <a:off x="457200" y="2862072"/>
            <a:ext cx="2621280" cy="1417320"/>
          </a:xfrm>
          <a:prstGeom prst="rect">
            <a:avLst/>
          </a:prstGeom>
          <a:solidFill>
            <a:srgbClr val="FFFFFF"/>
          </a:solidFill>
          <a:ln w="9525">
            <a:solidFill>
              <a:srgbClr val="E5E7EB"/>
            </a:solidFill>
            <a:prstDash val="solid"/>
          </a:ln>
          <a:effectLst>
            <a:outerShdw sx="100000" sy="100000" kx="0" ky="0" algn="bl" rotWithShape="0" blurRad="76200" dist="25400" dir="5400000">
              <a:srgbClr val="000000">
                <a:alpha val="12000"/>
              </a:srgbClr>
            </a:outerShdw>
          </a:effectLst>
        </p:spPr>
      </p:sp>
      <p:sp>
        <p:nvSpPr>
          <p:cNvPr id="18" name="Shape 16"/>
          <p:cNvSpPr/>
          <p:nvPr/>
        </p:nvSpPr>
        <p:spPr>
          <a:xfrm>
            <a:off x="457200" y="2862072"/>
            <a:ext cx="2621280" cy="64008"/>
          </a:xfrm>
          <a:prstGeom prst="rect">
            <a:avLst/>
          </a:prstGeom>
          <a:solidFill>
            <a:srgbClr val="14B8A6"/>
          </a:solidFill>
          <a:ln w="12700">
            <a:solidFill>
              <a:srgbClr val="14B8A6"/>
            </a:solidFill>
            <a:prstDash val="solid"/>
          </a:ln>
        </p:spPr>
      </p:sp>
      <p:sp>
        <p:nvSpPr>
          <p:cNvPr id="19" name="Text 17"/>
          <p:cNvSpPr txBox="1"/>
          <p:nvPr/>
        </p:nvSpPr>
        <p:spPr>
          <a:xfrm>
            <a:off x="640080" y="2990088"/>
            <a:ext cx="2301240" cy="1234440"/>
          </a:xfrm>
          <a:prstGeom prst="rect">
            <a:avLst/>
          </a:prstGeom>
          <a:noFill/>
          <a:ln/>
        </p:spPr>
        <p:txBody>
          <a:bodyPr wrap="square" lIns="0" tIns="0" rIns="0" bIns="0" rtlCol="0" anchor="ctr"/>
          <a:lstStyle/>
          <a:p>
            <a:pPr indent="0" marL="0">
              <a:buNone/>
            </a:pPr>
            <a:r>
              <a:rPr lang="en-US" sz="1400" b="1" dirty="0">
                <a:solidFill>
                  <a:srgbClr val="0B1F3A"/>
                </a:solidFill>
                <a:latin typeface="Calibri" pitchFamily="34" charset="0"/>
                <a:ea typeface="Calibri" pitchFamily="34" charset="-122"/>
                <a:cs typeface="Calibri" pitchFamily="34" charset="-120"/>
              </a:rPr>
              <a:t>Password manager</a:t>
            </a:r>
            <a:endParaRPr lang="en-US" sz="1400" dirty="0"/>
          </a:p>
          <a:p>
            <a:pPr indent="0" marL="0">
              <a:buNone/>
            </a:pPr>
            <a:r>
              <a:rPr lang="en-US" sz="1150" dirty="0">
                <a:solidFill>
                  <a:srgbClr val="1F2937"/>
                </a:solidFill>
                <a:latin typeface="Calibri" pitchFamily="34" charset="0"/>
                <a:ea typeface="Calibri" pitchFamily="34" charset="-122"/>
                <a:cs typeface="Calibri" pitchFamily="34" charset="-120"/>
              </a:rPr>
              <a:t>Won't autofill on fake domains</a:t>
            </a:r>
            <a:endParaRPr lang="en-US" sz="1400" dirty="0"/>
          </a:p>
        </p:txBody>
      </p:sp>
      <p:sp>
        <p:nvSpPr>
          <p:cNvPr id="20" name="Shape 18"/>
          <p:cNvSpPr/>
          <p:nvPr/>
        </p:nvSpPr>
        <p:spPr>
          <a:xfrm>
            <a:off x="3261360" y="2862072"/>
            <a:ext cx="2621280" cy="1417320"/>
          </a:xfrm>
          <a:prstGeom prst="rect">
            <a:avLst/>
          </a:prstGeom>
          <a:solidFill>
            <a:srgbClr val="FFFFFF"/>
          </a:solidFill>
          <a:ln w="9525">
            <a:solidFill>
              <a:srgbClr val="E5E7EB"/>
            </a:solidFill>
            <a:prstDash val="solid"/>
          </a:ln>
          <a:effectLst>
            <a:outerShdw sx="100000" sy="100000" kx="0" ky="0" algn="bl" rotWithShape="0" blurRad="76200" dist="25400" dir="5400000">
              <a:srgbClr val="000000">
                <a:alpha val="12000"/>
              </a:srgbClr>
            </a:outerShdw>
          </a:effectLst>
        </p:spPr>
      </p:sp>
      <p:sp>
        <p:nvSpPr>
          <p:cNvPr id="21" name="Shape 19"/>
          <p:cNvSpPr/>
          <p:nvPr/>
        </p:nvSpPr>
        <p:spPr>
          <a:xfrm>
            <a:off x="3261360" y="2862072"/>
            <a:ext cx="2621280" cy="64008"/>
          </a:xfrm>
          <a:prstGeom prst="rect">
            <a:avLst/>
          </a:prstGeom>
          <a:solidFill>
            <a:srgbClr val="14B8A6"/>
          </a:solidFill>
          <a:ln w="12700">
            <a:solidFill>
              <a:srgbClr val="14B8A6"/>
            </a:solidFill>
            <a:prstDash val="solid"/>
          </a:ln>
        </p:spPr>
      </p:sp>
      <p:sp>
        <p:nvSpPr>
          <p:cNvPr id="22" name="Text 20"/>
          <p:cNvSpPr txBox="1"/>
          <p:nvPr/>
        </p:nvSpPr>
        <p:spPr>
          <a:xfrm>
            <a:off x="3444240" y="2990088"/>
            <a:ext cx="2301240" cy="1234440"/>
          </a:xfrm>
          <a:prstGeom prst="rect">
            <a:avLst/>
          </a:prstGeom>
          <a:noFill/>
          <a:ln/>
        </p:spPr>
        <p:txBody>
          <a:bodyPr wrap="square" lIns="0" tIns="0" rIns="0" bIns="0" rtlCol="0" anchor="ctr"/>
          <a:lstStyle/>
          <a:p>
            <a:pPr indent="0" marL="0">
              <a:buNone/>
            </a:pPr>
            <a:r>
              <a:rPr lang="en-US" sz="1400" b="1" dirty="0">
                <a:solidFill>
                  <a:srgbClr val="0B1F3A"/>
                </a:solidFill>
                <a:latin typeface="Calibri" pitchFamily="34" charset="0"/>
                <a:ea typeface="Calibri" pitchFamily="34" charset="-122"/>
                <a:cs typeface="Calibri" pitchFamily="34" charset="-120"/>
              </a:rPr>
              <a:t>Update software</a:t>
            </a:r>
            <a:endParaRPr lang="en-US" sz="1400" dirty="0"/>
          </a:p>
          <a:p>
            <a:pPr indent="0" marL="0">
              <a:buNone/>
            </a:pPr>
            <a:r>
              <a:rPr lang="en-US" sz="1150" dirty="0">
                <a:solidFill>
                  <a:srgbClr val="1F2937"/>
                </a:solidFill>
                <a:latin typeface="Calibri" pitchFamily="34" charset="0"/>
                <a:ea typeface="Calibri" pitchFamily="34" charset="-122"/>
                <a:cs typeface="Calibri" pitchFamily="34" charset="-120"/>
              </a:rPr>
              <a:t>Patches close attacker doors</a:t>
            </a:r>
            <a:endParaRPr lang="en-US" sz="1400" dirty="0"/>
          </a:p>
        </p:txBody>
      </p:sp>
      <p:sp>
        <p:nvSpPr>
          <p:cNvPr id="23" name="Shape 21"/>
          <p:cNvSpPr/>
          <p:nvPr/>
        </p:nvSpPr>
        <p:spPr>
          <a:xfrm>
            <a:off x="6065520" y="2862072"/>
            <a:ext cx="2621280" cy="1417320"/>
          </a:xfrm>
          <a:prstGeom prst="rect">
            <a:avLst/>
          </a:prstGeom>
          <a:solidFill>
            <a:srgbClr val="FFFFFF"/>
          </a:solidFill>
          <a:ln w="9525">
            <a:solidFill>
              <a:srgbClr val="E5E7EB"/>
            </a:solidFill>
            <a:prstDash val="solid"/>
          </a:ln>
          <a:effectLst>
            <a:outerShdw sx="100000" sy="100000" kx="0" ky="0" algn="bl" rotWithShape="0" blurRad="76200" dist="25400" dir="5400000">
              <a:srgbClr val="000000">
                <a:alpha val="12000"/>
              </a:srgbClr>
            </a:outerShdw>
          </a:effectLst>
        </p:spPr>
      </p:sp>
      <p:sp>
        <p:nvSpPr>
          <p:cNvPr id="24" name="Shape 22"/>
          <p:cNvSpPr/>
          <p:nvPr/>
        </p:nvSpPr>
        <p:spPr>
          <a:xfrm>
            <a:off x="6065520" y="2862072"/>
            <a:ext cx="2621280" cy="64008"/>
          </a:xfrm>
          <a:prstGeom prst="rect">
            <a:avLst/>
          </a:prstGeom>
          <a:solidFill>
            <a:srgbClr val="14B8A6"/>
          </a:solidFill>
          <a:ln w="12700">
            <a:solidFill>
              <a:srgbClr val="14B8A6"/>
            </a:solidFill>
            <a:prstDash val="solid"/>
          </a:ln>
        </p:spPr>
      </p:sp>
      <p:sp>
        <p:nvSpPr>
          <p:cNvPr id="25" name="Text 23"/>
          <p:cNvSpPr txBox="1"/>
          <p:nvPr/>
        </p:nvSpPr>
        <p:spPr>
          <a:xfrm>
            <a:off x="6248400" y="2990088"/>
            <a:ext cx="2301240" cy="1234440"/>
          </a:xfrm>
          <a:prstGeom prst="rect">
            <a:avLst/>
          </a:prstGeom>
          <a:noFill/>
          <a:ln/>
        </p:spPr>
        <p:txBody>
          <a:bodyPr wrap="square" lIns="0" tIns="0" rIns="0" bIns="0" rtlCol="0" anchor="ctr"/>
          <a:lstStyle/>
          <a:p>
            <a:pPr indent="0" marL="0">
              <a:buNone/>
            </a:pPr>
            <a:r>
              <a:rPr lang="en-US" sz="1400" b="1" dirty="0">
                <a:solidFill>
                  <a:srgbClr val="0B1F3A"/>
                </a:solidFill>
                <a:latin typeface="Calibri" pitchFamily="34" charset="0"/>
                <a:ea typeface="Calibri" pitchFamily="34" charset="-122"/>
                <a:cs typeface="Calibri" pitchFamily="34" charset="-120"/>
              </a:rPr>
              <a:t>Report, don't reply</a:t>
            </a:r>
            <a:endParaRPr lang="en-US" sz="1400" dirty="0"/>
          </a:p>
          <a:p>
            <a:pPr indent="0" marL="0">
              <a:buNone/>
            </a:pPr>
            <a:r>
              <a:rPr lang="en-US" sz="1150" dirty="0">
                <a:solidFill>
                  <a:srgbClr val="1F2937"/>
                </a:solidFill>
                <a:latin typeface="Calibri" pitchFamily="34" charset="0"/>
                <a:ea typeface="Calibri" pitchFamily="34" charset="-122"/>
                <a:cs typeface="Calibri" pitchFamily="34" charset="-120"/>
              </a:rPr>
              <a:t>Forward to IT, then delete</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14B8A6"/>
          </a:solidFill>
          <a:ln w="12700">
            <a:solidFill>
              <a:srgbClr val="14B8A6"/>
            </a:solidFill>
            <a:prstDash val="solid"/>
          </a:ln>
        </p:spPr>
      </p:sp>
      <p:sp>
        <p:nvSpPr>
          <p:cNvPr id="3" name="Text 1"/>
          <p:cNvSpPr txBox="1"/>
          <p:nvPr/>
        </p:nvSpPr>
        <p:spPr>
          <a:xfrm>
            <a:off x="457200" y="256032"/>
            <a:ext cx="5486400" cy="228600"/>
          </a:xfrm>
          <a:prstGeom prst="rect">
            <a:avLst/>
          </a:prstGeom>
          <a:noFill/>
          <a:ln/>
        </p:spPr>
        <p:txBody>
          <a:bodyPr wrap="square" lIns="0" tIns="0" rIns="0" bIns="0" rtlCol="0" anchor="ctr"/>
          <a:lstStyle/>
          <a:p>
            <a:pPr indent="0" marL="0">
              <a:buNone/>
            </a:pPr>
            <a:r>
              <a:rPr lang="en-US" sz="1100" b="1" spc="300" kern="0" dirty="0">
                <a:solidFill>
                  <a:srgbClr val="14B8A6"/>
                </a:solidFill>
                <a:latin typeface="Calibri" pitchFamily="34" charset="0"/>
                <a:ea typeface="Calibri" pitchFamily="34" charset="-122"/>
                <a:cs typeface="Calibri" pitchFamily="34" charset="-120"/>
              </a:rPr>
              <a:t>DEFEND</a:t>
            </a:r>
            <a:endParaRPr lang="en-US" sz="1100" dirty="0"/>
          </a:p>
        </p:txBody>
      </p:sp>
      <p:sp>
        <p:nvSpPr>
          <p:cNvPr id="4" name="Text 2"/>
          <p:cNvSpPr txBox="1"/>
          <p:nvPr/>
        </p:nvSpPr>
        <p:spPr>
          <a:xfrm>
            <a:off x="457200" y="475488"/>
            <a:ext cx="8229600" cy="548640"/>
          </a:xfrm>
          <a:prstGeom prst="rect">
            <a:avLst/>
          </a:prstGeom>
          <a:noFill/>
          <a:ln/>
        </p:spPr>
        <p:txBody>
          <a:bodyPr wrap="square" lIns="0" tIns="0" rIns="0" bIns="0" rtlCol="0" anchor="ctr"/>
          <a:lstStyle/>
          <a:p>
            <a:pPr indent="0" marL="0">
              <a:buNone/>
            </a:pPr>
            <a:r>
              <a:rPr lang="en-US" sz="2800" b="1" dirty="0">
                <a:solidFill>
                  <a:srgbClr val="0B1F3A"/>
                </a:solidFill>
                <a:latin typeface="Calibri" pitchFamily="34" charset="0"/>
                <a:ea typeface="Calibri" pitchFamily="34" charset="-122"/>
                <a:cs typeface="Calibri" pitchFamily="34" charset="-120"/>
              </a:rPr>
              <a:t>Defenses organizations use</a:t>
            </a:r>
            <a:endParaRPr lang="en-US" sz="2800" dirty="0"/>
          </a:p>
        </p:txBody>
      </p:sp>
      <p:sp>
        <p:nvSpPr>
          <p:cNvPr id="5" name="Shape 3"/>
          <p:cNvSpPr/>
          <p:nvPr/>
        </p:nvSpPr>
        <p:spPr>
          <a:xfrm>
            <a:off x="457200" y="4800600"/>
            <a:ext cx="8229600" cy="0"/>
          </a:xfrm>
          <a:prstGeom prst="line">
            <a:avLst/>
          </a:prstGeom>
          <a:noFill/>
          <a:ln w="9525">
            <a:solidFill>
              <a:srgbClr val="D1D5DB"/>
            </a:solidFill>
            <a:prstDash val="solid"/>
          </a:ln>
        </p:spPr>
      </p:sp>
      <p:sp>
        <p:nvSpPr>
          <p:cNvPr id="6" name="Text 4"/>
          <p:cNvSpPr txBox="1"/>
          <p:nvPr/>
        </p:nvSpPr>
        <p:spPr>
          <a:xfrm>
            <a:off x="457200" y="4846320"/>
            <a:ext cx="5486400" cy="22860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CodeAlpha  |  Phishing Awareness Training</a:t>
            </a:r>
            <a:endParaRPr lang="en-US" sz="1000" dirty="0"/>
          </a:p>
        </p:txBody>
      </p:sp>
      <p:sp>
        <p:nvSpPr>
          <p:cNvPr id="7" name="Text 5"/>
          <p:cNvSpPr txBox="1"/>
          <p:nvPr/>
        </p:nvSpPr>
        <p:spPr>
          <a:xfrm>
            <a:off x="8229600" y="4846320"/>
            <a:ext cx="457200" cy="22860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13</a:t>
            </a:r>
            <a:endParaRPr lang="en-US" sz="1000" dirty="0"/>
          </a:p>
        </p:txBody>
      </p:sp>
      <p:sp>
        <p:nvSpPr>
          <p:cNvPr id="8" name="Shape 6"/>
          <p:cNvSpPr/>
          <p:nvPr/>
        </p:nvSpPr>
        <p:spPr>
          <a:xfrm>
            <a:off x="457200" y="1280160"/>
            <a:ext cx="2621280" cy="1417320"/>
          </a:xfrm>
          <a:prstGeom prst="rect">
            <a:avLst/>
          </a:prstGeom>
          <a:solidFill>
            <a:srgbClr val="FFFFFF"/>
          </a:solidFill>
          <a:ln w="9525">
            <a:solidFill>
              <a:srgbClr val="E5E7EB"/>
            </a:solidFill>
            <a:prstDash val="solid"/>
          </a:ln>
          <a:effectLst>
            <a:outerShdw sx="100000" sy="100000" kx="0" ky="0" algn="bl" rotWithShape="0" blurRad="76200" dist="25400" dir="5400000">
              <a:srgbClr val="000000">
                <a:alpha val="12000"/>
              </a:srgbClr>
            </a:outerShdw>
          </a:effectLst>
        </p:spPr>
      </p:sp>
      <p:sp>
        <p:nvSpPr>
          <p:cNvPr id="9" name="Shape 7"/>
          <p:cNvSpPr/>
          <p:nvPr/>
        </p:nvSpPr>
        <p:spPr>
          <a:xfrm>
            <a:off x="457200" y="1280160"/>
            <a:ext cx="2621280" cy="64008"/>
          </a:xfrm>
          <a:prstGeom prst="rect">
            <a:avLst/>
          </a:prstGeom>
          <a:solidFill>
            <a:srgbClr val="16345F"/>
          </a:solidFill>
          <a:ln w="12700">
            <a:solidFill>
              <a:srgbClr val="16345F"/>
            </a:solidFill>
            <a:prstDash val="solid"/>
          </a:ln>
        </p:spPr>
      </p:sp>
      <p:sp>
        <p:nvSpPr>
          <p:cNvPr id="10" name="Text 8"/>
          <p:cNvSpPr txBox="1"/>
          <p:nvPr/>
        </p:nvSpPr>
        <p:spPr>
          <a:xfrm>
            <a:off x="640080" y="1408176"/>
            <a:ext cx="2301240" cy="1234440"/>
          </a:xfrm>
          <a:prstGeom prst="rect">
            <a:avLst/>
          </a:prstGeom>
          <a:noFill/>
          <a:ln/>
        </p:spPr>
        <p:txBody>
          <a:bodyPr wrap="square" lIns="0" tIns="0" rIns="0" bIns="0" rtlCol="0" anchor="ctr"/>
          <a:lstStyle/>
          <a:p>
            <a:pPr indent="0" marL="0">
              <a:buNone/>
            </a:pPr>
            <a:r>
              <a:rPr lang="en-US" sz="1400" b="1" dirty="0">
                <a:solidFill>
                  <a:srgbClr val="0B1F3A"/>
                </a:solidFill>
                <a:latin typeface="Calibri" pitchFamily="34" charset="0"/>
                <a:ea typeface="Calibri" pitchFamily="34" charset="-122"/>
                <a:cs typeface="Calibri" pitchFamily="34" charset="-120"/>
              </a:rPr>
              <a:t>Email filtering</a:t>
            </a:r>
            <a:endParaRPr lang="en-US" sz="1400" dirty="0"/>
          </a:p>
          <a:p>
            <a:pPr indent="0" marL="0">
              <a:buNone/>
            </a:pPr>
            <a:r>
              <a:rPr lang="en-US" sz="1150" dirty="0">
                <a:solidFill>
                  <a:srgbClr val="1F2937"/>
                </a:solidFill>
                <a:latin typeface="Calibri" pitchFamily="34" charset="0"/>
                <a:ea typeface="Calibri" pitchFamily="34" charset="-122"/>
                <a:cs typeface="Calibri" pitchFamily="34" charset="-120"/>
              </a:rPr>
              <a:t>Spam filters and attachment sandboxing</a:t>
            </a:r>
            <a:endParaRPr lang="en-US" sz="1400" dirty="0"/>
          </a:p>
        </p:txBody>
      </p:sp>
      <p:sp>
        <p:nvSpPr>
          <p:cNvPr id="11" name="Shape 9"/>
          <p:cNvSpPr/>
          <p:nvPr/>
        </p:nvSpPr>
        <p:spPr>
          <a:xfrm>
            <a:off x="3261360" y="1280160"/>
            <a:ext cx="2621280" cy="1417320"/>
          </a:xfrm>
          <a:prstGeom prst="rect">
            <a:avLst/>
          </a:prstGeom>
          <a:solidFill>
            <a:srgbClr val="FFFFFF"/>
          </a:solidFill>
          <a:ln w="9525">
            <a:solidFill>
              <a:srgbClr val="E5E7EB"/>
            </a:solidFill>
            <a:prstDash val="solid"/>
          </a:ln>
          <a:effectLst>
            <a:outerShdw sx="100000" sy="100000" kx="0" ky="0" algn="bl" rotWithShape="0" blurRad="76200" dist="25400" dir="5400000">
              <a:srgbClr val="000000">
                <a:alpha val="12000"/>
              </a:srgbClr>
            </a:outerShdw>
          </a:effectLst>
        </p:spPr>
      </p:sp>
      <p:sp>
        <p:nvSpPr>
          <p:cNvPr id="12" name="Shape 10"/>
          <p:cNvSpPr/>
          <p:nvPr/>
        </p:nvSpPr>
        <p:spPr>
          <a:xfrm>
            <a:off x="3261360" y="1280160"/>
            <a:ext cx="2621280" cy="64008"/>
          </a:xfrm>
          <a:prstGeom prst="rect">
            <a:avLst/>
          </a:prstGeom>
          <a:solidFill>
            <a:srgbClr val="16345F"/>
          </a:solidFill>
          <a:ln w="12700">
            <a:solidFill>
              <a:srgbClr val="16345F"/>
            </a:solidFill>
            <a:prstDash val="solid"/>
          </a:ln>
        </p:spPr>
      </p:sp>
      <p:sp>
        <p:nvSpPr>
          <p:cNvPr id="13" name="Text 11"/>
          <p:cNvSpPr txBox="1"/>
          <p:nvPr/>
        </p:nvSpPr>
        <p:spPr>
          <a:xfrm>
            <a:off x="3444240" y="1408176"/>
            <a:ext cx="2301240" cy="1234440"/>
          </a:xfrm>
          <a:prstGeom prst="rect">
            <a:avLst/>
          </a:prstGeom>
          <a:noFill/>
          <a:ln/>
        </p:spPr>
        <p:txBody>
          <a:bodyPr wrap="square" lIns="0" tIns="0" rIns="0" bIns="0" rtlCol="0" anchor="ctr"/>
          <a:lstStyle/>
          <a:p>
            <a:pPr indent="0" marL="0">
              <a:buNone/>
            </a:pPr>
            <a:r>
              <a:rPr lang="en-US" sz="1400" b="1" dirty="0">
                <a:solidFill>
                  <a:srgbClr val="0B1F3A"/>
                </a:solidFill>
                <a:latin typeface="Calibri" pitchFamily="34" charset="0"/>
                <a:ea typeface="Calibri" pitchFamily="34" charset="-122"/>
                <a:cs typeface="Calibri" pitchFamily="34" charset="-120"/>
              </a:rPr>
              <a:t>SPF, DKIM and DMARC</a:t>
            </a:r>
            <a:endParaRPr lang="en-US" sz="1400" dirty="0"/>
          </a:p>
          <a:p>
            <a:pPr indent="0" marL="0">
              <a:buNone/>
            </a:pPr>
            <a:r>
              <a:rPr lang="en-US" sz="1150" dirty="0">
                <a:solidFill>
                  <a:srgbClr val="1F2937"/>
                </a:solidFill>
                <a:latin typeface="Calibri" pitchFamily="34" charset="0"/>
                <a:ea typeface="Calibri" pitchFamily="34" charset="-122"/>
                <a:cs typeface="Calibri" pitchFamily="34" charset="-120"/>
              </a:rPr>
              <a:t>Stop attackers spoofing your domain</a:t>
            </a:r>
            <a:endParaRPr lang="en-US" sz="1400" dirty="0"/>
          </a:p>
        </p:txBody>
      </p:sp>
      <p:sp>
        <p:nvSpPr>
          <p:cNvPr id="14" name="Shape 12"/>
          <p:cNvSpPr/>
          <p:nvPr/>
        </p:nvSpPr>
        <p:spPr>
          <a:xfrm>
            <a:off x="6065520" y="1280160"/>
            <a:ext cx="2621280" cy="1417320"/>
          </a:xfrm>
          <a:prstGeom prst="rect">
            <a:avLst/>
          </a:prstGeom>
          <a:solidFill>
            <a:srgbClr val="FFFFFF"/>
          </a:solidFill>
          <a:ln w="9525">
            <a:solidFill>
              <a:srgbClr val="E5E7EB"/>
            </a:solidFill>
            <a:prstDash val="solid"/>
          </a:ln>
          <a:effectLst>
            <a:outerShdw sx="100000" sy="100000" kx="0" ky="0" algn="bl" rotWithShape="0" blurRad="76200" dist="25400" dir="5400000">
              <a:srgbClr val="000000">
                <a:alpha val="12000"/>
              </a:srgbClr>
            </a:outerShdw>
          </a:effectLst>
        </p:spPr>
      </p:sp>
      <p:sp>
        <p:nvSpPr>
          <p:cNvPr id="15" name="Shape 13"/>
          <p:cNvSpPr/>
          <p:nvPr/>
        </p:nvSpPr>
        <p:spPr>
          <a:xfrm>
            <a:off x="6065520" y="1280160"/>
            <a:ext cx="2621280" cy="64008"/>
          </a:xfrm>
          <a:prstGeom prst="rect">
            <a:avLst/>
          </a:prstGeom>
          <a:solidFill>
            <a:srgbClr val="16345F"/>
          </a:solidFill>
          <a:ln w="12700">
            <a:solidFill>
              <a:srgbClr val="16345F"/>
            </a:solidFill>
            <a:prstDash val="solid"/>
          </a:ln>
        </p:spPr>
      </p:sp>
      <p:sp>
        <p:nvSpPr>
          <p:cNvPr id="16" name="Text 14"/>
          <p:cNvSpPr txBox="1"/>
          <p:nvPr/>
        </p:nvSpPr>
        <p:spPr>
          <a:xfrm>
            <a:off x="6248400" y="1408176"/>
            <a:ext cx="2301240" cy="1234440"/>
          </a:xfrm>
          <a:prstGeom prst="rect">
            <a:avLst/>
          </a:prstGeom>
          <a:noFill/>
          <a:ln/>
        </p:spPr>
        <p:txBody>
          <a:bodyPr wrap="square" lIns="0" tIns="0" rIns="0" bIns="0" rtlCol="0" anchor="ctr"/>
          <a:lstStyle/>
          <a:p>
            <a:pPr indent="0" marL="0">
              <a:buNone/>
            </a:pPr>
            <a:r>
              <a:rPr lang="en-US" sz="1400" b="1" dirty="0">
                <a:solidFill>
                  <a:srgbClr val="0B1F3A"/>
                </a:solidFill>
                <a:latin typeface="Calibri" pitchFamily="34" charset="0"/>
                <a:ea typeface="Calibri" pitchFamily="34" charset="-122"/>
                <a:cs typeface="Calibri" pitchFamily="34" charset="-120"/>
              </a:rPr>
              <a:t>Phishing-resistant MFA</a:t>
            </a:r>
            <a:endParaRPr lang="en-US" sz="1400" dirty="0"/>
          </a:p>
          <a:p>
            <a:pPr indent="0" marL="0">
              <a:buNone/>
            </a:pPr>
            <a:r>
              <a:rPr lang="en-US" sz="1150" dirty="0">
                <a:solidFill>
                  <a:srgbClr val="1F2937"/>
                </a:solidFill>
                <a:latin typeface="Calibri" pitchFamily="34" charset="0"/>
                <a:ea typeface="Calibri" pitchFamily="34" charset="-122"/>
                <a:cs typeface="Calibri" pitchFamily="34" charset="-120"/>
              </a:rPr>
              <a:t>Passkeys and hardware security keys</a:t>
            </a:r>
            <a:endParaRPr lang="en-US" sz="1400" dirty="0"/>
          </a:p>
        </p:txBody>
      </p:sp>
      <p:sp>
        <p:nvSpPr>
          <p:cNvPr id="17" name="Shape 15"/>
          <p:cNvSpPr/>
          <p:nvPr/>
        </p:nvSpPr>
        <p:spPr>
          <a:xfrm>
            <a:off x="457200" y="2862072"/>
            <a:ext cx="2621280" cy="1417320"/>
          </a:xfrm>
          <a:prstGeom prst="rect">
            <a:avLst/>
          </a:prstGeom>
          <a:solidFill>
            <a:srgbClr val="FFFFFF"/>
          </a:solidFill>
          <a:ln w="9525">
            <a:solidFill>
              <a:srgbClr val="E5E7EB"/>
            </a:solidFill>
            <a:prstDash val="solid"/>
          </a:ln>
          <a:effectLst>
            <a:outerShdw sx="100000" sy="100000" kx="0" ky="0" algn="bl" rotWithShape="0" blurRad="76200" dist="25400" dir="5400000">
              <a:srgbClr val="000000">
                <a:alpha val="12000"/>
              </a:srgbClr>
            </a:outerShdw>
          </a:effectLst>
        </p:spPr>
      </p:sp>
      <p:sp>
        <p:nvSpPr>
          <p:cNvPr id="18" name="Shape 16"/>
          <p:cNvSpPr/>
          <p:nvPr/>
        </p:nvSpPr>
        <p:spPr>
          <a:xfrm>
            <a:off x="457200" y="2862072"/>
            <a:ext cx="2621280" cy="64008"/>
          </a:xfrm>
          <a:prstGeom prst="rect">
            <a:avLst/>
          </a:prstGeom>
          <a:solidFill>
            <a:srgbClr val="16345F"/>
          </a:solidFill>
          <a:ln w="12700">
            <a:solidFill>
              <a:srgbClr val="16345F"/>
            </a:solidFill>
            <a:prstDash val="solid"/>
          </a:ln>
        </p:spPr>
      </p:sp>
      <p:sp>
        <p:nvSpPr>
          <p:cNvPr id="19" name="Text 17"/>
          <p:cNvSpPr txBox="1"/>
          <p:nvPr/>
        </p:nvSpPr>
        <p:spPr>
          <a:xfrm>
            <a:off x="640080" y="2990088"/>
            <a:ext cx="2301240" cy="1234440"/>
          </a:xfrm>
          <a:prstGeom prst="rect">
            <a:avLst/>
          </a:prstGeom>
          <a:noFill/>
          <a:ln/>
        </p:spPr>
        <p:txBody>
          <a:bodyPr wrap="square" lIns="0" tIns="0" rIns="0" bIns="0" rtlCol="0" anchor="ctr"/>
          <a:lstStyle/>
          <a:p>
            <a:pPr indent="0" marL="0">
              <a:buNone/>
            </a:pPr>
            <a:r>
              <a:rPr lang="en-US" sz="1400" b="1" dirty="0">
                <a:solidFill>
                  <a:srgbClr val="0B1F3A"/>
                </a:solidFill>
                <a:latin typeface="Calibri" pitchFamily="34" charset="0"/>
                <a:ea typeface="Calibri" pitchFamily="34" charset="-122"/>
                <a:cs typeface="Calibri" pitchFamily="34" charset="-120"/>
              </a:rPr>
              <a:t>Simulated phishing</a:t>
            </a:r>
            <a:endParaRPr lang="en-US" sz="1400" dirty="0"/>
          </a:p>
          <a:p>
            <a:pPr indent="0" marL="0">
              <a:buNone/>
            </a:pPr>
            <a:r>
              <a:rPr lang="en-US" sz="1150" dirty="0">
                <a:solidFill>
                  <a:srgbClr val="1F2937"/>
                </a:solidFill>
                <a:latin typeface="Calibri" pitchFamily="34" charset="0"/>
                <a:ea typeface="Calibri" pitchFamily="34" charset="-122"/>
                <a:cs typeface="Calibri" pitchFamily="34" charset="-120"/>
              </a:rPr>
              <a:t>Regular tests that train staff</a:t>
            </a:r>
            <a:endParaRPr lang="en-US" sz="1400" dirty="0"/>
          </a:p>
        </p:txBody>
      </p:sp>
      <p:sp>
        <p:nvSpPr>
          <p:cNvPr id="20" name="Shape 18"/>
          <p:cNvSpPr/>
          <p:nvPr/>
        </p:nvSpPr>
        <p:spPr>
          <a:xfrm>
            <a:off x="3261360" y="2862072"/>
            <a:ext cx="2621280" cy="1417320"/>
          </a:xfrm>
          <a:prstGeom prst="rect">
            <a:avLst/>
          </a:prstGeom>
          <a:solidFill>
            <a:srgbClr val="FFFFFF"/>
          </a:solidFill>
          <a:ln w="9525">
            <a:solidFill>
              <a:srgbClr val="E5E7EB"/>
            </a:solidFill>
            <a:prstDash val="solid"/>
          </a:ln>
          <a:effectLst>
            <a:outerShdw sx="100000" sy="100000" kx="0" ky="0" algn="bl" rotWithShape="0" blurRad="76200" dist="25400" dir="5400000">
              <a:srgbClr val="000000">
                <a:alpha val="12000"/>
              </a:srgbClr>
            </a:outerShdw>
          </a:effectLst>
        </p:spPr>
      </p:sp>
      <p:sp>
        <p:nvSpPr>
          <p:cNvPr id="21" name="Shape 19"/>
          <p:cNvSpPr/>
          <p:nvPr/>
        </p:nvSpPr>
        <p:spPr>
          <a:xfrm>
            <a:off x="3261360" y="2862072"/>
            <a:ext cx="2621280" cy="64008"/>
          </a:xfrm>
          <a:prstGeom prst="rect">
            <a:avLst/>
          </a:prstGeom>
          <a:solidFill>
            <a:srgbClr val="16345F"/>
          </a:solidFill>
          <a:ln w="12700">
            <a:solidFill>
              <a:srgbClr val="16345F"/>
            </a:solidFill>
            <a:prstDash val="solid"/>
          </a:ln>
        </p:spPr>
      </p:sp>
      <p:sp>
        <p:nvSpPr>
          <p:cNvPr id="22" name="Text 20"/>
          <p:cNvSpPr txBox="1"/>
          <p:nvPr/>
        </p:nvSpPr>
        <p:spPr>
          <a:xfrm>
            <a:off x="3444240" y="2990088"/>
            <a:ext cx="2301240" cy="1234440"/>
          </a:xfrm>
          <a:prstGeom prst="rect">
            <a:avLst/>
          </a:prstGeom>
          <a:noFill/>
          <a:ln/>
        </p:spPr>
        <p:txBody>
          <a:bodyPr wrap="square" lIns="0" tIns="0" rIns="0" bIns="0" rtlCol="0" anchor="ctr"/>
          <a:lstStyle/>
          <a:p>
            <a:pPr indent="0" marL="0">
              <a:buNone/>
            </a:pPr>
            <a:r>
              <a:rPr lang="en-US" sz="1400" b="1" dirty="0">
                <a:solidFill>
                  <a:srgbClr val="0B1F3A"/>
                </a:solidFill>
                <a:latin typeface="Calibri" pitchFamily="34" charset="0"/>
                <a:ea typeface="Calibri" pitchFamily="34" charset="-122"/>
                <a:cs typeface="Calibri" pitchFamily="34" charset="-120"/>
              </a:rPr>
              <a:t>One-click report button</a:t>
            </a:r>
            <a:endParaRPr lang="en-US" sz="1400" dirty="0"/>
          </a:p>
          <a:p>
            <a:pPr indent="0" marL="0">
              <a:buNone/>
            </a:pPr>
            <a:r>
              <a:rPr lang="en-US" sz="1150" dirty="0">
                <a:solidFill>
                  <a:srgbClr val="1F2937"/>
                </a:solidFill>
                <a:latin typeface="Calibri" pitchFamily="34" charset="0"/>
                <a:ea typeface="Calibri" pitchFamily="34" charset="-122"/>
                <a:cs typeface="Calibri" pitchFamily="34" charset="-120"/>
              </a:rPr>
              <a:t>Fast reporting to the security team</a:t>
            </a:r>
            <a:endParaRPr lang="en-US" sz="1400" dirty="0"/>
          </a:p>
        </p:txBody>
      </p:sp>
      <p:sp>
        <p:nvSpPr>
          <p:cNvPr id="23" name="Shape 21"/>
          <p:cNvSpPr/>
          <p:nvPr/>
        </p:nvSpPr>
        <p:spPr>
          <a:xfrm>
            <a:off x="6065520" y="2862072"/>
            <a:ext cx="2621280" cy="1417320"/>
          </a:xfrm>
          <a:prstGeom prst="rect">
            <a:avLst/>
          </a:prstGeom>
          <a:solidFill>
            <a:srgbClr val="FFFFFF"/>
          </a:solidFill>
          <a:ln w="9525">
            <a:solidFill>
              <a:srgbClr val="E5E7EB"/>
            </a:solidFill>
            <a:prstDash val="solid"/>
          </a:ln>
          <a:effectLst>
            <a:outerShdw sx="100000" sy="100000" kx="0" ky="0" algn="bl" rotWithShape="0" blurRad="76200" dist="25400" dir="5400000">
              <a:srgbClr val="000000">
                <a:alpha val="12000"/>
              </a:srgbClr>
            </a:outerShdw>
          </a:effectLst>
        </p:spPr>
      </p:sp>
      <p:sp>
        <p:nvSpPr>
          <p:cNvPr id="24" name="Shape 22"/>
          <p:cNvSpPr/>
          <p:nvPr/>
        </p:nvSpPr>
        <p:spPr>
          <a:xfrm>
            <a:off x="6065520" y="2862072"/>
            <a:ext cx="2621280" cy="64008"/>
          </a:xfrm>
          <a:prstGeom prst="rect">
            <a:avLst/>
          </a:prstGeom>
          <a:solidFill>
            <a:srgbClr val="16345F"/>
          </a:solidFill>
          <a:ln w="12700">
            <a:solidFill>
              <a:srgbClr val="16345F"/>
            </a:solidFill>
            <a:prstDash val="solid"/>
          </a:ln>
        </p:spPr>
      </p:sp>
      <p:sp>
        <p:nvSpPr>
          <p:cNvPr id="25" name="Text 23"/>
          <p:cNvSpPr txBox="1"/>
          <p:nvPr/>
        </p:nvSpPr>
        <p:spPr>
          <a:xfrm>
            <a:off x="6248400" y="2990088"/>
            <a:ext cx="2301240" cy="1234440"/>
          </a:xfrm>
          <a:prstGeom prst="rect">
            <a:avLst/>
          </a:prstGeom>
          <a:noFill/>
          <a:ln/>
        </p:spPr>
        <p:txBody>
          <a:bodyPr wrap="square" lIns="0" tIns="0" rIns="0" bIns="0" rtlCol="0" anchor="ctr"/>
          <a:lstStyle/>
          <a:p>
            <a:pPr indent="0" marL="0">
              <a:buNone/>
            </a:pPr>
            <a:r>
              <a:rPr lang="en-US" sz="1400" b="1" dirty="0">
                <a:solidFill>
                  <a:srgbClr val="0B1F3A"/>
                </a:solidFill>
                <a:latin typeface="Calibri" pitchFamily="34" charset="0"/>
                <a:ea typeface="Calibri" pitchFamily="34" charset="-122"/>
                <a:cs typeface="Calibri" pitchFamily="34" charset="-120"/>
              </a:rPr>
              <a:t>Incident playbook</a:t>
            </a:r>
            <a:endParaRPr lang="en-US" sz="1400" dirty="0"/>
          </a:p>
          <a:p>
            <a:pPr indent="0" marL="0">
              <a:buNone/>
            </a:pPr>
            <a:r>
              <a:rPr lang="en-US" sz="1150" dirty="0">
                <a:solidFill>
                  <a:srgbClr val="1F2937"/>
                </a:solidFill>
                <a:latin typeface="Calibri" pitchFamily="34" charset="0"/>
                <a:ea typeface="Calibri" pitchFamily="34" charset="-122"/>
                <a:cs typeface="Calibri" pitchFamily="34" charset="-120"/>
              </a:rPr>
              <a:t>A clear plan for when someone clicks</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14B8A6"/>
          </a:solidFill>
          <a:ln w="12700">
            <a:solidFill>
              <a:srgbClr val="14B8A6"/>
            </a:solidFill>
            <a:prstDash val="solid"/>
          </a:ln>
        </p:spPr>
      </p:sp>
      <p:sp>
        <p:nvSpPr>
          <p:cNvPr id="3" name="Text 1"/>
          <p:cNvSpPr txBox="1"/>
          <p:nvPr/>
        </p:nvSpPr>
        <p:spPr>
          <a:xfrm>
            <a:off x="457200" y="256032"/>
            <a:ext cx="5486400" cy="228600"/>
          </a:xfrm>
          <a:prstGeom prst="rect">
            <a:avLst/>
          </a:prstGeom>
          <a:noFill/>
          <a:ln/>
        </p:spPr>
        <p:txBody>
          <a:bodyPr wrap="square" lIns="0" tIns="0" rIns="0" bIns="0" rtlCol="0" anchor="ctr"/>
          <a:lstStyle/>
          <a:p>
            <a:pPr indent="0" marL="0">
              <a:buNone/>
            </a:pPr>
            <a:r>
              <a:rPr lang="en-US" sz="1100" b="1" spc="300" kern="0" dirty="0">
                <a:solidFill>
                  <a:srgbClr val="14B8A6"/>
                </a:solidFill>
                <a:latin typeface="Calibri" pitchFamily="34" charset="0"/>
                <a:ea typeface="Calibri" pitchFamily="34" charset="-122"/>
                <a:cs typeface="Calibri" pitchFamily="34" charset="-120"/>
              </a:rPr>
              <a:t>RESPOND</a:t>
            </a:r>
            <a:endParaRPr lang="en-US" sz="1100" dirty="0"/>
          </a:p>
        </p:txBody>
      </p:sp>
      <p:sp>
        <p:nvSpPr>
          <p:cNvPr id="4" name="Text 2"/>
          <p:cNvSpPr txBox="1"/>
          <p:nvPr/>
        </p:nvSpPr>
        <p:spPr>
          <a:xfrm>
            <a:off x="457200" y="475488"/>
            <a:ext cx="8229600" cy="548640"/>
          </a:xfrm>
          <a:prstGeom prst="rect">
            <a:avLst/>
          </a:prstGeom>
          <a:noFill/>
          <a:ln/>
        </p:spPr>
        <p:txBody>
          <a:bodyPr wrap="square" lIns="0" tIns="0" rIns="0" bIns="0" rtlCol="0" anchor="ctr"/>
          <a:lstStyle/>
          <a:p>
            <a:pPr indent="0" marL="0">
              <a:buNone/>
            </a:pPr>
            <a:r>
              <a:rPr lang="en-US" sz="2800" b="1" dirty="0">
                <a:solidFill>
                  <a:srgbClr val="0B1F3A"/>
                </a:solidFill>
                <a:latin typeface="Calibri" pitchFamily="34" charset="0"/>
                <a:ea typeface="Calibri" pitchFamily="34" charset="-122"/>
                <a:cs typeface="Calibri" pitchFamily="34" charset="-120"/>
              </a:rPr>
              <a:t>Clicked a suspicious link? Act fast</a:t>
            </a:r>
            <a:endParaRPr lang="en-US" sz="2800" dirty="0"/>
          </a:p>
        </p:txBody>
      </p:sp>
      <p:sp>
        <p:nvSpPr>
          <p:cNvPr id="5" name="Shape 3"/>
          <p:cNvSpPr/>
          <p:nvPr/>
        </p:nvSpPr>
        <p:spPr>
          <a:xfrm>
            <a:off x="457200" y="4800600"/>
            <a:ext cx="8229600" cy="0"/>
          </a:xfrm>
          <a:prstGeom prst="line">
            <a:avLst/>
          </a:prstGeom>
          <a:noFill/>
          <a:ln w="9525">
            <a:solidFill>
              <a:srgbClr val="D1D5DB"/>
            </a:solidFill>
            <a:prstDash val="solid"/>
          </a:ln>
        </p:spPr>
      </p:sp>
      <p:sp>
        <p:nvSpPr>
          <p:cNvPr id="6" name="Text 4"/>
          <p:cNvSpPr txBox="1"/>
          <p:nvPr/>
        </p:nvSpPr>
        <p:spPr>
          <a:xfrm>
            <a:off x="457200" y="4846320"/>
            <a:ext cx="5486400" cy="22860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CodeAlpha  |  Phishing Awareness Training</a:t>
            </a:r>
            <a:endParaRPr lang="en-US" sz="1000" dirty="0"/>
          </a:p>
        </p:txBody>
      </p:sp>
      <p:sp>
        <p:nvSpPr>
          <p:cNvPr id="7" name="Text 5"/>
          <p:cNvSpPr txBox="1"/>
          <p:nvPr/>
        </p:nvSpPr>
        <p:spPr>
          <a:xfrm>
            <a:off x="8229600" y="4846320"/>
            <a:ext cx="457200" cy="22860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14</a:t>
            </a:r>
            <a:endParaRPr lang="en-US" sz="1000" dirty="0"/>
          </a:p>
        </p:txBody>
      </p:sp>
      <p:sp>
        <p:nvSpPr>
          <p:cNvPr id="8" name="Shape 6"/>
          <p:cNvSpPr/>
          <p:nvPr/>
        </p:nvSpPr>
        <p:spPr>
          <a:xfrm>
            <a:off x="457200" y="1280160"/>
            <a:ext cx="8229600" cy="530352"/>
          </a:xfrm>
          <a:prstGeom prst="rect">
            <a:avLst/>
          </a:prstGeom>
          <a:solidFill>
            <a:srgbClr val="FFFFFF"/>
          </a:solidFill>
          <a:ln w="9525">
            <a:solidFill>
              <a:srgbClr val="E5E7EB"/>
            </a:solidFill>
            <a:prstDash val="solid"/>
          </a:ln>
        </p:spPr>
      </p:sp>
      <p:sp>
        <p:nvSpPr>
          <p:cNvPr id="9" name="Shape 7"/>
          <p:cNvSpPr/>
          <p:nvPr/>
        </p:nvSpPr>
        <p:spPr>
          <a:xfrm>
            <a:off x="566928" y="1344168"/>
            <a:ext cx="402336" cy="402336"/>
          </a:xfrm>
          <a:prstGeom prst="ellipse">
            <a:avLst/>
          </a:prstGeom>
          <a:solidFill>
            <a:srgbClr val="EF4444"/>
          </a:solidFill>
          <a:ln w="12700">
            <a:solidFill>
              <a:srgbClr val="EF4444"/>
            </a:solidFill>
            <a:prstDash val="solid"/>
          </a:ln>
        </p:spPr>
      </p:sp>
      <p:sp>
        <p:nvSpPr>
          <p:cNvPr id="10" name="Text 8"/>
          <p:cNvSpPr txBox="1"/>
          <p:nvPr/>
        </p:nvSpPr>
        <p:spPr>
          <a:xfrm>
            <a:off x="566928" y="134416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1" name="Text 9"/>
          <p:cNvSpPr txBox="1"/>
          <p:nvPr/>
        </p:nvSpPr>
        <p:spPr>
          <a:xfrm>
            <a:off x="1143000" y="1280160"/>
            <a:ext cx="7406640" cy="530352"/>
          </a:xfrm>
          <a:prstGeom prst="rect">
            <a:avLst/>
          </a:prstGeom>
          <a:noFill/>
          <a:ln/>
        </p:spPr>
        <p:txBody>
          <a:bodyPr wrap="square" lIns="0" tIns="0" rIns="0" bIns="0" rtlCol="0" anchor="ctr"/>
          <a:lstStyle/>
          <a:p>
            <a:pPr indent="0" marL="0">
              <a:buNone/>
            </a:pPr>
            <a:r>
              <a:rPr lang="en-US" sz="1600" dirty="0">
                <a:solidFill>
                  <a:srgbClr val="1F2937"/>
                </a:solidFill>
                <a:latin typeface="Calibri" pitchFamily="34" charset="0"/>
                <a:ea typeface="Calibri" pitchFamily="34" charset="-122"/>
                <a:cs typeface="Calibri" pitchFamily="34" charset="-120"/>
              </a:rPr>
              <a:t>Disconnect from the network</a:t>
            </a:r>
            <a:endParaRPr lang="en-US" sz="1600" dirty="0"/>
          </a:p>
        </p:txBody>
      </p:sp>
      <p:sp>
        <p:nvSpPr>
          <p:cNvPr id="12" name="Shape 10"/>
          <p:cNvSpPr/>
          <p:nvPr/>
        </p:nvSpPr>
        <p:spPr>
          <a:xfrm>
            <a:off x="457200" y="1938528"/>
            <a:ext cx="8229600" cy="530352"/>
          </a:xfrm>
          <a:prstGeom prst="rect">
            <a:avLst/>
          </a:prstGeom>
          <a:solidFill>
            <a:srgbClr val="FFFFFF"/>
          </a:solidFill>
          <a:ln w="9525">
            <a:solidFill>
              <a:srgbClr val="E5E7EB"/>
            </a:solidFill>
            <a:prstDash val="solid"/>
          </a:ln>
        </p:spPr>
      </p:sp>
      <p:sp>
        <p:nvSpPr>
          <p:cNvPr id="13" name="Shape 11"/>
          <p:cNvSpPr/>
          <p:nvPr/>
        </p:nvSpPr>
        <p:spPr>
          <a:xfrm>
            <a:off x="566928" y="2002536"/>
            <a:ext cx="402336" cy="402336"/>
          </a:xfrm>
          <a:prstGeom prst="ellipse">
            <a:avLst/>
          </a:prstGeom>
          <a:solidFill>
            <a:srgbClr val="EF4444"/>
          </a:solidFill>
          <a:ln w="12700">
            <a:solidFill>
              <a:srgbClr val="EF4444"/>
            </a:solidFill>
            <a:prstDash val="solid"/>
          </a:ln>
        </p:spPr>
      </p:sp>
      <p:sp>
        <p:nvSpPr>
          <p:cNvPr id="14" name="Text 12"/>
          <p:cNvSpPr txBox="1"/>
          <p:nvPr/>
        </p:nvSpPr>
        <p:spPr>
          <a:xfrm>
            <a:off x="566928" y="20025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5" name="Text 13"/>
          <p:cNvSpPr txBox="1"/>
          <p:nvPr/>
        </p:nvSpPr>
        <p:spPr>
          <a:xfrm>
            <a:off x="1143000" y="1938528"/>
            <a:ext cx="7406640" cy="530352"/>
          </a:xfrm>
          <a:prstGeom prst="rect">
            <a:avLst/>
          </a:prstGeom>
          <a:noFill/>
          <a:ln/>
        </p:spPr>
        <p:txBody>
          <a:bodyPr wrap="square" lIns="0" tIns="0" rIns="0" bIns="0" rtlCol="0" anchor="ctr"/>
          <a:lstStyle/>
          <a:p>
            <a:pPr indent="0" marL="0">
              <a:buNone/>
            </a:pPr>
            <a:r>
              <a:rPr lang="en-US" sz="1600" dirty="0">
                <a:solidFill>
                  <a:srgbClr val="1F2937"/>
                </a:solidFill>
                <a:latin typeface="Calibri" pitchFamily="34" charset="0"/>
                <a:ea typeface="Calibri" pitchFamily="34" charset="-122"/>
                <a:cs typeface="Calibri" pitchFamily="34" charset="-120"/>
              </a:rPr>
              <a:t>Change passwords, starting with the affected account</a:t>
            </a:r>
            <a:endParaRPr lang="en-US" sz="1600" dirty="0"/>
          </a:p>
        </p:txBody>
      </p:sp>
      <p:sp>
        <p:nvSpPr>
          <p:cNvPr id="16" name="Shape 14"/>
          <p:cNvSpPr/>
          <p:nvPr/>
        </p:nvSpPr>
        <p:spPr>
          <a:xfrm>
            <a:off x="457200" y="2596896"/>
            <a:ext cx="8229600" cy="530352"/>
          </a:xfrm>
          <a:prstGeom prst="rect">
            <a:avLst/>
          </a:prstGeom>
          <a:solidFill>
            <a:srgbClr val="FFFFFF"/>
          </a:solidFill>
          <a:ln w="9525">
            <a:solidFill>
              <a:srgbClr val="E5E7EB"/>
            </a:solidFill>
            <a:prstDash val="solid"/>
          </a:ln>
        </p:spPr>
      </p:sp>
      <p:sp>
        <p:nvSpPr>
          <p:cNvPr id="17" name="Shape 15"/>
          <p:cNvSpPr/>
          <p:nvPr/>
        </p:nvSpPr>
        <p:spPr>
          <a:xfrm>
            <a:off x="566928" y="2660904"/>
            <a:ext cx="402336" cy="402336"/>
          </a:xfrm>
          <a:prstGeom prst="ellipse">
            <a:avLst/>
          </a:prstGeom>
          <a:solidFill>
            <a:srgbClr val="EF4444"/>
          </a:solidFill>
          <a:ln w="12700">
            <a:solidFill>
              <a:srgbClr val="EF4444"/>
            </a:solidFill>
            <a:prstDash val="solid"/>
          </a:ln>
        </p:spPr>
      </p:sp>
      <p:sp>
        <p:nvSpPr>
          <p:cNvPr id="18" name="Text 16"/>
          <p:cNvSpPr txBox="1"/>
          <p:nvPr/>
        </p:nvSpPr>
        <p:spPr>
          <a:xfrm>
            <a:off x="566928" y="266090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7"/>
          <p:cNvSpPr txBox="1"/>
          <p:nvPr/>
        </p:nvSpPr>
        <p:spPr>
          <a:xfrm>
            <a:off x="1143000" y="2596896"/>
            <a:ext cx="7406640" cy="530352"/>
          </a:xfrm>
          <a:prstGeom prst="rect">
            <a:avLst/>
          </a:prstGeom>
          <a:noFill/>
          <a:ln/>
        </p:spPr>
        <p:txBody>
          <a:bodyPr wrap="square" lIns="0" tIns="0" rIns="0" bIns="0" rtlCol="0" anchor="ctr"/>
          <a:lstStyle/>
          <a:p>
            <a:pPr indent="0" marL="0">
              <a:buNone/>
            </a:pPr>
            <a:r>
              <a:rPr lang="en-US" sz="1600" dirty="0">
                <a:solidFill>
                  <a:srgbClr val="1F2937"/>
                </a:solidFill>
                <a:latin typeface="Calibri" pitchFamily="34" charset="0"/>
                <a:ea typeface="Calibri" pitchFamily="34" charset="-122"/>
                <a:cs typeface="Calibri" pitchFamily="34" charset="-120"/>
              </a:rPr>
              <a:t>Tell IT or security straight away</a:t>
            </a:r>
            <a:endParaRPr lang="en-US" sz="1600" dirty="0"/>
          </a:p>
        </p:txBody>
      </p:sp>
      <p:sp>
        <p:nvSpPr>
          <p:cNvPr id="20" name="Shape 18"/>
          <p:cNvSpPr/>
          <p:nvPr/>
        </p:nvSpPr>
        <p:spPr>
          <a:xfrm>
            <a:off x="457200" y="3255264"/>
            <a:ext cx="8229600" cy="530352"/>
          </a:xfrm>
          <a:prstGeom prst="rect">
            <a:avLst/>
          </a:prstGeom>
          <a:solidFill>
            <a:srgbClr val="FFFFFF"/>
          </a:solidFill>
          <a:ln w="9525">
            <a:solidFill>
              <a:srgbClr val="E5E7EB"/>
            </a:solidFill>
            <a:prstDash val="solid"/>
          </a:ln>
        </p:spPr>
      </p:sp>
      <p:sp>
        <p:nvSpPr>
          <p:cNvPr id="21" name="Shape 19"/>
          <p:cNvSpPr/>
          <p:nvPr/>
        </p:nvSpPr>
        <p:spPr>
          <a:xfrm>
            <a:off x="566928" y="3319272"/>
            <a:ext cx="402336" cy="402336"/>
          </a:xfrm>
          <a:prstGeom prst="ellipse">
            <a:avLst/>
          </a:prstGeom>
          <a:solidFill>
            <a:srgbClr val="14B8A6"/>
          </a:solidFill>
          <a:ln w="12700">
            <a:solidFill>
              <a:srgbClr val="14B8A6"/>
            </a:solidFill>
            <a:prstDash val="solid"/>
          </a:ln>
        </p:spPr>
      </p:sp>
      <p:sp>
        <p:nvSpPr>
          <p:cNvPr id="22" name="Text 20"/>
          <p:cNvSpPr txBox="1"/>
          <p:nvPr/>
        </p:nvSpPr>
        <p:spPr>
          <a:xfrm>
            <a:off x="566928" y="331927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3" name="Text 21"/>
          <p:cNvSpPr txBox="1"/>
          <p:nvPr/>
        </p:nvSpPr>
        <p:spPr>
          <a:xfrm>
            <a:off x="1143000" y="3255264"/>
            <a:ext cx="7406640" cy="530352"/>
          </a:xfrm>
          <a:prstGeom prst="rect">
            <a:avLst/>
          </a:prstGeom>
          <a:noFill/>
          <a:ln/>
        </p:spPr>
        <p:txBody>
          <a:bodyPr wrap="square" lIns="0" tIns="0" rIns="0" bIns="0" rtlCol="0" anchor="ctr"/>
          <a:lstStyle/>
          <a:p>
            <a:pPr indent="0" marL="0">
              <a:buNone/>
            </a:pPr>
            <a:r>
              <a:rPr lang="en-US" sz="1600" dirty="0">
                <a:solidFill>
                  <a:srgbClr val="1F2937"/>
                </a:solidFill>
                <a:latin typeface="Calibri" pitchFamily="34" charset="0"/>
                <a:ea typeface="Calibri" pitchFamily="34" charset="-122"/>
                <a:cs typeface="Calibri" pitchFamily="34" charset="-120"/>
              </a:rPr>
              <a:t>Turn on MFA and review account activity</a:t>
            </a:r>
            <a:endParaRPr lang="en-US" sz="1600" dirty="0"/>
          </a:p>
        </p:txBody>
      </p:sp>
      <p:sp>
        <p:nvSpPr>
          <p:cNvPr id="24" name="Shape 22"/>
          <p:cNvSpPr/>
          <p:nvPr/>
        </p:nvSpPr>
        <p:spPr>
          <a:xfrm>
            <a:off x="457200" y="3913632"/>
            <a:ext cx="8229600" cy="530352"/>
          </a:xfrm>
          <a:prstGeom prst="rect">
            <a:avLst/>
          </a:prstGeom>
          <a:solidFill>
            <a:srgbClr val="FFFFFF"/>
          </a:solidFill>
          <a:ln w="9525">
            <a:solidFill>
              <a:srgbClr val="E5E7EB"/>
            </a:solidFill>
            <a:prstDash val="solid"/>
          </a:ln>
        </p:spPr>
      </p:sp>
      <p:sp>
        <p:nvSpPr>
          <p:cNvPr id="25" name="Shape 23"/>
          <p:cNvSpPr/>
          <p:nvPr/>
        </p:nvSpPr>
        <p:spPr>
          <a:xfrm>
            <a:off x="566928" y="3977640"/>
            <a:ext cx="402336" cy="402336"/>
          </a:xfrm>
          <a:prstGeom prst="ellipse">
            <a:avLst/>
          </a:prstGeom>
          <a:solidFill>
            <a:srgbClr val="14B8A6"/>
          </a:solidFill>
          <a:ln w="12700">
            <a:solidFill>
              <a:srgbClr val="14B8A6"/>
            </a:solidFill>
            <a:prstDash val="solid"/>
          </a:ln>
        </p:spPr>
      </p:sp>
      <p:sp>
        <p:nvSpPr>
          <p:cNvPr id="26" name="Text 24"/>
          <p:cNvSpPr txBox="1"/>
          <p:nvPr/>
        </p:nvSpPr>
        <p:spPr>
          <a:xfrm>
            <a:off x="566928" y="397764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7" name="Text 25"/>
          <p:cNvSpPr txBox="1"/>
          <p:nvPr/>
        </p:nvSpPr>
        <p:spPr>
          <a:xfrm>
            <a:off x="1143000" y="3913632"/>
            <a:ext cx="7406640" cy="530352"/>
          </a:xfrm>
          <a:prstGeom prst="rect">
            <a:avLst/>
          </a:prstGeom>
          <a:noFill/>
          <a:ln/>
        </p:spPr>
        <p:txBody>
          <a:bodyPr wrap="square" lIns="0" tIns="0" rIns="0" bIns="0" rtlCol="0" anchor="ctr"/>
          <a:lstStyle/>
          <a:p>
            <a:pPr indent="0" marL="0">
              <a:buNone/>
            </a:pPr>
            <a:r>
              <a:rPr lang="en-US" sz="1600" dirty="0">
                <a:solidFill>
                  <a:srgbClr val="1F2937"/>
                </a:solidFill>
                <a:latin typeface="Calibri" pitchFamily="34" charset="0"/>
                <a:ea typeface="Calibri" pitchFamily="34" charset="-122"/>
                <a:cs typeface="Calibri" pitchFamily="34" charset="-120"/>
              </a:rPr>
              <a:t>Run a malware scan and watch for unusual charges</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14B8A6"/>
          </a:solidFill>
          <a:ln w="12700">
            <a:solidFill>
              <a:srgbClr val="14B8A6"/>
            </a:solidFill>
            <a:prstDash val="solid"/>
          </a:ln>
        </p:spPr>
      </p:sp>
      <p:sp>
        <p:nvSpPr>
          <p:cNvPr id="3" name="Text 1"/>
          <p:cNvSpPr txBox="1"/>
          <p:nvPr/>
        </p:nvSpPr>
        <p:spPr>
          <a:xfrm>
            <a:off x="457200" y="256032"/>
            <a:ext cx="5486400" cy="228600"/>
          </a:xfrm>
          <a:prstGeom prst="rect">
            <a:avLst/>
          </a:prstGeom>
          <a:noFill/>
          <a:ln/>
        </p:spPr>
        <p:txBody>
          <a:bodyPr wrap="square" lIns="0" tIns="0" rIns="0" bIns="0" rtlCol="0" anchor="ctr"/>
          <a:lstStyle/>
          <a:p>
            <a:pPr indent="0" marL="0">
              <a:buNone/>
            </a:pPr>
            <a:r>
              <a:rPr lang="en-US" sz="1100" b="1" spc="300" kern="0" dirty="0">
                <a:solidFill>
                  <a:srgbClr val="14B8A6"/>
                </a:solidFill>
                <a:latin typeface="Calibri" pitchFamily="34" charset="0"/>
                <a:ea typeface="Calibri" pitchFamily="34" charset="-122"/>
                <a:cs typeface="Calibri" pitchFamily="34" charset="-120"/>
              </a:rPr>
              <a:t>QUIZ</a:t>
            </a:r>
            <a:endParaRPr lang="en-US" sz="1100" dirty="0"/>
          </a:p>
        </p:txBody>
      </p:sp>
      <p:sp>
        <p:nvSpPr>
          <p:cNvPr id="4" name="Text 2"/>
          <p:cNvSpPr txBox="1"/>
          <p:nvPr/>
        </p:nvSpPr>
        <p:spPr>
          <a:xfrm>
            <a:off x="457200" y="475488"/>
            <a:ext cx="8229600" cy="548640"/>
          </a:xfrm>
          <a:prstGeom prst="rect">
            <a:avLst/>
          </a:prstGeom>
          <a:noFill/>
          <a:ln/>
        </p:spPr>
        <p:txBody>
          <a:bodyPr wrap="square" lIns="0" tIns="0" rIns="0" bIns="0" rtlCol="0" anchor="ctr"/>
          <a:lstStyle/>
          <a:p>
            <a:pPr indent="0" marL="0">
              <a:buNone/>
            </a:pPr>
            <a:r>
              <a:rPr lang="en-US" sz="2800" b="1" dirty="0">
                <a:solidFill>
                  <a:srgbClr val="0B1F3A"/>
                </a:solidFill>
                <a:latin typeface="Calibri" pitchFamily="34" charset="0"/>
                <a:ea typeface="Calibri" pitchFamily="34" charset="-122"/>
                <a:cs typeface="Calibri" pitchFamily="34" charset="-120"/>
              </a:rPr>
              <a:t>Spot the phish</a:t>
            </a:r>
            <a:endParaRPr lang="en-US" sz="2800" dirty="0"/>
          </a:p>
        </p:txBody>
      </p:sp>
      <p:sp>
        <p:nvSpPr>
          <p:cNvPr id="5" name="Shape 3"/>
          <p:cNvSpPr/>
          <p:nvPr/>
        </p:nvSpPr>
        <p:spPr>
          <a:xfrm>
            <a:off x="457200" y="4800600"/>
            <a:ext cx="8229600" cy="0"/>
          </a:xfrm>
          <a:prstGeom prst="line">
            <a:avLst/>
          </a:prstGeom>
          <a:noFill/>
          <a:ln w="9525">
            <a:solidFill>
              <a:srgbClr val="D1D5DB"/>
            </a:solidFill>
            <a:prstDash val="solid"/>
          </a:ln>
        </p:spPr>
      </p:sp>
      <p:sp>
        <p:nvSpPr>
          <p:cNvPr id="6" name="Text 4"/>
          <p:cNvSpPr txBox="1"/>
          <p:nvPr/>
        </p:nvSpPr>
        <p:spPr>
          <a:xfrm>
            <a:off x="457200" y="4846320"/>
            <a:ext cx="5486400" cy="22860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CodeAlpha  |  Phishing Awareness Training</a:t>
            </a:r>
            <a:endParaRPr lang="en-US" sz="1000" dirty="0"/>
          </a:p>
        </p:txBody>
      </p:sp>
      <p:sp>
        <p:nvSpPr>
          <p:cNvPr id="7" name="Text 5"/>
          <p:cNvSpPr txBox="1"/>
          <p:nvPr/>
        </p:nvSpPr>
        <p:spPr>
          <a:xfrm>
            <a:off x="8229600" y="4846320"/>
            <a:ext cx="457200" cy="22860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15</a:t>
            </a:r>
            <a:endParaRPr lang="en-US" sz="1000" dirty="0"/>
          </a:p>
        </p:txBody>
      </p:sp>
      <p:sp>
        <p:nvSpPr>
          <p:cNvPr id="8" name="Shape 6"/>
          <p:cNvSpPr/>
          <p:nvPr/>
        </p:nvSpPr>
        <p:spPr>
          <a:xfrm>
            <a:off x="457200" y="1280160"/>
            <a:ext cx="3931920" cy="2651760"/>
          </a:xfrm>
          <a:prstGeom prst="rect">
            <a:avLst/>
          </a:prstGeom>
          <a:solidFill>
            <a:srgbClr val="FFFFFF"/>
          </a:solidFill>
          <a:ln w="12700">
            <a:solidFill>
              <a:srgbClr val="9CA3AF"/>
            </a:solidFill>
            <a:prstDash val="solid"/>
          </a:ln>
          <a:effectLst>
            <a:outerShdw sx="100000" sy="100000" kx="0" ky="0" algn="bl" rotWithShape="0" blurRad="76200" dist="25400" dir="5400000">
              <a:srgbClr val="000000">
                <a:alpha val="12000"/>
              </a:srgbClr>
            </a:outerShdw>
          </a:effectLst>
        </p:spPr>
      </p:sp>
      <p:sp>
        <p:nvSpPr>
          <p:cNvPr id="9" name="Shape 7"/>
          <p:cNvSpPr/>
          <p:nvPr/>
        </p:nvSpPr>
        <p:spPr>
          <a:xfrm>
            <a:off x="457200" y="1280160"/>
            <a:ext cx="3931920" cy="365760"/>
          </a:xfrm>
          <a:prstGeom prst="rect">
            <a:avLst/>
          </a:prstGeom>
          <a:solidFill>
            <a:srgbClr val="16345F"/>
          </a:solidFill>
          <a:ln w="12700">
            <a:solidFill>
              <a:srgbClr val="16345F"/>
            </a:solidFill>
            <a:prstDash val="solid"/>
          </a:ln>
        </p:spPr>
      </p:sp>
      <p:sp>
        <p:nvSpPr>
          <p:cNvPr id="10" name="Text 8"/>
          <p:cNvSpPr txBox="1"/>
          <p:nvPr/>
        </p:nvSpPr>
        <p:spPr>
          <a:xfrm>
            <a:off x="594360" y="1280160"/>
            <a:ext cx="3657600" cy="36576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Email A</a:t>
            </a:r>
            <a:endParaRPr lang="en-US" sz="1300" dirty="0"/>
          </a:p>
        </p:txBody>
      </p:sp>
      <p:sp>
        <p:nvSpPr>
          <p:cNvPr id="11" name="Text 9"/>
          <p:cNvSpPr txBox="1"/>
          <p:nvPr/>
        </p:nvSpPr>
        <p:spPr>
          <a:xfrm>
            <a:off x="594360" y="1783080"/>
            <a:ext cx="3657600" cy="205740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From: IT Helpdesk &lt;helpdesk@micros0ft-support.com&gt;</a:t>
            </a:r>
            <a:endParaRPr lang="en-US" sz="1200" dirty="0"/>
          </a:p>
          <a:p>
            <a:pPr indent="0" marL="0">
              <a:buNone/>
            </a:pPr>
            <a:r>
              <a:rPr lang="en-US" sz="1200" dirty="0">
                <a:solidFill>
                  <a:srgbClr val="1F2937"/>
                </a:solidFill>
                <a:latin typeface="Calibri" pitchFamily="34" charset="0"/>
                <a:ea typeface="Calibri" pitchFamily="34" charset="-122"/>
                <a:cs typeface="Calibri" pitchFamily="34" charset="-120"/>
              </a:rPr>
              <a:t>Subject: Password expires TODAY</a:t>
            </a:r>
            <a:endParaRPr lang="en-US" sz="1200" dirty="0"/>
          </a:p>
          <a:p>
            <a:pPr indent="0" marL="0">
              <a:buNone/>
            </a:pPr>
            <a:endParaRPr lang="en-US" sz="1200" dirty="0"/>
          </a:p>
          <a:p>
            <a:pPr indent="0" marL="0">
              <a:buNone/>
            </a:pPr>
            <a:r>
              <a:rPr lang="en-US" sz="1200" dirty="0">
                <a:solidFill>
                  <a:srgbClr val="1F2937"/>
                </a:solidFill>
                <a:latin typeface="Calibri" pitchFamily="34" charset="0"/>
                <a:ea typeface="Calibri" pitchFamily="34" charset="-122"/>
                <a:cs typeface="Calibri" pitchFamily="34" charset="-120"/>
              </a:rPr>
              <a:t>Dear user, click here to keep your account:</a:t>
            </a:r>
            <a:endParaRPr lang="en-US" sz="1200" dirty="0"/>
          </a:p>
          <a:p>
            <a:pPr indent="0" marL="0">
              <a:buNone/>
            </a:pPr>
            <a:r>
              <a:rPr lang="en-US" sz="1200" dirty="0">
                <a:solidFill>
                  <a:srgbClr val="1F2937"/>
                </a:solidFill>
                <a:latin typeface="Calibri" pitchFamily="34" charset="0"/>
                <a:ea typeface="Calibri" pitchFamily="34" charset="-122"/>
                <a:cs typeface="Calibri" pitchFamily="34" charset="-120"/>
              </a:rPr>
              <a:t>http://bit.ly/reset-now</a:t>
            </a:r>
            <a:endParaRPr lang="en-US" sz="1200" dirty="0"/>
          </a:p>
          <a:p>
            <a:pPr indent="0" marL="0">
              <a:buNone/>
            </a:pPr>
            <a:endParaRPr lang="en-US" sz="1200" dirty="0"/>
          </a:p>
          <a:p>
            <a:pPr indent="0" marL="0">
              <a:buNone/>
            </a:pPr>
            <a:r>
              <a:rPr lang="en-US" sz="1200" dirty="0">
                <a:solidFill>
                  <a:srgbClr val="1F2937"/>
                </a:solidFill>
                <a:latin typeface="Calibri" pitchFamily="34" charset="0"/>
                <a:ea typeface="Calibri" pitchFamily="34" charset="-122"/>
                <a:cs typeface="Calibri" pitchFamily="34" charset="-120"/>
              </a:rPr>
              <a:t>Failure to act will lock you out.</a:t>
            </a:r>
            <a:endParaRPr lang="en-US" sz="1200" dirty="0"/>
          </a:p>
        </p:txBody>
      </p:sp>
      <p:sp>
        <p:nvSpPr>
          <p:cNvPr id="12" name="Shape 10"/>
          <p:cNvSpPr/>
          <p:nvPr/>
        </p:nvSpPr>
        <p:spPr>
          <a:xfrm>
            <a:off x="4754880" y="1280160"/>
            <a:ext cx="3931920" cy="2651760"/>
          </a:xfrm>
          <a:prstGeom prst="rect">
            <a:avLst/>
          </a:prstGeom>
          <a:solidFill>
            <a:srgbClr val="FFFFFF"/>
          </a:solidFill>
          <a:ln w="12700">
            <a:solidFill>
              <a:srgbClr val="9CA3AF"/>
            </a:solidFill>
            <a:prstDash val="solid"/>
          </a:ln>
          <a:effectLst>
            <a:outerShdw sx="100000" sy="100000" kx="0" ky="0" algn="bl" rotWithShape="0" blurRad="76200" dist="25400" dir="5400000">
              <a:srgbClr val="000000">
                <a:alpha val="12000"/>
              </a:srgbClr>
            </a:outerShdw>
          </a:effectLst>
        </p:spPr>
      </p:sp>
      <p:sp>
        <p:nvSpPr>
          <p:cNvPr id="13" name="Shape 11"/>
          <p:cNvSpPr/>
          <p:nvPr/>
        </p:nvSpPr>
        <p:spPr>
          <a:xfrm>
            <a:off x="4754880" y="1280160"/>
            <a:ext cx="3931920" cy="365760"/>
          </a:xfrm>
          <a:prstGeom prst="rect">
            <a:avLst/>
          </a:prstGeom>
          <a:solidFill>
            <a:srgbClr val="16345F"/>
          </a:solidFill>
          <a:ln w="12700">
            <a:solidFill>
              <a:srgbClr val="16345F"/>
            </a:solidFill>
            <a:prstDash val="solid"/>
          </a:ln>
        </p:spPr>
      </p:sp>
      <p:sp>
        <p:nvSpPr>
          <p:cNvPr id="14" name="Text 12"/>
          <p:cNvSpPr txBox="1"/>
          <p:nvPr/>
        </p:nvSpPr>
        <p:spPr>
          <a:xfrm>
            <a:off x="4892040" y="1280160"/>
            <a:ext cx="3657600" cy="36576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Email B</a:t>
            </a:r>
            <a:endParaRPr lang="en-US" sz="1300" dirty="0"/>
          </a:p>
        </p:txBody>
      </p:sp>
      <p:sp>
        <p:nvSpPr>
          <p:cNvPr id="15" name="Text 13"/>
          <p:cNvSpPr txBox="1"/>
          <p:nvPr/>
        </p:nvSpPr>
        <p:spPr>
          <a:xfrm>
            <a:off x="4892040" y="1783080"/>
            <a:ext cx="3657600" cy="205740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From: Priya Shah &lt;priya.shah@yourcompany.com&gt;</a:t>
            </a:r>
            <a:endParaRPr lang="en-US" sz="1200" dirty="0"/>
          </a:p>
          <a:p>
            <a:pPr indent="0" marL="0">
              <a:buNone/>
            </a:pPr>
            <a:r>
              <a:rPr lang="en-US" sz="1200" dirty="0">
                <a:solidFill>
                  <a:srgbClr val="1F2937"/>
                </a:solidFill>
                <a:latin typeface="Calibri" pitchFamily="34" charset="0"/>
                <a:ea typeface="Calibri" pitchFamily="34" charset="-122"/>
                <a:cs typeface="Calibri" pitchFamily="34" charset="-120"/>
              </a:rPr>
              <a:t>Subject: Agenda for Thursday's meeting</a:t>
            </a:r>
            <a:endParaRPr lang="en-US" sz="1200" dirty="0"/>
          </a:p>
          <a:p>
            <a:pPr indent="0" marL="0">
              <a:buNone/>
            </a:pPr>
            <a:endParaRPr lang="en-US" sz="1200" dirty="0"/>
          </a:p>
          <a:p>
            <a:pPr indent="0" marL="0">
              <a:buNone/>
            </a:pPr>
            <a:r>
              <a:rPr lang="en-US" sz="1200" dirty="0">
                <a:solidFill>
                  <a:srgbClr val="1F2937"/>
                </a:solidFill>
                <a:latin typeface="Calibri" pitchFamily="34" charset="0"/>
                <a:ea typeface="Calibri" pitchFamily="34" charset="-122"/>
                <a:cs typeface="Calibri" pitchFamily="34" charset="-120"/>
              </a:rPr>
              <a:t>Hi Sam, attached is the agenda we discussed in this morning's stand-up. Let me know if you'd like any changes.</a:t>
            </a:r>
            <a:endParaRPr lang="en-US" sz="1200" dirty="0"/>
          </a:p>
        </p:txBody>
      </p:sp>
      <p:sp>
        <p:nvSpPr>
          <p:cNvPr id="16" name="Text 14"/>
          <p:cNvSpPr txBox="1"/>
          <p:nvPr/>
        </p:nvSpPr>
        <p:spPr>
          <a:xfrm>
            <a:off x="457200" y="4114800"/>
            <a:ext cx="8229600" cy="457200"/>
          </a:xfrm>
          <a:prstGeom prst="rect">
            <a:avLst/>
          </a:prstGeom>
          <a:noFill/>
          <a:ln/>
        </p:spPr>
        <p:txBody>
          <a:bodyPr wrap="square" lIns="0" tIns="0" rIns="0" bIns="0" rtlCol="0" anchor="ctr"/>
          <a:lstStyle/>
          <a:p>
            <a:pPr algn="ctr" indent="0" marL="0">
              <a:buNone/>
            </a:pPr>
            <a:r>
              <a:rPr lang="en-US" sz="1600" b="1" dirty="0">
                <a:solidFill>
                  <a:srgbClr val="0B1F3A"/>
                </a:solidFill>
                <a:latin typeface="Calibri" pitchFamily="34" charset="0"/>
                <a:ea typeface="Calibri" pitchFamily="34" charset="-122"/>
                <a:cs typeface="Calibri" pitchFamily="34" charset="-120"/>
              </a:rPr>
              <a:t>Which one is phishing, and what gave it away?  Vote now.</a:t>
            </a:r>
            <a:endParaRPr 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14B8A6"/>
          </a:solidFill>
          <a:ln w="12700">
            <a:solidFill>
              <a:srgbClr val="14B8A6"/>
            </a:solidFill>
            <a:prstDash val="solid"/>
          </a:ln>
        </p:spPr>
      </p:sp>
      <p:sp>
        <p:nvSpPr>
          <p:cNvPr id="3" name="Text 1"/>
          <p:cNvSpPr txBox="1"/>
          <p:nvPr/>
        </p:nvSpPr>
        <p:spPr>
          <a:xfrm>
            <a:off x="457200" y="256032"/>
            <a:ext cx="5486400" cy="228600"/>
          </a:xfrm>
          <a:prstGeom prst="rect">
            <a:avLst/>
          </a:prstGeom>
          <a:noFill/>
          <a:ln/>
        </p:spPr>
        <p:txBody>
          <a:bodyPr wrap="square" lIns="0" tIns="0" rIns="0" bIns="0" rtlCol="0" anchor="ctr"/>
          <a:lstStyle/>
          <a:p>
            <a:pPr indent="0" marL="0">
              <a:buNone/>
            </a:pPr>
            <a:r>
              <a:rPr lang="en-US" sz="1100" b="1" spc="300" kern="0" dirty="0">
                <a:solidFill>
                  <a:srgbClr val="14B8A6"/>
                </a:solidFill>
                <a:latin typeface="Calibri" pitchFamily="34" charset="0"/>
                <a:ea typeface="Calibri" pitchFamily="34" charset="-122"/>
                <a:cs typeface="Calibri" pitchFamily="34" charset="-120"/>
              </a:rPr>
              <a:t>QUIZ</a:t>
            </a:r>
            <a:endParaRPr lang="en-US" sz="1100" dirty="0"/>
          </a:p>
        </p:txBody>
      </p:sp>
      <p:sp>
        <p:nvSpPr>
          <p:cNvPr id="4" name="Text 2"/>
          <p:cNvSpPr txBox="1"/>
          <p:nvPr/>
        </p:nvSpPr>
        <p:spPr>
          <a:xfrm>
            <a:off x="457200" y="475488"/>
            <a:ext cx="8229600" cy="548640"/>
          </a:xfrm>
          <a:prstGeom prst="rect">
            <a:avLst/>
          </a:prstGeom>
          <a:noFill/>
          <a:ln/>
        </p:spPr>
        <p:txBody>
          <a:bodyPr wrap="square" lIns="0" tIns="0" rIns="0" bIns="0" rtlCol="0" anchor="ctr"/>
          <a:lstStyle/>
          <a:p>
            <a:pPr indent="0" marL="0">
              <a:buNone/>
            </a:pPr>
            <a:r>
              <a:rPr lang="en-US" sz="2800" b="1" dirty="0">
                <a:solidFill>
                  <a:srgbClr val="0B1F3A"/>
                </a:solidFill>
                <a:latin typeface="Calibri" pitchFamily="34" charset="0"/>
                <a:ea typeface="Calibri" pitchFamily="34" charset="-122"/>
                <a:cs typeface="Calibri" pitchFamily="34" charset="-120"/>
              </a:rPr>
              <a:t>Quiz time</a:t>
            </a:r>
            <a:endParaRPr lang="en-US" sz="2800" dirty="0"/>
          </a:p>
        </p:txBody>
      </p:sp>
      <p:sp>
        <p:nvSpPr>
          <p:cNvPr id="5" name="Shape 3"/>
          <p:cNvSpPr/>
          <p:nvPr/>
        </p:nvSpPr>
        <p:spPr>
          <a:xfrm>
            <a:off x="457200" y="4800600"/>
            <a:ext cx="8229600" cy="0"/>
          </a:xfrm>
          <a:prstGeom prst="line">
            <a:avLst/>
          </a:prstGeom>
          <a:noFill/>
          <a:ln w="9525">
            <a:solidFill>
              <a:srgbClr val="D1D5DB"/>
            </a:solidFill>
            <a:prstDash val="solid"/>
          </a:ln>
        </p:spPr>
      </p:sp>
      <p:sp>
        <p:nvSpPr>
          <p:cNvPr id="6" name="Text 4"/>
          <p:cNvSpPr txBox="1"/>
          <p:nvPr/>
        </p:nvSpPr>
        <p:spPr>
          <a:xfrm>
            <a:off x="457200" y="4846320"/>
            <a:ext cx="5486400" cy="22860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CodeAlpha  |  Phishing Awareness Training</a:t>
            </a:r>
            <a:endParaRPr lang="en-US" sz="1000" dirty="0"/>
          </a:p>
        </p:txBody>
      </p:sp>
      <p:sp>
        <p:nvSpPr>
          <p:cNvPr id="7" name="Text 5"/>
          <p:cNvSpPr txBox="1"/>
          <p:nvPr/>
        </p:nvSpPr>
        <p:spPr>
          <a:xfrm>
            <a:off x="8229600" y="4846320"/>
            <a:ext cx="457200" cy="22860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16</a:t>
            </a:r>
            <a:endParaRPr lang="en-US" sz="1000" dirty="0"/>
          </a:p>
        </p:txBody>
      </p:sp>
      <p:sp>
        <p:nvSpPr>
          <p:cNvPr id="8" name="Shape 6"/>
          <p:cNvSpPr/>
          <p:nvPr/>
        </p:nvSpPr>
        <p:spPr>
          <a:xfrm>
            <a:off x="457200" y="1234440"/>
            <a:ext cx="8229600" cy="585216"/>
          </a:xfrm>
          <a:prstGeom prst="rect">
            <a:avLst/>
          </a:prstGeom>
          <a:solidFill>
            <a:srgbClr val="FFFFFF"/>
          </a:solidFill>
          <a:ln w="9525">
            <a:solidFill>
              <a:srgbClr val="E5E7EB"/>
            </a:solidFill>
            <a:prstDash val="solid"/>
          </a:ln>
          <a:effectLst>
            <a:outerShdw sx="100000" sy="100000" kx="0" ky="0" algn="bl" rotWithShape="0" blurRad="76200" dist="25400" dir="5400000">
              <a:srgbClr val="000000">
                <a:alpha val="12000"/>
              </a:srgbClr>
            </a:outerShdw>
          </a:effectLst>
        </p:spPr>
      </p:sp>
      <p:sp>
        <p:nvSpPr>
          <p:cNvPr id="9" name="Shape 7"/>
          <p:cNvSpPr/>
          <p:nvPr/>
        </p:nvSpPr>
        <p:spPr>
          <a:xfrm>
            <a:off x="457200" y="1234440"/>
            <a:ext cx="8229600" cy="64008"/>
          </a:xfrm>
          <a:prstGeom prst="rect">
            <a:avLst/>
          </a:prstGeom>
          <a:solidFill>
            <a:srgbClr val="14B8A6"/>
          </a:solidFill>
          <a:ln w="12700">
            <a:solidFill>
              <a:srgbClr val="14B8A6"/>
            </a:solidFill>
            <a:prstDash val="solid"/>
          </a:ln>
        </p:spPr>
      </p:sp>
      <p:sp>
        <p:nvSpPr>
          <p:cNvPr id="10" name="Shape 8"/>
          <p:cNvSpPr/>
          <p:nvPr/>
        </p:nvSpPr>
        <p:spPr>
          <a:xfrm>
            <a:off x="621792" y="1463040"/>
            <a:ext cx="384048" cy="384048"/>
          </a:xfrm>
          <a:prstGeom prst="ellipse">
            <a:avLst/>
          </a:prstGeom>
          <a:solidFill>
            <a:srgbClr val="14B8A6"/>
          </a:solidFill>
          <a:ln w="12700">
            <a:solidFill>
              <a:srgbClr val="14B8A6"/>
            </a:solidFill>
            <a:prstDash val="solid"/>
          </a:ln>
        </p:spPr>
      </p:sp>
      <p:sp>
        <p:nvSpPr>
          <p:cNvPr id="11" name="Text 9"/>
          <p:cNvSpPr txBox="1"/>
          <p:nvPr/>
        </p:nvSpPr>
        <p:spPr>
          <a:xfrm>
            <a:off x="621792" y="146304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2" name="Text 10"/>
          <p:cNvSpPr txBox="1"/>
          <p:nvPr/>
        </p:nvSpPr>
        <p:spPr>
          <a:xfrm>
            <a:off x="1115568" y="1362456"/>
            <a:ext cx="7434072" cy="402336"/>
          </a:xfrm>
          <a:prstGeom prst="rect">
            <a:avLst/>
          </a:prstGeom>
          <a:noFill/>
          <a:ln/>
        </p:spPr>
        <p:txBody>
          <a:bodyPr wrap="square" lIns="0" tIns="0" rIns="0" bIns="0" rtlCol="0" anchor="ctr"/>
          <a:lstStyle/>
          <a:p>
            <a:pPr indent="0" marL="0">
              <a:buNone/>
            </a:pPr>
            <a:endParaRPr lang="en-US" sz="1400" dirty="0"/>
          </a:p>
          <a:p>
            <a:pPr indent="0" marL="0">
              <a:buNone/>
            </a:pPr>
            <a:r>
              <a:rPr lang="en-US" sz="1150" dirty="0">
                <a:solidFill>
                  <a:srgbClr val="1F2937"/>
                </a:solidFill>
                <a:latin typeface="Calibri" pitchFamily="34" charset="0"/>
                <a:ea typeface="Calibri" pitchFamily="34" charset="-122"/>
                <a:cs typeface="Calibri" pitchFamily="34" charset="-120"/>
              </a:rPr>
              <a:t>Email from it-support@micros0ft-help.com demands a reset within 1 hour. Red flag?</a:t>
            </a:r>
            <a:endParaRPr lang="en-US" sz="1400" dirty="0"/>
          </a:p>
        </p:txBody>
      </p:sp>
      <p:sp>
        <p:nvSpPr>
          <p:cNvPr id="13" name="Shape 11"/>
          <p:cNvSpPr/>
          <p:nvPr/>
        </p:nvSpPr>
        <p:spPr>
          <a:xfrm>
            <a:off x="457200" y="1911096"/>
            <a:ext cx="8229600" cy="585216"/>
          </a:xfrm>
          <a:prstGeom prst="rect">
            <a:avLst/>
          </a:prstGeom>
          <a:solidFill>
            <a:srgbClr val="FFFFFF"/>
          </a:solidFill>
          <a:ln w="9525">
            <a:solidFill>
              <a:srgbClr val="E5E7EB"/>
            </a:solidFill>
            <a:prstDash val="solid"/>
          </a:ln>
          <a:effectLst>
            <a:outerShdw sx="100000" sy="100000" kx="0" ky="0" algn="bl" rotWithShape="0" blurRad="76200" dist="25400" dir="5400000">
              <a:srgbClr val="000000">
                <a:alpha val="12000"/>
              </a:srgbClr>
            </a:outerShdw>
          </a:effectLst>
        </p:spPr>
      </p:sp>
      <p:sp>
        <p:nvSpPr>
          <p:cNvPr id="14" name="Shape 12"/>
          <p:cNvSpPr/>
          <p:nvPr/>
        </p:nvSpPr>
        <p:spPr>
          <a:xfrm>
            <a:off x="457200" y="1911096"/>
            <a:ext cx="8229600" cy="64008"/>
          </a:xfrm>
          <a:prstGeom prst="rect">
            <a:avLst/>
          </a:prstGeom>
          <a:solidFill>
            <a:srgbClr val="F59E0B"/>
          </a:solidFill>
          <a:ln w="12700">
            <a:solidFill>
              <a:srgbClr val="F59E0B"/>
            </a:solidFill>
            <a:prstDash val="solid"/>
          </a:ln>
        </p:spPr>
      </p:sp>
      <p:sp>
        <p:nvSpPr>
          <p:cNvPr id="15" name="Shape 13"/>
          <p:cNvSpPr/>
          <p:nvPr/>
        </p:nvSpPr>
        <p:spPr>
          <a:xfrm>
            <a:off x="621792" y="2139696"/>
            <a:ext cx="384048" cy="384048"/>
          </a:xfrm>
          <a:prstGeom prst="ellipse">
            <a:avLst/>
          </a:prstGeom>
          <a:solidFill>
            <a:srgbClr val="F59E0B"/>
          </a:solidFill>
          <a:ln w="12700">
            <a:solidFill>
              <a:srgbClr val="F59E0B"/>
            </a:solidFill>
            <a:prstDash val="solid"/>
          </a:ln>
        </p:spPr>
      </p:sp>
      <p:sp>
        <p:nvSpPr>
          <p:cNvPr id="16" name="Text 14"/>
          <p:cNvSpPr txBox="1"/>
          <p:nvPr/>
        </p:nvSpPr>
        <p:spPr>
          <a:xfrm>
            <a:off x="621792" y="213969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5"/>
          <p:cNvSpPr txBox="1"/>
          <p:nvPr/>
        </p:nvSpPr>
        <p:spPr>
          <a:xfrm>
            <a:off x="1115568" y="2039112"/>
            <a:ext cx="7434072" cy="402336"/>
          </a:xfrm>
          <a:prstGeom prst="rect">
            <a:avLst/>
          </a:prstGeom>
          <a:noFill/>
          <a:ln/>
        </p:spPr>
        <p:txBody>
          <a:bodyPr wrap="square" lIns="0" tIns="0" rIns="0" bIns="0" rtlCol="0" anchor="ctr"/>
          <a:lstStyle/>
          <a:p>
            <a:pPr indent="0" marL="0">
              <a:buNone/>
            </a:pPr>
            <a:endParaRPr lang="en-US" sz="1400" dirty="0"/>
          </a:p>
          <a:p>
            <a:pPr indent="0" marL="0">
              <a:buNone/>
            </a:pPr>
            <a:r>
              <a:rPr lang="en-US" sz="1150" dirty="0">
                <a:solidFill>
                  <a:srgbClr val="1F2937"/>
                </a:solidFill>
                <a:latin typeface="Calibri" pitchFamily="34" charset="0"/>
                <a:ea typeface="Calibri" pitchFamily="34" charset="-122"/>
                <a:cs typeface="Calibri" pitchFamily="34" charset="-120"/>
              </a:rPr>
              <a:t>True or false: a padlock means a website is safe.</a:t>
            </a:r>
            <a:endParaRPr lang="en-US" sz="1400" dirty="0"/>
          </a:p>
        </p:txBody>
      </p:sp>
      <p:sp>
        <p:nvSpPr>
          <p:cNvPr id="18" name="Shape 16"/>
          <p:cNvSpPr/>
          <p:nvPr/>
        </p:nvSpPr>
        <p:spPr>
          <a:xfrm>
            <a:off x="457200" y="2587752"/>
            <a:ext cx="8229600" cy="585216"/>
          </a:xfrm>
          <a:prstGeom prst="rect">
            <a:avLst/>
          </a:prstGeom>
          <a:solidFill>
            <a:srgbClr val="FFFFFF"/>
          </a:solidFill>
          <a:ln w="9525">
            <a:solidFill>
              <a:srgbClr val="E5E7EB"/>
            </a:solidFill>
            <a:prstDash val="solid"/>
          </a:ln>
          <a:effectLst>
            <a:outerShdw sx="100000" sy="100000" kx="0" ky="0" algn="bl" rotWithShape="0" blurRad="76200" dist="25400" dir="5400000">
              <a:srgbClr val="000000">
                <a:alpha val="12000"/>
              </a:srgbClr>
            </a:outerShdw>
          </a:effectLst>
        </p:spPr>
      </p:sp>
      <p:sp>
        <p:nvSpPr>
          <p:cNvPr id="19" name="Shape 17"/>
          <p:cNvSpPr/>
          <p:nvPr/>
        </p:nvSpPr>
        <p:spPr>
          <a:xfrm>
            <a:off x="457200" y="2587752"/>
            <a:ext cx="8229600" cy="64008"/>
          </a:xfrm>
          <a:prstGeom prst="rect">
            <a:avLst/>
          </a:prstGeom>
          <a:solidFill>
            <a:srgbClr val="EF4444"/>
          </a:solidFill>
          <a:ln w="12700">
            <a:solidFill>
              <a:srgbClr val="EF4444"/>
            </a:solidFill>
            <a:prstDash val="solid"/>
          </a:ln>
        </p:spPr>
      </p:sp>
      <p:sp>
        <p:nvSpPr>
          <p:cNvPr id="20" name="Shape 18"/>
          <p:cNvSpPr/>
          <p:nvPr/>
        </p:nvSpPr>
        <p:spPr>
          <a:xfrm>
            <a:off x="621792" y="2816352"/>
            <a:ext cx="384048" cy="384048"/>
          </a:xfrm>
          <a:prstGeom prst="ellipse">
            <a:avLst/>
          </a:prstGeom>
          <a:solidFill>
            <a:srgbClr val="EF4444"/>
          </a:solidFill>
          <a:ln w="12700">
            <a:solidFill>
              <a:srgbClr val="EF4444"/>
            </a:solidFill>
            <a:prstDash val="solid"/>
          </a:ln>
        </p:spPr>
      </p:sp>
      <p:sp>
        <p:nvSpPr>
          <p:cNvPr id="21" name="Text 19"/>
          <p:cNvSpPr txBox="1"/>
          <p:nvPr/>
        </p:nvSpPr>
        <p:spPr>
          <a:xfrm>
            <a:off x="621792" y="281635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2" name="Text 20"/>
          <p:cNvSpPr txBox="1"/>
          <p:nvPr/>
        </p:nvSpPr>
        <p:spPr>
          <a:xfrm>
            <a:off x="1115568" y="2715768"/>
            <a:ext cx="7434072" cy="402336"/>
          </a:xfrm>
          <a:prstGeom prst="rect">
            <a:avLst/>
          </a:prstGeom>
          <a:noFill/>
          <a:ln/>
        </p:spPr>
        <p:txBody>
          <a:bodyPr wrap="square" lIns="0" tIns="0" rIns="0" bIns="0" rtlCol="0" anchor="ctr"/>
          <a:lstStyle/>
          <a:p>
            <a:pPr indent="0" marL="0">
              <a:buNone/>
            </a:pPr>
            <a:endParaRPr lang="en-US" sz="1400" dirty="0"/>
          </a:p>
          <a:p>
            <a:pPr indent="0" marL="0">
              <a:buNone/>
            </a:pPr>
            <a:r>
              <a:rPr lang="en-US" sz="1150" dirty="0">
                <a:solidFill>
                  <a:srgbClr val="1F2937"/>
                </a:solidFill>
                <a:latin typeface="Calibri" pitchFamily="34" charset="0"/>
                <a:ea typeface="Calibri" pitchFamily="34" charset="-122"/>
                <a:cs typeface="Calibri" pitchFamily="34" charset="-120"/>
              </a:rPr>
              <a:t>Your 'boss' texts: buy gift cards now and keep it quiet. What do you do?</a:t>
            </a:r>
            <a:endParaRPr lang="en-US" sz="1400" dirty="0"/>
          </a:p>
        </p:txBody>
      </p:sp>
      <p:sp>
        <p:nvSpPr>
          <p:cNvPr id="23" name="Shape 21"/>
          <p:cNvSpPr/>
          <p:nvPr/>
        </p:nvSpPr>
        <p:spPr>
          <a:xfrm>
            <a:off x="457200" y="3264408"/>
            <a:ext cx="8229600" cy="585216"/>
          </a:xfrm>
          <a:prstGeom prst="rect">
            <a:avLst/>
          </a:prstGeom>
          <a:solidFill>
            <a:srgbClr val="FFFFFF"/>
          </a:solidFill>
          <a:ln w="9525">
            <a:solidFill>
              <a:srgbClr val="E5E7EB"/>
            </a:solidFill>
            <a:prstDash val="solid"/>
          </a:ln>
          <a:effectLst>
            <a:outerShdw sx="100000" sy="100000" kx="0" ky="0" algn="bl" rotWithShape="0" blurRad="76200" dist="25400" dir="5400000">
              <a:srgbClr val="000000">
                <a:alpha val="12000"/>
              </a:srgbClr>
            </a:outerShdw>
          </a:effectLst>
        </p:spPr>
      </p:sp>
      <p:sp>
        <p:nvSpPr>
          <p:cNvPr id="24" name="Shape 22"/>
          <p:cNvSpPr/>
          <p:nvPr/>
        </p:nvSpPr>
        <p:spPr>
          <a:xfrm>
            <a:off x="457200" y="3264408"/>
            <a:ext cx="8229600" cy="64008"/>
          </a:xfrm>
          <a:prstGeom prst="rect">
            <a:avLst/>
          </a:prstGeom>
          <a:solidFill>
            <a:srgbClr val="16345F"/>
          </a:solidFill>
          <a:ln w="12700">
            <a:solidFill>
              <a:srgbClr val="16345F"/>
            </a:solidFill>
            <a:prstDash val="solid"/>
          </a:ln>
        </p:spPr>
      </p:sp>
      <p:sp>
        <p:nvSpPr>
          <p:cNvPr id="25" name="Shape 23"/>
          <p:cNvSpPr/>
          <p:nvPr/>
        </p:nvSpPr>
        <p:spPr>
          <a:xfrm>
            <a:off x="621792" y="3493008"/>
            <a:ext cx="384048" cy="384048"/>
          </a:xfrm>
          <a:prstGeom prst="ellipse">
            <a:avLst/>
          </a:prstGeom>
          <a:solidFill>
            <a:srgbClr val="16345F"/>
          </a:solidFill>
          <a:ln w="12700">
            <a:solidFill>
              <a:srgbClr val="16345F"/>
            </a:solidFill>
            <a:prstDash val="solid"/>
          </a:ln>
        </p:spPr>
      </p:sp>
      <p:sp>
        <p:nvSpPr>
          <p:cNvPr id="26" name="Text 24"/>
          <p:cNvSpPr txBox="1"/>
          <p:nvPr/>
        </p:nvSpPr>
        <p:spPr>
          <a:xfrm>
            <a:off x="621792" y="349300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7" name="Text 25"/>
          <p:cNvSpPr txBox="1"/>
          <p:nvPr/>
        </p:nvSpPr>
        <p:spPr>
          <a:xfrm>
            <a:off x="1115568" y="3392424"/>
            <a:ext cx="7434072" cy="402336"/>
          </a:xfrm>
          <a:prstGeom prst="rect">
            <a:avLst/>
          </a:prstGeom>
          <a:noFill/>
          <a:ln/>
        </p:spPr>
        <p:txBody>
          <a:bodyPr wrap="square" lIns="0" tIns="0" rIns="0" bIns="0" rtlCol="0" anchor="ctr"/>
          <a:lstStyle/>
          <a:p>
            <a:pPr indent="0" marL="0">
              <a:buNone/>
            </a:pPr>
            <a:endParaRPr lang="en-US" sz="1400" dirty="0"/>
          </a:p>
          <a:p>
            <a:pPr indent="0" marL="0">
              <a:buNone/>
            </a:pPr>
            <a:r>
              <a:rPr lang="en-US" sz="1150" dirty="0">
                <a:solidFill>
                  <a:srgbClr val="1F2937"/>
                </a:solidFill>
                <a:latin typeface="Calibri" pitchFamily="34" charset="0"/>
                <a:ea typeface="Calibri" pitchFamily="34" charset="-122"/>
                <a:cs typeface="Calibri" pitchFamily="34" charset="-120"/>
              </a:rPr>
              <a:t>Safest link? (a) paypal.com.secure-login.net (b) paypal.com (c) paypa1.com</a:t>
            </a:r>
            <a:endParaRPr lang="en-US" sz="1400" dirty="0"/>
          </a:p>
        </p:txBody>
      </p:sp>
      <p:sp>
        <p:nvSpPr>
          <p:cNvPr id="28" name="Shape 26"/>
          <p:cNvSpPr/>
          <p:nvPr/>
        </p:nvSpPr>
        <p:spPr>
          <a:xfrm>
            <a:off x="457200" y="3941064"/>
            <a:ext cx="8229600" cy="585216"/>
          </a:xfrm>
          <a:prstGeom prst="rect">
            <a:avLst/>
          </a:prstGeom>
          <a:solidFill>
            <a:srgbClr val="FFFFFF"/>
          </a:solidFill>
          <a:ln w="9525">
            <a:solidFill>
              <a:srgbClr val="E5E7EB"/>
            </a:solidFill>
            <a:prstDash val="solid"/>
          </a:ln>
          <a:effectLst>
            <a:outerShdw sx="100000" sy="100000" kx="0" ky="0" algn="bl" rotWithShape="0" blurRad="76200" dist="25400" dir="5400000">
              <a:srgbClr val="000000">
                <a:alpha val="12000"/>
              </a:srgbClr>
            </a:outerShdw>
          </a:effectLst>
        </p:spPr>
      </p:sp>
      <p:sp>
        <p:nvSpPr>
          <p:cNvPr id="29" name="Shape 27"/>
          <p:cNvSpPr/>
          <p:nvPr/>
        </p:nvSpPr>
        <p:spPr>
          <a:xfrm>
            <a:off x="457200" y="3941064"/>
            <a:ext cx="8229600" cy="64008"/>
          </a:xfrm>
          <a:prstGeom prst="rect">
            <a:avLst/>
          </a:prstGeom>
          <a:solidFill>
            <a:srgbClr val="14B8A6"/>
          </a:solidFill>
          <a:ln w="12700">
            <a:solidFill>
              <a:srgbClr val="14B8A6"/>
            </a:solidFill>
            <a:prstDash val="solid"/>
          </a:ln>
        </p:spPr>
      </p:sp>
      <p:sp>
        <p:nvSpPr>
          <p:cNvPr id="30" name="Shape 28"/>
          <p:cNvSpPr/>
          <p:nvPr/>
        </p:nvSpPr>
        <p:spPr>
          <a:xfrm>
            <a:off x="621792" y="4169664"/>
            <a:ext cx="384048" cy="384048"/>
          </a:xfrm>
          <a:prstGeom prst="ellipse">
            <a:avLst/>
          </a:prstGeom>
          <a:solidFill>
            <a:srgbClr val="14B8A6"/>
          </a:solidFill>
          <a:ln w="12700">
            <a:solidFill>
              <a:srgbClr val="14B8A6"/>
            </a:solidFill>
            <a:prstDash val="solid"/>
          </a:ln>
        </p:spPr>
      </p:sp>
      <p:sp>
        <p:nvSpPr>
          <p:cNvPr id="31" name="Text 29"/>
          <p:cNvSpPr txBox="1"/>
          <p:nvPr/>
        </p:nvSpPr>
        <p:spPr>
          <a:xfrm>
            <a:off x="621792" y="416966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32" name="Text 30"/>
          <p:cNvSpPr txBox="1"/>
          <p:nvPr/>
        </p:nvSpPr>
        <p:spPr>
          <a:xfrm>
            <a:off x="1115568" y="4069080"/>
            <a:ext cx="7434072" cy="402336"/>
          </a:xfrm>
          <a:prstGeom prst="rect">
            <a:avLst/>
          </a:prstGeom>
          <a:noFill/>
          <a:ln/>
        </p:spPr>
        <p:txBody>
          <a:bodyPr wrap="square" lIns="0" tIns="0" rIns="0" bIns="0" rtlCol="0" anchor="ctr"/>
          <a:lstStyle/>
          <a:p>
            <a:pPr indent="0" marL="0">
              <a:buNone/>
            </a:pPr>
            <a:endParaRPr lang="en-US" sz="1400" dirty="0"/>
          </a:p>
          <a:p>
            <a:pPr indent="0" marL="0">
              <a:buNone/>
            </a:pPr>
            <a:r>
              <a:rPr lang="en-US" sz="1150" dirty="0">
                <a:solidFill>
                  <a:srgbClr val="1F2937"/>
                </a:solidFill>
                <a:latin typeface="Calibri" pitchFamily="34" charset="0"/>
                <a:ea typeface="Calibri" pitchFamily="34" charset="-122"/>
                <a:cs typeface="Calibri" pitchFamily="34" charset="-120"/>
              </a:rPr>
              <a:t>You clicked a phishing link. First move?</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14B8A6"/>
          </a:solidFill>
          <a:ln w="12700">
            <a:solidFill>
              <a:srgbClr val="14B8A6"/>
            </a:solidFill>
            <a:prstDash val="solid"/>
          </a:ln>
        </p:spPr>
      </p:sp>
      <p:sp>
        <p:nvSpPr>
          <p:cNvPr id="3" name="Text 1"/>
          <p:cNvSpPr txBox="1"/>
          <p:nvPr/>
        </p:nvSpPr>
        <p:spPr>
          <a:xfrm>
            <a:off x="457200" y="256032"/>
            <a:ext cx="5486400" cy="228600"/>
          </a:xfrm>
          <a:prstGeom prst="rect">
            <a:avLst/>
          </a:prstGeom>
          <a:noFill/>
          <a:ln/>
        </p:spPr>
        <p:txBody>
          <a:bodyPr wrap="square" lIns="0" tIns="0" rIns="0" bIns="0" rtlCol="0" anchor="ctr"/>
          <a:lstStyle/>
          <a:p>
            <a:pPr indent="0" marL="0">
              <a:buNone/>
            </a:pPr>
            <a:r>
              <a:rPr lang="en-US" sz="1100" b="1" spc="300" kern="0" dirty="0">
                <a:solidFill>
                  <a:srgbClr val="14B8A6"/>
                </a:solidFill>
                <a:latin typeface="Calibri" pitchFamily="34" charset="0"/>
                <a:ea typeface="Calibri" pitchFamily="34" charset="-122"/>
                <a:cs typeface="Calibri" pitchFamily="34" charset="-120"/>
              </a:rPr>
              <a:t>QUIZ</a:t>
            </a:r>
            <a:endParaRPr lang="en-US" sz="1100" dirty="0"/>
          </a:p>
        </p:txBody>
      </p:sp>
      <p:sp>
        <p:nvSpPr>
          <p:cNvPr id="4" name="Text 2"/>
          <p:cNvSpPr txBox="1"/>
          <p:nvPr/>
        </p:nvSpPr>
        <p:spPr>
          <a:xfrm>
            <a:off x="457200" y="475488"/>
            <a:ext cx="8229600" cy="548640"/>
          </a:xfrm>
          <a:prstGeom prst="rect">
            <a:avLst/>
          </a:prstGeom>
          <a:noFill/>
          <a:ln/>
        </p:spPr>
        <p:txBody>
          <a:bodyPr wrap="square" lIns="0" tIns="0" rIns="0" bIns="0" rtlCol="0" anchor="ctr"/>
          <a:lstStyle/>
          <a:p>
            <a:pPr indent="0" marL="0">
              <a:buNone/>
            </a:pPr>
            <a:r>
              <a:rPr lang="en-US" sz="2800" b="1" dirty="0">
                <a:solidFill>
                  <a:srgbClr val="0B1F3A"/>
                </a:solidFill>
                <a:latin typeface="Calibri" pitchFamily="34" charset="0"/>
                <a:ea typeface="Calibri" pitchFamily="34" charset="-122"/>
                <a:cs typeface="Calibri" pitchFamily="34" charset="-120"/>
              </a:rPr>
              <a:t>Quiz answers</a:t>
            </a:r>
            <a:endParaRPr lang="en-US" sz="2800" dirty="0"/>
          </a:p>
        </p:txBody>
      </p:sp>
      <p:sp>
        <p:nvSpPr>
          <p:cNvPr id="5" name="Shape 3"/>
          <p:cNvSpPr/>
          <p:nvPr/>
        </p:nvSpPr>
        <p:spPr>
          <a:xfrm>
            <a:off x="457200" y="4800600"/>
            <a:ext cx="8229600" cy="0"/>
          </a:xfrm>
          <a:prstGeom prst="line">
            <a:avLst/>
          </a:prstGeom>
          <a:noFill/>
          <a:ln w="9525">
            <a:solidFill>
              <a:srgbClr val="D1D5DB"/>
            </a:solidFill>
            <a:prstDash val="solid"/>
          </a:ln>
        </p:spPr>
      </p:sp>
      <p:sp>
        <p:nvSpPr>
          <p:cNvPr id="6" name="Text 4"/>
          <p:cNvSpPr txBox="1"/>
          <p:nvPr/>
        </p:nvSpPr>
        <p:spPr>
          <a:xfrm>
            <a:off x="457200" y="4846320"/>
            <a:ext cx="5486400" cy="22860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CodeAlpha  |  Phishing Awareness Training</a:t>
            </a:r>
            <a:endParaRPr lang="en-US" sz="1000" dirty="0"/>
          </a:p>
        </p:txBody>
      </p:sp>
      <p:sp>
        <p:nvSpPr>
          <p:cNvPr id="7" name="Text 5"/>
          <p:cNvSpPr txBox="1"/>
          <p:nvPr/>
        </p:nvSpPr>
        <p:spPr>
          <a:xfrm>
            <a:off x="8229600" y="4846320"/>
            <a:ext cx="457200" cy="22860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17</a:t>
            </a:r>
            <a:endParaRPr lang="en-US" sz="1000" dirty="0"/>
          </a:p>
        </p:txBody>
      </p:sp>
      <p:sp>
        <p:nvSpPr>
          <p:cNvPr id="8" name="Shape 6"/>
          <p:cNvSpPr/>
          <p:nvPr/>
        </p:nvSpPr>
        <p:spPr>
          <a:xfrm>
            <a:off x="457200" y="1234440"/>
            <a:ext cx="8229600" cy="585216"/>
          </a:xfrm>
          <a:prstGeom prst="rect">
            <a:avLst/>
          </a:prstGeom>
          <a:solidFill>
            <a:srgbClr val="FFFFFF"/>
          </a:solidFill>
          <a:ln w="9525">
            <a:solidFill>
              <a:srgbClr val="E5E7EB"/>
            </a:solidFill>
            <a:prstDash val="solid"/>
          </a:ln>
          <a:effectLst>
            <a:outerShdw sx="100000" sy="100000" kx="0" ky="0" algn="bl" rotWithShape="0" blurRad="76200" dist="25400" dir="5400000">
              <a:srgbClr val="000000">
                <a:alpha val="12000"/>
              </a:srgbClr>
            </a:outerShdw>
          </a:effectLst>
        </p:spPr>
      </p:sp>
      <p:sp>
        <p:nvSpPr>
          <p:cNvPr id="9" name="Shape 7"/>
          <p:cNvSpPr/>
          <p:nvPr/>
        </p:nvSpPr>
        <p:spPr>
          <a:xfrm>
            <a:off x="457200" y="1234440"/>
            <a:ext cx="8229600" cy="64008"/>
          </a:xfrm>
          <a:prstGeom prst="rect">
            <a:avLst/>
          </a:prstGeom>
          <a:solidFill>
            <a:srgbClr val="14B8A6"/>
          </a:solidFill>
          <a:ln w="12700">
            <a:solidFill>
              <a:srgbClr val="14B8A6"/>
            </a:solidFill>
            <a:prstDash val="solid"/>
          </a:ln>
        </p:spPr>
      </p:sp>
      <p:sp>
        <p:nvSpPr>
          <p:cNvPr id="10" name="Shape 8"/>
          <p:cNvSpPr/>
          <p:nvPr/>
        </p:nvSpPr>
        <p:spPr>
          <a:xfrm>
            <a:off x="621792" y="1463040"/>
            <a:ext cx="384048" cy="384048"/>
          </a:xfrm>
          <a:prstGeom prst="ellipse">
            <a:avLst/>
          </a:prstGeom>
          <a:solidFill>
            <a:srgbClr val="14B8A6"/>
          </a:solidFill>
          <a:ln w="12700">
            <a:solidFill>
              <a:srgbClr val="14B8A6"/>
            </a:solidFill>
            <a:prstDash val="solid"/>
          </a:ln>
        </p:spPr>
      </p:sp>
      <p:sp>
        <p:nvSpPr>
          <p:cNvPr id="11" name="Text 9"/>
          <p:cNvSpPr txBox="1"/>
          <p:nvPr/>
        </p:nvSpPr>
        <p:spPr>
          <a:xfrm>
            <a:off x="621792" y="146304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2" name="Text 10"/>
          <p:cNvSpPr txBox="1"/>
          <p:nvPr/>
        </p:nvSpPr>
        <p:spPr>
          <a:xfrm>
            <a:off x="1115568" y="1362456"/>
            <a:ext cx="7434072" cy="402336"/>
          </a:xfrm>
          <a:prstGeom prst="rect">
            <a:avLst/>
          </a:prstGeom>
          <a:noFill/>
          <a:ln/>
        </p:spPr>
        <p:txBody>
          <a:bodyPr wrap="square" lIns="0" tIns="0" rIns="0" bIns="0" rtlCol="0" anchor="ctr"/>
          <a:lstStyle/>
          <a:p>
            <a:pPr indent="0" marL="0">
              <a:buNone/>
            </a:pPr>
            <a:endParaRPr lang="en-US" sz="1400" dirty="0"/>
          </a:p>
          <a:p>
            <a:pPr indent="0" marL="0">
              <a:buNone/>
            </a:pPr>
            <a:r>
              <a:rPr lang="en-US" sz="1150" dirty="0">
                <a:solidFill>
                  <a:srgbClr val="1F2937"/>
                </a:solidFill>
                <a:latin typeface="Calibri" pitchFamily="34" charset="0"/>
                <a:ea typeface="Calibri" pitchFamily="34" charset="-122"/>
                <a:cs typeface="Calibri" pitchFamily="34" charset="-120"/>
              </a:rPr>
              <a:t>Look-alike domain (zero in micros0ft) plus artificial urgency.</a:t>
            </a:r>
            <a:endParaRPr lang="en-US" sz="1400" dirty="0"/>
          </a:p>
        </p:txBody>
      </p:sp>
      <p:sp>
        <p:nvSpPr>
          <p:cNvPr id="13" name="Shape 11"/>
          <p:cNvSpPr/>
          <p:nvPr/>
        </p:nvSpPr>
        <p:spPr>
          <a:xfrm>
            <a:off x="457200" y="1911096"/>
            <a:ext cx="8229600" cy="585216"/>
          </a:xfrm>
          <a:prstGeom prst="rect">
            <a:avLst/>
          </a:prstGeom>
          <a:solidFill>
            <a:srgbClr val="FFFFFF"/>
          </a:solidFill>
          <a:ln w="9525">
            <a:solidFill>
              <a:srgbClr val="E5E7EB"/>
            </a:solidFill>
            <a:prstDash val="solid"/>
          </a:ln>
          <a:effectLst>
            <a:outerShdw sx="100000" sy="100000" kx="0" ky="0" algn="bl" rotWithShape="0" blurRad="76200" dist="25400" dir="5400000">
              <a:srgbClr val="000000">
                <a:alpha val="12000"/>
              </a:srgbClr>
            </a:outerShdw>
          </a:effectLst>
        </p:spPr>
      </p:sp>
      <p:sp>
        <p:nvSpPr>
          <p:cNvPr id="14" name="Shape 12"/>
          <p:cNvSpPr/>
          <p:nvPr/>
        </p:nvSpPr>
        <p:spPr>
          <a:xfrm>
            <a:off x="457200" y="1911096"/>
            <a:ext cx="8229600" cy="64008"/>
          </a:xfrm>
          <a:prstGeom prst="rect">
            <a:avLst/>
          </a:prstGeom>
          <a:solidFill>
            <a:srgbClr val="14B8A6"/>
          </a:solidFill>
          <a:ln w="12700">
            <a:solidFill>
              <a:srgbClr val="14B8A6"/>
            </a:solidFill>
            <a:prstDash val="solid"/>
          </a:ln>
        </p:spPr>
      </p:sp>
      <p:sp>
        <p:nvSpPr>
          <p:cNvPr id="15" name="Shape 13"/>
          <p:cNvSpPr/>
          <p:nvPr/>
        </p:nvSpPr>
        <p:spPr>
          <a:xfrm>
            <a:off x="621792" y="2139696"/>
            <a:ext cx="384048" cy="384048"/>
          </a:xfrm>
          <a:prstGeom prst="ellipse">
            <a:avLst/>
          </a:prstGeom>
          <a:solidFill>
            <a:srgbClr val="14B8A6"/>
          </a:solidFill>
          <a:ln w="12700">
            <a:solidFill>
              <a:srgbClr val="14B8A6"/>
            </a:solidFill>
            <a:prstDash val="solid"/>
          </a:ln>
        </p:spPr>
      </p:sp>
      <p:sp>
        <p:nvSpPr>
          <p:cNvPr id="16" name="Text 14"/>
          <p:cNvSpPr txBox="1"/>
          <p:nvPr/>
        </p:nvSpPr>
        <p:spPr>
          <a:xfrm>
            <a:off x="621792" y="213969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5"/>
          <p:cNvSpPr txBox="1"/>
          <p:nvPr/>
        </p:nvSpPr>
        <p:spPr>
          <a:xfrm>
            <a:off x="1115568" y="2039112"/>
            <a:ext cx="7434072" cy="402336"/>
          </a:xfrm>
          <a:prstGeom prst="rect">
            <a:avLst/>
          </a:prstGeom>
          <a:noFill/>
          <a:ln/>
        </p:spPr>
        <p:txBody>
          <a:bodyPr wrap="square" lIns="0" tIns="0" rIns="0" bIns="0" rtlCol="0" anchor="ctr"/>
          <a:lstStyle/>
          <a:p>
            <a:pPr indent="0" marL="0">
              <a:buNone/>
            </a:pPr>
            <a:endParaRPr lang="en-US" sz="1400" dirty="0"/>
          </a:p>
          <a:p>
            <a:pPr indent="0" marL="0">
              <a:buNone/>
            </a:pPr>
            <a:r>
              <a:rPr lang="en-US" sz="1150" dirty="0">
                <a:solidFill>
                  <a:srgbClr val="1F2937"/>
                </a:solidFill>
                <a:latin typeface="Calibri" pitchFamily="34" charset="0"/>
                <a:ea typeface="Calibri" pitchFamily="34" charset="-122"/>
                <a:cs typeface="Calibri" pitchFamily="34" charset="-120"/>
              </a:rPr>
              <a:t>False. Phishing sites can use HTTPS too.</a:t>
            </a:r>
            <a:endParaRPr lang="en-US" sz="1400" dirty="0"/>
          </a:p>
        </p:txBody>
      </p:sp>
      <p:sp>
        <p:nvSpPr>
          <p:cNvPr id="18" name="Shape 16"/>
          <p:cNvSpPr/>
          <p:nvPr/>
        </p:nvSpPr>
        <p:spPr>
          <a:xfrm>
            <a:off x="457200" y="2587752"/>
            <a:ext cx="8229600" cy="585216"/>
          </a:xfrm>
          <a:prstGeom prst="rect">
            <a:avLst/>
          </a:prstGeom>
          <a:solidFill>
            <a:srgbClr val="FFFFFF"/>
          </a:solidFill>
          <a:ln w="9525">
            <a:solidFill>
              <a:srgbClr val="E5E7EB"/>
            </a:solidFill>
            <a:prstDash val="solid"/>
          </a:ln>
          <a:effectLst>
            <a:outerShdw sx="100000" sy="100000" kx="0" ky="0" algn="bl" rotWithShape="0" blurRad="76200" dist="25400" dir="5400000">
              <a:srgbClr val="000000">
                <a:alpha val="12000"/>
              </a:srgbClr>
            </a:outerShdw>
          </a:effectLst>
        </p:spPr>
      </p:sp>
      <p:sp>
        <p:nvSpPr>
          <p:cNvPr id="19" name="Shape 17"/>
          <p:cNvSpPr/>
          <p:nvPr/>
        </p:nvSpPr>
        <p:spPr>
          <a:xfrm>
            <a:off x="457200" y="2587752"/>
            <a:ext cx="8229600" cy="64008"/>
          </a:xfrm>
          <a:prstGeom prst="rect">
            <a:avLst/>
          </a:prstGeom>
          <a:solidFill>
            <a:srgbClr val="14B8A6"/>
          </a:solidFill>
          <a:ln w="12700">
            <a:solidFill>
              <a:srgbClr val="14B8A6"/>
            </a:solidFill>
            <a:prstDash val="solid"/>
          </a:ln>
        </p:spPr>
      </p:sp>
      <p:sp>
        <p:nvSpPr>
          <p:cNvPr id="20" name="Shape 18"/>
          <p:cNvSpPr/>
          <p:nvPr/>
        </p:nvSpPr>
        <p:spPr>
          <a:xfrm>
            <a:off x="621792" y="2816352"/>
            <a:ext cx="384048" cy="384048"/>
          </a:xfrm>
          <a:prstGeom prst="ellipse">
            <a:avLst/>
          </a:prstGeom>
          <a:solidFill>
            <a:srgbClr val="14B8A6"/>
          </a:solidFill>
          <a:ln w="12700">
            <a:solidFill>
              <a:srgbClr val="14B8A6"/>
            </a:solidFill>
            <a:prstDash val="solid"/>
          </a:ln>
        </p:spPr>
      </p:sp>
      <p:sp>
        <p:nvSpPr>
          <p:cNvPr id="21" name="Text 19"/>
          <p:cNvSpPr txBox="1"/>
          <p:nvPr/>
        </p:nvSpPr>
        <p:spPr>
          <a:xfrm>
            <a:off x="621792" y="281635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2" name="Text 20"/>
          <p:cNvSpPr txBox="1"/>
          <p:nvPr/>
        </p:nvSpPr>
        <p:spPr>
          <a:xfrm>
            <a:off x="1115568" y="2715768"/>
            <a:ext cx="7434072" cy="402336"/>
          </a:xfrm>
          <a:prstGeom prst="rect">
            <a:avLst/>
          </a:prstGeom>
          <a:noFill/>
          <a:ln/>
        </p:spPr>
        <p:txBody>
          <a:bodyPr wrap="square" lIns="0" tIns="0" rIns="0" bIns="0" rtlCol="0" anchor="ctr"/>
          <a:lstStyle/>
          <a:p>
            <a:pPr indent="0" marL="0">
              <a:buNone/>
            </a:pPr>
            <a:endParaRPr lang="en-US" sz="1400" dirty="0"/>
          </a:p>
          <a:p>
            <a:pPr indent="0" marL="0">
              <a:buNone/>
            </a:pPr>
            <a:r>
              <a:rPr lang="en-US" sz="1150" dirty="0">
                <a:solidFill>
                  <a:srgbClr val="1F2937"/>
                </a:solidFill>
                <a:latin typeface="Calibri" pitchFamily="34" charset="0"/>
                <a:ea typeface="Calibri" pitchFamily="34" charset="-122"/>
                <a:cs typeface="Calibri" pitchFamily="34" charset="-120"/>
              </a:rPr>
              <a:t>Verify by calling them directly. Do not buy anything. Report it.</a:t>
            </a:r>
            <a:endParaRPr lang="en-US" sz="1400" dirty="0"/>
          </a:p>
        </p:txBody>
      </p:sp>
      <p:sp>
        <p:nvSpPr>
          <p:cNvPr id="23" name="Shape 21"/>
          <p:cNvSpPr/>
          <p:nvPr/>
        </p:nvSpPr>
        <p:spPr>
          <a:xfrm>
            <a:off x="457200" y="3264408"/>
            <a:ext cx="8229600" cy="585216"/>
          </a:xfrm>
          <a:prstGeom prst="rect">
            <a:avLst/>
          </a:prstGeom>
          <a:solidFill>
            <a:srgbClr val="FFFFFF"/>
          </a:solidFill>
          <a:ln w="9525">
            <a:solidFill>
              <a:srgbClr val="E5E7EB"/>
            </a:solidFill>
            <a:prstDash val="solid"/>
          </a:ln>
          <a:effectLst>
            <a:outerShdw sx="100000" sy="100000" kx="0" ky="0" algn="bl" rotWithShape="0" blurRad="76200" dist="25400" dir="5400000">
              <a:srgbClr val="000000">
                <a:alpha val="12000"/>
              </a:srgbClr>
            </a:outerShdw>
          </a:effectLst>
        </p:spPr>
      </p:sp>
      <p:sp>
        <p:nvSpPr>
          <p:cNvPr id="24" name="Shape 22"/>
          <p:cNvSpPr/>
          <p:nvPr/>
        </p:nvSpPr>
        <p:spPr>
          <a:xfrm>
            <a:off x="457200" y="3264408"/>
            <a:ext cx="8229600" cy="64008"/>
          </a:xfrm>
          <a:prstGeom prst="rect">
            <a:avLst/>
          </a:prstGeom>
          <a:solidFill>
            <a:srgbClr val="14B8A6"/>
          </a:solidFill>
          <a:ln w="12700">
            <a:solidFill>
              <a:srgbClr val="14B8A6"/>
            </a:solidFill>
            <a:prstDash val="solid"/>
          </a:ln>
        </p:spPr>
      </p:sp>
      <p:sp>
        <p:nvSpPr>
          <p:cNvPr id="25" name="Shape 23"/>
          <p:cNvSpPr/>
          <p:nvPr/>
        </p:nvSpPr>
        <p:spPr>
          <a:xfrm>
            <a:off x="621792" y="3493008"/>
            <a:ext cx="384048" cy="384048"/>
          </a:xfrm>
          <a:prstGeom prst="ellipse">
            <a:avLst/>
          </a:prstGeom>
          <a:solidFill>
            <a:srgbClr val="14B8A6"/>
          </a:solidFill>
          <a:ln w="12700">
            <a:solidFill>
              <a:srgbClr val="14B8A6"/>
            </a:solidFill>
            <a:prstDash val="solid"/>
          </a:ln>
        </p:spPr>
      </p:sp>
      <p:sp>
        <p:nvSpPr>
          <p:cNvPr id="26" name="Text 24"/>
          <p:cNvSpPr txBox="1"/>
          <p:nvPr/>
        </p:nvSpPr>
        <p:spPr>
          <a:xfrm>
            <a:off x="621792" y="349300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7" name="Text 25"/>
          <p:cNvSpPr txBox="1"/>
          <p:nvPr/>
        </p:nvSpPr>
        <p:spPr>
          <a:xfrm>
            <a:off x="1115568" y="3392424"/>
            <a:ext cx="7434072" cy="402336"/>
          </a:xfrm>
          <a:prstGeom prst="rect">
            <a:avLst/>
          </a:prstGeom>
          <a:noFill/>
          <a:ln/>
        </p:spPr>
        <p:txBody>
          <a:bodyPr wrap="square" lIns="0" tIns="0" rIns="0" bIns="0" rtlCol="0" anchor="ctr"/>
          <a:lstStyle/>
          <a:p>
            <a:pPr indent="0" marL="0">
              <a:buNone/>
            </a:pPr>
            <a:endParaRPr lang="en-US" sz="1400" dirty="0"/>
          </a:p>
          <a:p>
            <a:pPr indent="0" marL="0">
              <a:buNone/>
            </a:pPr>
            <a:r>
              <a:rPr lang="en-US" sz="1150" dirty="0">
                <a:solidFill>
                  <a:srgbClr val="1F2937"/>
                </a:solidFill>
                <a:latin typeface="Calibri" pitchFamily="34" charset="0"/>
                <a:ea typeface="Calibri" pitchFamily="34" charset="-122"/>
                <a:cs typeface="Calibri" pitchFamily="34" charset="-120"/>
              </a:rPr>
              <a:t>(b) paypal.com</a:t>
            </a:r>
            <a:endParaRPr lang="en-US" sz="1400" dirty="0"/>
          </a:p>
        </p:txBody>
      </p:sp>
      <p:sp>
        <p:nvSpPr>
          <p:cNvPr id="28" name="Shape 26"/>
          <p:cNvSpPr/>
          <p:nvPr/>
        </p:nvSpPr>
        <p:spPr>
          <a:xfrm>
            <a:off x="457200" y="3941064"/>
            <a:ext cx="8229600" cy="585216"/>
          </a:xfrm>
          <a:prstGeom prst="rect">
            <a:avLst/>
          </a:prstGeom>
          <a:solidFill>
            <a:srgbClr val="FFFFFF"/>
          </a:solidFill>
          <a:ln w="9525">
            <a:solidFill>
              <a:srgbClr val="E5E7EB"/>
            </a:solidFill>
            <a:prstDash val="solid"/>
          </a:ln>
          <a:effectLst>
            <a:outerShdw sx="100000" sy="100000" kx="0" ky="0" algn="bl" rotWithShape="0" blurRad="76200" dist="25400" dir="5400000">
              <a:srgbClr val="000000">
                <a:alpha val="12000"/>
              </a:srgbClr>
            </a:outerShdw>
          </a:effectLst>
        </p:spPr>
      </p:sp>
      <p:sp>
        <p:nvSpPr>
          <p:cNvPr id="29" name="Shape 27"/>
          <p:cNvSpPr/>
          <p:nvPr/>
        </p:nvSpPr>
        <p:spPr>
          <a:xfrm>
            <a:off x="457200" y="3941064"/>
            <a:ext cx="8229600" cy="64008"/>
          </a:xfrm>
          <a:prstGeom prst="rect">
            <a:avLst/>
          </a:prstGeom>
          <a:solidFill>
            <a:srgbClr val="14B8A6"/>
          </a:solidFill>
          <a:ln w="12700">
            <a:solidFill>
              <a:srgbClr val="14B8A6"/>
            </a:solidFill>
            <a:prstDash val="solid"/>
          </a:ln>
        </p:spPr>
      </p:sp>
      <p:sp>
        <p:nvSpPr>
          <p:cNvPr id="30" name="Shape 28"/>
          <p:cNvSpPr/>
          <p:nvPr/>
        </p:nvSpPr>
        <p:spPr>
          <a:xfrm>
            <a:off x="621792" y="4169664"/>
            <a:ext cx="384048" cy="384048"/>
          </a:xfrm>
          <a:prstGeom prst="ellipse">
            <a:avLst/>
          </a:prstGeom>
          <a:solidFill>
            <a:srgbClr val="14B8A6"/>
          </a:solidFill>
          <a:ln w="12700">
            <a:solidFill>
              <a:srgbClr val="14B8A6"/>
            </a:solidFill>
            <a:prstDash val="solid"/>
          </a:ln>
        </p:spPr>
      </p:sp>
      <p:sp>
        <p:nvSpPr>
          <p:cNvPr id="31" name="Text 29"/>
          <p:cNvSpPr txBox="1"/>
          <p:nvPr/>
        </p:nvSpPr>
        <p:spPr>
          <a:xfrm>
            <a:off x="621792" y="416966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32" name="Text 30"/>
          <p:cNvSpPr txBox="1"/>
          <p:nvPr/>
        </p:nvSpPr>
        <p:spPr>
          <a:xfrm>
            <a:off x="1115568" y="4069080"/>
            <a:ext cx="7434072" cy="402336"/>
          </a:xfrm>
          <a:prstGeom prst="rect">
            <a:avLst/>
          </a:prstGeom>
          <a:noFill/>
          <a:ln/>
        </p:spPr>
        <p:txBody>
          <a:bodyPr wrap="square" lIns="0" tIns="0" rIns="0" bIns="0" rtlCol="0" anchor="ctr"/>
          <a:lstStyle/>
          <a:p>
            <a:pPr indent="0" marL="0">
              <a:buNone/>
            </a:pPr>
            <a:endParaRPr lang="en-US" sz="1400" dirty="0"/>
          </a:p>
          <a:p>
            <a:pPr indent="0" marL="0">
              <a:buNone/>
            </a:pPr>
            <a:r>
              <a:rPr lang="en-US" sz="1150" dirty="0">
                <a:solidFill>
                  <a:srgbClr val="1F2937"/>
                </a:solidFill>
                <a:latin typeface="Calibri" pitchFamily="34" charset="0"/>
                <a:ea typeface="Calibri" pitchFamily="34" charset="-122"/>
                <a:cs typeface="Calibri" pitchFamily="34" charset="-120"/>
              </a:rPr>
              <a:t>Disconnect, change passwords and tell IT right away.</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B1F3A"/>
        </a:solidFill>
      </p:bgPr>
    </p:bg>
    <p:spTree>
      <p:nvGrpSpPr>
        <p:cNvPr id="1" name=""/>
        <p:cNvGrpSpPr/>
        <p:nvPr/>
      </p:nvGrpSpPr>
      <p:grpSpPr>
        <a:xfrm>
          <a:off x="0" y="0"/>
          <a:ext cx="0" cy="0"/>
          <a:chOff x="0" y="0"/>
          <a:chExt cx="0" cy="0"/>
        </a:xfrm>
      </p:grpSpPr>
      <p:sp>
        <p:nvSpPr>
          <p:cNvPr id="2" name="Text 0"/>
          <p:cNvSpPr txBox="1"/>
          <p:nvPr/>
        </p:nvSpPr>
        <p:spPr>
          <a:xfrm>
            <a:off x="548640" y="365760"/>
            <a:ext cx="7315200" cy="640080"/>
          </a:xfrm>
          <a:prstGeom prst="rect">
            <a:avLst/>
          </a:prstGeom>
          <a:noFill/>
          <a:ln/>
        </p:spPr>
        <p:txBody>
          <a:bodyPr wrap="square" lIns="0" tIns="0" rIns="0" bIns="0"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Key takeaways</a:t>
            </a:r>
            <a:endParaRPr lang="en-US" sz="3200" dirty="0"/>
          </a:p>
        </p:txBody>
      </p:sp>
      <p:sp>
        <p:nvSpPr>
          <p:cNvPr id="3" name="Shape 1"/>
          <p:cNvSpPr/>
          <p:nvPr/>
        </p:nvSpPr>
        <p:spPr>
          <a:xfrm>
            <a:off x="548640" y="1005840"/>
            <a:ext cx="822960" cy="54864"/>
          </a:xfrm>
          <a:prstGeom prst="rect">
            <a:avLst/>
          </a:prstGeom>
          <a:solidFill>
            <a:srgbClr val="14B8A6"/>
          </a:solidFill>
          <a:ln w="12700">
            <a:solidFill>
              <a:srgbClr val="14B8A6"/>
            </a:solidFill>
            <a:prstDash val="solid"/>
          </a:ln>
        </p:spPr>
      </p:sp>
      <p:sp>
        <p:nvSpPr>
          <p:cNvPr id="4" name="Shape 2"/>
          <p:cNvSpPr/>
          <p:nvPr/>
        </p:nvSpPr>
        <p:spPr>
          <a:xfrm>
            <a:off x="548640" y="1325880"/>
            <a:ext cx="411480" cy="411480"/>
          </a:xfrm>
          <a:prstGeom prst="ellipse">
            <a:avLst/>
          </a:prstGeom>
          <a:solidFill>
            <a:srgbClr val="14B8A6"/>
          </a:solidFill>
          <a:ln w="12700">
            <a:solidFill>
              <a:srgbClr val="14B8A6"/>
            </a:solidFill>
            <a:prstDash val="solid"/>
          </a:ln>
        </p:spPr>
      </p:sp>
      <p:sp>
        <p:nvSpPr>
          <p:cNvPr id="5" name="Text 3"/>
          <p:cNvSpPr txBox="1"/>
          <p:nvPr/>
        </p:nvSpPr>
        <p:spPr>
          <a:xfrm>
            <a:off x="548640" y="1325880"/>
            <a:ext cx="411480" cy="411480"/>
          </a:xfrm>
          <a:prstGeom prst="rect">
            <a:avLst/>
          </a:prstGeom>
          <a:noFill/>
          <a:ln/>
        </p:spPr>
        <p:txBody>
          <a:bodyPr wrap="square" lIns="0" tIns="0" rIns="0" bIns="0" rtlCol="0" anchor="ctr"/>
          <a:lstStyle/>
          <a:p>
            <a:pPr algn="ctr" indent="0" marL="0">
              <a:buNone/>
            </a:pPr>
            <a:r>
              <a:rPr lang="en-US" sz="1500" b="1" dirty="0">
                <a:solidFill>
                  <a:srgbClr val="0B1F3A"/>
                </a:solidFill>
                <a:latin typeface="Calibri" pitchFamily="34" charset="0"/>
                <a:ea typeface="Calibri" pitchFamily="34" charset="-122"/>
                <a:cs typeface="Calibri" pitchFamily="34" charset="-120"/>
              </a:rPr>
              <a:t>1</a:t>
            </a:r>
            <a:endParaRPr lang="en-US" sz="1500" dirty="0"/>
          </a:p>
        </p:txBody>
      </p:sp>
      <p:sp>
        <p:nvSpPr>
          <p:cNvPr id="6" name="Text 4"/>
          <p:cNvSpPr txBox="1"/>
          <p:nvPr/>
        </p:nvSpPr>
        <p:spPr>
          <a:xfrm>
            <a:off x="1188720" y="1325880"/>
            <a:ext cx="7315200" cy="411480"/>
          </a:xfrm>
          <a:prstGeom prst="rect">
            <a:avLst/>
          </a:prstGeom>
          <a:noFill/>
          <a:ln/>
        </p:spPr>
        <p:txBody>
          <a:bodyPr wrap="square" lIns="0" tIns="0" rIns="0" bIns="0" rtlCol="0" anchor="ctr"/>
          <a:lstStyle/>
          <a:p>
            <a:pPr indent="0" marL="0">
              <a:buNone/>
            </a:pPr>
            <a:r>
              <a:rPr lang="en-US" sz="2000" dirty="0">
                <a:solidFill>
                  <a:srgbClr val="FFFFFF"/>
                </a:solidFill>
                <a:latin typeface="Calibri" pitchFamily="34" charset="0"/>
                <a:ea typeface="Calibri" pitchFamily="34" charset="-122"/>
                <a:cs typeface="Calibri" pitchFamily="34" charset="-120"/>
              </a:rPr>
              <a:t>Slow down. Urgency is the attacker's best tool.</a:t>
            </a:r>
            <a:endParaRPr lang="en-US" sz="2000" dirty="0"/>
          </a:p>
        </p:txBody>
      </p:sp>
      <p:sp>
        <p:nvSpPr>
          <p:cNvPr id="7" name="Shape 5"/>
          <p:cNvSpPr/>
          <p:nvPr/>
        </p:nvSpPr>
        <p:spPr>
          <a:xfrm>
            <a:off x="548640" y="1965960"/>
            <a:ext cx="411480" cy="411480"/>
          </a:xfrm>
          <a:prstGeom prst="ellipse">
            <a:avLst/>
          </a:prstGeom>
          <a:solidFill>
            <a:srgbClr val="14B8A6"/>
          </a:solidFill>
          <a:ln w="12700">
            <a:solidFill>
              <a:srgbClr val="14B8A6"/>
            </a:solidFill>
            <a:prstDash val="solid"/>
          </a:ln>
        </p:spPr>
      </p:sp>
      <p:sp>
        <p:nvSpPr>
          <p:cNvPr id="8" name="Text 6"/>
          <p:cNvSpPr txBox="1"/>
          <p:nvPr/>
        </p:nvSpPr>
        <p:spPr>
          <a:xfrm>
            <a:off x="548640" y="1965960"/>
            <a:ext cx="411480" cy="411480"/>
          </a:xfrm>
          <a:prstGeom prst="rect">
            <a:avLst/>
          </a:prstGeom>
          <a:noFill/>
          <a:ln/>
        </p:spPr>
        <p:txBody>
          <a:bodyPr wrap="square" lIns="0" tIns="0" rIns="0" bIns="0" rtlCol="0" anchor="ctr"/>
          <a:lstStyle/>
          <a:p>
            <a:pPr algn="ctr" indent="0" marL="0">
              <a:buNone/>
            </a:pPr>
            <a:r>
              <a:rPr lang="en-US" sz="1500" b="1" dirty="0">
                <a:solidFill>
                  <a:srgbClr val="0B1F3A"/>
                </a:solidFill>
                <a:latin typeface="Calibri" pitchFamily="34" charset="0"/>
                <a:ea typeface="Calibri" pitchFamily="34" charset="-122"/>
                <a:cs typeface="Calibri" pitchFamily="34" charset="-120"/>
              </a:rPr>
              <a:t>2</a:t>
            </a:r>
            <a:endParaRPr lang="en-US" sz="1500" dirty="0"/>
          </a:p>
        </p:txBody>
      </p:sp>
      <p:sp>
        <p:nvSpPr>
          <p:cNvPr id="9" name="Text 7"/>
          <p:cNvSpPr txBox="1"/>
          <p:nvPr/>
        </p:nvSpPr>
        <p:spPr>
          <a:xfrm>
            <a:off x="1188720" y="1965960"/>
            <a:ext cx="7315200" cy="411480"/>
          </a:xfrm>
          <a:prstGeom prst="rect">
            <a:avLst/>
          </a:prstGeom>
          <a:noFill/>
          <a:ln/>
        </p:spPr>
        <p:txBody>
          <a:bodyPr wrap="square" lIns="0" tIns="0" rIns="0" bIns="0" rtlCol="0" anchor="ctr"/>
          <a:lstStyle/>
          <a:p>
            <a:pPr indent="0" marL="0">
              <a:buNone/>
            </a:pPr>
            <a:r>
              <a:rPr lang="en-US" sz="2000" dirty="0">
                <a:solidFill>
                  <a:srgbClr val="FFFFFF"/>
                </a:solidFill>
                <a:latin typeface="Calibri" pitchFamily="34" charset="0"/>
                <a:ea typeface="Calibri" pitchFamily="34" charset="-122"/>
                <a:cs typeface="Calibri" pitchFamily="34" charset="-120"/>
              </a:rPr>
              <a:t>Check the sender and the real domain.</a:t>
            </a:r>
            <a:endParaRPr lang="en-US" sz="2000" dirty="0"/>
          </a:p>
        </p:txBody>
      </p:sp>
      <p:sp>
        <p:nvSpPr>
          <p:cNvPr id="10" name="Shape 8"/>
          <p:cNvSpPr/>
          <p:nvPr/>
        </p:nvSpPr>
        <p:spPr>
          <a:xfrm>
            <a:off x="548640" y="2606040"/>
            <a:ext cx="411480" cy="411480"/>
          </a:xfrm>
          <a:prstGeom prst="ellipse">
            <a:avLst/>
          </a:prstGeom>
          <a:solidFill>
            <a:srgbClr val="14B8A6"/>
          </a:solidFill>
          <a:ln w="12700">
            <a:solidFill>
              <a:srgbClr val="14B8A6"/>
            </a:solidFill>
            <a:prstDash val="solid"/>
          </a:ln>
        </p:spPr>
      </p:sp>
      <p:sp>
        <p:nvSpPr>
          <p:cNvPr id="11" name="Text 9"/>
          <p:cNvSpPr txBox="1"/>
          <p:nvPr/>
        </p:nvSpPr>
        <p:spPr>
          <a:xfrm>
            <a:off x="548640" y="2606040"/>
            <a:ext cx="411480" cy="411480"/>
          </a:xfrm>
          <a:prstGeom prst="rect">
            <a:avLst/>
          </a:prstGeom>
          <a:noFill/>
          <a:ln/>
        </p:spPr>
        <p:txBody>
          <a:bodyPr wrap="square" lIns="0" tIns="0" rIns="0" bIns="0" rtlCol="0" anchor="ctr"/>
          <a:lstStyle/>
          <a:p>
            <a:pPr algn="ctr" indent="0" marL="0">
              <a:buNone/>
            </a:pPr>
            <a:r>
              <a:rPr lang="en-US" sz="1500" b="1" dirty="0">
                <a:solidFill>
                  <a:srgbClr val="0B1F3A"/>
                </a:solidFill>
                <a:latin typeface="Calibri" pitchFamily="34" charset="0"/>
                <a:ea typeface="Calibri" pitchFamily="34" charset="-122"/>
                <a:cs typeface="Calibri" pitchFamily="34" charset="-120"/>
              </a:rPr>
              <a:t>3</a:t>
            </a:r>
            <a:endParaRPr lang="en-US" sz="1500" dirty="0"/>
          </a:p>
        </p:txBody>
      </p:sp>
      <p:sp>
        <p:nvSpPr>
          <p:cNvPr id="12" name="Text 10"/>
          <p:cNvSpPr txBox="1"/>
          <p:nvPr/>
        </p:nvSpPr>
        <p:spPr>
          <a:xfrm>
            <a:off x="1188720" y="2606040"/>
            <a:ext cx="7315200" cy="411480"/>
          </a:xfrm>
          <a:prstGeom prst="rect">
            <a:avLst/>
          </a:prstGeom>
          <a:noFill/>
          <a:ln/>
        </p:spPr>
        <p:txBody>
          <a:bodyPr wrap="square" lIns="0" tIns="0" rIns="0" bIns="0" rtlCol="0" anchor="ctr"/>
          <a:lstStyle/>
          <a:p>
            <a:pPr indent="0" marL="0">
              <a:buNone/>
            </a:pPr>
            <a:r>
              <a:rPr lang="en-US" sz="2000" dirty="0">
                <a:solidFill>
                  <a:srgbClr val="FFFFFF"/>
                </a:solidFill>
                <a:latin typeface="Calibri" pitchFamily="34" charset="0"/>
                <a:ea typeface="Calibri" pitchFamily="34" charset="-122"/>
                <a:cs typeface="Calibri" pitchFamily="34" charset="-120"/>
              </a:rPr>
              <a:t>Verify through a separate, trusted channel.</a:t>
            </a:r>
            <a:endParaRPr lang="en-US" sz="2000" dirty="0"/>
          </a:p>
        </p:txBody>
      </p:sp>
      <p:sp>
        <p:nvSpPr>
          <p:cNvPr id="13" name="Shape 11"/>
          <p:cNvSpPr/>
          <p:nvPr/>
        </p:nvSpPr>
        <p:spPr>
          <a:xfrm>
            <a:off x="548640" y="3246120"/>
            <a:ext cx="411480" cy="411480"/>
          </a:xfrm>
          <a:prstGeom prst="ellipse">
            <a:avLst/>
          </a:prstGeom>
          <a:solidFill>
            <a:srgbClr val="14B8A6"/>
          </a:solidFill>
          <a:ln w="12700">
            <a:solidFill>
              <a:srgbClr val="14B8A6"/>
            </a:solidFill>
            <a:prstDash val="solid"/>
          </a:ln>
        </p:spPr>
      </p:sp>
      <p:sp>
        <p:nvSpPr>
          <p:cNvPr id="14" name="Text 12"/>
          <p:cNvSpPr txBox="1"/>
          <p:nvPr/>
        </p:nvSpPr>
        <p:spPr>
          <a:xfrm>
            <a:off x="548640" y="3246120"/>
            <a:ext cx="411480" cy="411480"/>
          </a:xfrm>
          <a:prstGeom prst="rect">
            <a:avLst/>
          </a:prstGeom>
          <a:noFill/>
          <a:ln/>
        </p:spPr>
        <p:txBody>
          <a:bodyPr wrap="square" lIns="0" tIns="0" rIns="0" bIns="0" rtlCol="0" anchor="ctr"/>
          <a:lstStyle/>
          <a:p>
            <a:pPr algn="ctr" indent="0" marL="0">
              <a:buNone/>
            </a:pPr>
            <a:r>
              <a:rPr lang="en-US" sz="1500" b="1" dirty="0">
                <a:solidFill>
                  <a:srgbClr val="0B1F3A"/>
                </a:solidFill>
                <a:latin typeface="Calibri" pitchFamily="34" charset="0"/>
                <a:ea typeface="Calibri" pitchFamily="34" charset="-122"/>
                <a:cs typeface="Calibri" pitchFamily="34" charset="-120"/>
              </a:rPr>
              <a:t>4</a:t>
            </a:r>
            <a:endParaRPr lang="en-US" sz="1500" dirty="0"/>
          </a:p>
        </p:txBody>
      </p:sp>
      <p:sp>
        <p:nvSpPr>
          <p:cNvPr id="15" name="Text 13"/>
          <p:cNvSpPr txBox="1"/>
          <p:nvPr/>
        </p:nvSpPr>
        <p:spPr>
          <a:xfrm>
            <a:off x="1188720" y="3246120"/>
            <a:ext cx="7315200" cy="411480"/>
          </a:xfrm>
          <a:prstGeom prst="rect">
            <a:avLst/>
          </a:prstGeom>
          <a:noFill/>
          <a:ln/>
        </p:spPr>
        <p:txBody>
          <a:bodyPr wrap="square" lIns="0" tIns="0" rIns="0" bIns="0" rtlCol="0" anchor="ctr"/>
          <a:lstStyle/>
          <a:p>
            <a:pPr indent="0" marL="0">
              <a:buNone/>
            </a:pPr>
            <a:r>
              <a:rPr lang="en-US" sz="2000" dirty="0">
                <a:solidFill>
                  <a:srgbClr val="FFFFFF"/>
                </a:solidFill>
                <a:latin typeface="Calibri" pitchFamily="34" charset="0"/>
                <a:ea typeface="Calibri" pitchFamily="34" charset="-122"/>
                <a:cs typeface="Calibri" pitchFamily="34" charset="-120"/>
              </a:rPr>
              <a:t>Use MFA and a password manager.</a:t>
            </a:r>
            <a:endParaRPr lang="en-US" sz="2000" dirty="0"/>
          </a:p>
        </p:txBody>
      </p:sp>
      <p:sp>
        <p:nvSpPr>
          <p:cNvPr id="16" name="Shape 14"/>
          <p:cNvSpPr/>
          <p:nvPr/>
        </p:nvSpPr>
        <p:spPr>
          <a:xfrm>
            <a:off x="548640" y="3886200"/>
            <a:ext cx="411480" cy="411480"/>
          </a:xfrm>
          <a:prstGeom prst="ellipse">
            <a:avLst/>
          </a:prstGeom>
          <a:solidFill>
            <a:srgbClr val="14B8A6"/>
          </a:solidFill>
          <a:ln w="12700">
            <a:solidFill>
              <a:srgbClr val="14B8A6"/>
            </a:solidFill>
            <a:prstDash val="solid"/>
          </a:ln>
        </p:spPr>
      </p:sp>
      <p:sp>
        <p:nvSpPr>
          <p:cNvPr id="17" name="Text 15"/>
          <p:cNvSpPr txBox="1"/>
          <p:nvPr/>
        </p:nvSpPr>
        <p:spPr>
          <a:xfrm>
            <a:off x="548640" y="3886200"/>
            <a:ext cx="411480" cy="411480"/>
          </a:xfrm>
          <a:prstGeom prst="rect">
            <a:avLst/>
          </a:prstGeom>
          <a:noFill/>
          <a:ln/>
        </p:spPr>
        <p:txBody>
          <a:bodyPr wrap="square" lIns="0" tIns="0" rIns="0" bIns="0" rtlCol="0" anchor="ctr"/>
          <a:lstStyle/>
          <a:p>
            <a:pPr algn="ctr" indent="0" marL="0">
              <a:buNone/>
            </a:pPr>
            <a:r>
              <a:rPr lang="en-US" sz="1500" b="1" dirty="0">
                <a:solidFill>
                  <a:srgbClr val="0B1F3A"/>
                </a:solidFill>
                <a:latin typeface="Calibri" pitchFamily="34" charset="0"/>
                <a:ea typeface="Calibri" pitchFamily="34" charset="-122"/>
                <a:cs typeface="Calibri" pitchFamily="34" charset="-120"/>
              </a:rPr>
              <a:t>5</a:t>
            </a:r>
            <a:endParaRPr lang="en-US" sz="1500" dirty="0"/>
          </a:p>
        </p:txBody>
      </p:sp>
      <p:sp>
        <p:nvSpPr>
          <p:cNvPr id="18" name="Text 16"/>
          <p:cNvSpPr txBox="1"/>
          <p:nvPr/>
        </p:nvSpPr>
        <p:spPr>
          <a:xfrm>
            <a:off x="1188720" y="3886200"/>
            <a:ext cx="7315200" cy="411480"/>
          </a:xfrm>
          <a:prstGeom prst="rect">
            <a:avLst/>
          </a:prstGeom>
          <a:noFill/>
          <a:ln/>
        </p:spPr>
        <p:txBody>
          <a:bodyPr wrap="square" lIns="0" tIns="0" rIns="0" bIns="0" rtlCol="0" anchor="ctr"/>
          <a:lstStyle/>
          <a:p>
            <a:pPr indent="0" marL="0">
              <a:buNone/>
            </a:pPr>
            <a:r>
              <a:rPr lang="en-US" sz="2000" dirty="0">
                <a:solidFill>
                  <a:srgbClr val="FFFFFF"/>
                </a:solidFill>
                <a:latin typeface="Calibri" pitchFamily="34" charset="0"/>
                <a:ea typeface="Calibri" pitchFamily="34" charset="-122"/>
                <a:cs typeface="Calibri" pitchFamily="34" charset="-120"/>
              </a:rPr>
              <a:t>When in doubt, report it.</a:t>
            </a:r>
            <a:endParaRPr lang="en-US" sz="2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14B8A6"/>
          </a:solidFill>
          <a:ln w="12700">
            <a:solidFill>
              <a:srgbClr val="14B8A6"/>
            </a:solidFill>
            <a:prstDash val="solid"/>
          </a:ln>
        </p:spPr>
      </p:sp>
      <p:sp>
        <p:nvSpPr>
          <p:cNvPr id="3" name="Text 1"/>
          <p:cNvSpPr txBox="1"/>
          <p:nvPr/>
        </p:nvSpPr>
        <p:spPr>
          <a:xfrm>
            <a:off x="457200" y="256032"/>
            <a:ext cx="5486400" cy="228600"/>
          </a:xfrm>
          <a:prstGeom prst="rect">
            <a:avLst/>
          </a:prstGeom>
          <a:noFill/>
          <a:ln/>
        </p:spPr>
        <p:txBody>
          <a:bodyPr wrap="square" lIns="0" tIns="0" rIns="0" bIns="0" rtlCol="0" anchor="ctr"/>
          <a:lstStyle/>
          <a:p>
            <a:pPr indent="0" marL="0">
              <a:buNone/>
            </a:pPr>
            <a:r>
              <a:rPr lang="en-US" sz="1100" b="1" spc="300" kern="0" dirty="0">
                <a:solidFill>
                  <a:srgbClr val="14B8A6"/>
                </a:solidFill>
                <a:latin typeface="Calibri" pitchFamily="34" charset="0"/>
                <a:ea typeface="Calibri" pitchFamily="34" charset="-122"/>
                <a:cs typeface="Calibri" pitchFamily="34" charset="-120"/>
              </a:rPr>
              <a:t>NEXT STEPS</a:t>
            </a:r>
            <a:endParaRPr lang="en-US" sz="1100" dirty="0"/>
          </a:p>
        </p:txBody>
      </p:sp>
      <p:sp>
        <p:nvSpPr>
          <p:cNvPr id="4" name="Text 2"/>
          <p:cNvSpPr txBox="1"/>
          <p:nvPr/>
        </p:nvSpPr>
        <p:spPr>
          <a:xfrm>
            <a:off x="457200" y="475488"/>
            <a:ext cx="8229600" cy="548640"/>
          </a:xfrm>
          <a:prstGeom prst="rect">
            <a:avLst/>
          </a:prstGeom>
          <a:noFill/>
          <a:ln/>
        </p:spPr>
        <p:txBody>
          <a:bodyPr wrap="square" lIns="0" tIns="0" rIns="0" bIns="0" rtlCol="0" anchor="ctr"/>
          <a:lstStyle/>
          <a:p>
            <a:pPr indent="0" marL="0">
              <a:buNone/>
            </a:pPr>
            <a:r>
              <a:rPr lang="en-US" sz="2800" b="1" dirty="0">
                <a:solidFill>
                  <a:srgbClr val="0B1F3A"/>
                </a:solidFill>
                <a:latin typeface="Calibri" pitchFamily="34" charset="0"/>
                <a:ea typeface="Calibri" pitchFamily="34" charset="-122"/>
                <a:cs typeface="Calibri" pitchFamily="34" charset="-120"/>
              </a:rPr>
              <a:t>Resources and thank you</a:t>
            </a:r>
            <a:endParaRPr lang="en-US" sz="2800" dirty="0"/>
          </a:p>
        </p:txBody>
      </p:sp>
      <p:sp>
        <p:nvSpPr>
          <p:cNvPr id="5" name="Shape 3"/>
          <p:cNvSpPr/>
          <p:nvPr/>
        </p:nvSpPr>
        <p:spPr>
          <a:xfrm>
            <a:off x="457200" y="4800600"/>
            <a:ext cx="8229600" cy="0"/>
          </a:xfrm>
          <a:prstGeom prst="line">
            <a:avLst/>
          </a:prstGeom>
          <a:noFill/>
          <a:ln w="9525">
            <a:solidFill>
              <a:srgbClr val="D1D5DB"/>
            </a:solidFill>
            <a:prstDash val="solid"/>
          </a:ln>
        </p:spPr>
      </p:sp>
      <p:sp>
        <p:nvSpPr>
          <p:cNvPr id="6" name="Text 4"/>
          <p:cNvSpPr txBox="1"/>
          <p:nvPr/>
        </p:nvSpPr>
        <p:spPr>
          <a:xfrm>
            <a:off x="457200" y="4846320"/>
            <a:ext cx="5486400" cy="22860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CodeAlpha  |  Phishing Awareness Training</a:t>
            </a:r>
            <a:endParaRPr lang="en-US" sz="1000" dirty="0"/>
          </a:p>
        </p:txBody>
      </p:sp>
      <p:sp>
        <p:nvSpPr>
          <p:cNvPr id="7" name="Text 5"/>
          <p:cNvSpPr txBox="1"/>
          <p:nvPr/>
        </p:nvSpPr>
        <p:spPr>
          <a:xfrm>
            <a:off x="8229600" y="4846320"/>
            <a:ext cx="457200" cy="22860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19</a:t>
            </a:r>
            <a:endParaRPr lang="en-US" sz="1000" dirty="0"/>
          </a:p>
        </p:txBody>
      </p:sp>
      <p:sp>
        <p:nvSpPr>
          <p:cNvPr id="8" name="Shape 6"/>
          <p:cNvSpPr/>
          <p:nvPr/>
        </p:nvSpPr>
        <p:spPr>
          <a:xfrm>
            <a:off x="457200" y="1280160"/>
            <a:ext cx="2621280" cy="1371600"/>
          </a:xfrm>
          <a:prstGeom prst="rect">
            <a:avLst/>
          </a:prstGeom>
          <a:solidFill>
            <a:srgbClr val="FFFFFF"/>
          </a:solidFill>
          <a:ln w="9525">
            <a:solidFill>
              <a:srgbClr val="E5E7EB"/>
            </a:solidFill>
            <a:prstDash val="solid"/>
          </a:ln>
          <a:effectLst>
            <a:outerShdw sx="100000" sy="100000" kx="0" ky="0" algn="bl" rotWithShape="0" blurRad="76200" dist="25400" dir="5400000">
              <a:srgbClr val="000000">
                <a:alpha val="12000"/>
              </a:srgbClr>
            </a:outerShdw>
          </a:effectLst>
        </p:spPr>
      </p:sp>
      <p:sp>
        <p:nvSpPr>
          <p:cNvPr id="9" name="Shape 7"/>
          <p:cNvSpPr/>
          <p:nvPr/>
        </p:nvSpPr>
        <p:spPr>
          <a:xfrm>
            <a:off x="457200" y="1280160"/>
            <a:ext cx="2621280" cy="64008"/>
          </a:xfrm>
          <a:prstGeom prst="rect">
            <a:avLst/>
          </a:prstGeom>
          <a:solidFill>
            <a:srgbClr val="14B8A6"/>
          </a:solidFill>
          <a:ln w="12700">
            <a:solidFill>
              <a:srgbClr val="14B8A6"/>
            </a:solidFill>
            <a:prstDash val="solid"/>
          </a:ln>
        </p:spPr>
      </p:sp>
      <p:sp>
        <p:nvSpPr>
          <p:cNvPr id="10" name="Text 8"/>
          <p:cNvSpPr txBox="1"/>
          <p:nvPr/>
        </p:nvSpPr>
        <p:spPr>
          <a:xfrm>
            <a:off x="640080" y="1408176"/>
            <a:ext cx="2301240" cy="1188720"/>
          </a:xfrm>
          <a:prstGeom prst="rect">
            <a:avLst/>
          </a:prstGeom>
          <a:noFill/>
          <a:ln/>
        </p:spPr>
        <p:txBody>
          <a:bodyPr wrap="square" lIns="0" tIns="0" rIns="0" bIns="0" rtlCol="0" anchor="ctr"/>
          <a:lstStyle/>
          <a:p>
            <a:pPr indent="0" marL="0">
              <a:buNone/>
            </a:pPr>
            <a:r>
              <a:rPr lang="en-US" sz="1400" b="1" dirty="0">
                <a:solidFill>
                  <a:srgbClr val="0B1F3A"/>
                </a:solidFill>
                <a:latin typeface="Calibri" pitchFamily="34" charset="0"/>
                <a:ea typeface="Calibri" pitchFamily="34" charset="-122"/>
                <a:cs typeface="Calibri" pitchFamily="34" charset="-120"/>
              </a:rPr>
              <a:t>CISA</a:t>
            </a:r>
            <a:endParaRPr lang="en-US" sz="1400" dirty="0"/>
          </a:p>
          <a:p>
            <a:pPr indent="0" marL="0">
              <a:buNone/>
            </a:pPr>
            <a:r>
              <a:rPr lang="en-US" sz="1150" dirty="0">
                <a:solidFill>
                  <a:srgbClr val="1F2937"/>
                </a:solidFill>
                <a:latin typeface="Calibri" pitchFamily="34" charset="0"/>
                <a:ea typeface="Calibri" pitchFamily="34" charset="-122"/>
                <a:cs typeface="Calibri" pitchFamily="34" charset="-120"/>
              </a:rPr>
              <a:t>cisa.gov: phishing guidance and alerts</a:t>
            </a:r>
            <a:endParaRPr lang="en-US" sz="1400" dirty="0"/>
          </a:p>
        </p:txBody>
      </p:sp>
      <p:sp>
        <p:nvSpPr>
          <p:cNvPr id="11" name="Shape 9"/>
          <p:cNvSpPr/>
          <p:nvPr/>
        </p:nvSpPr>
        <p:spPr>
          <a:xfrm>
            <a:off x="3261360" y="1280160"/>
            <a:ext cx="2621280" cy="1371600"/>
          </a:xfrm>
          <a:prstGeom prst="rect">
            <a:avLst/>
          </a:prstGeom>
          <a:solidFill>
            <a:srgbClr val="FFFFFF"/>
          </a:solidFill>
          <a:ln w="9525">
            <a:solidFill>
              <a:srgbClr val="E5E7EB"/>
            </a:solidFill>
            <a:prstDash val="solid"/>
          </a:ln>
          <a:effectLst>
            <a:outerShdw sx="100000" sy="100000" kx="0" ky="0" algn="bl" rotWithShape="0" blurRad="76200" dist="25400" dir="5400000">
              <a:srgbClr val="000000">
                <a:alpha val="12000"/>
              </a:srgbClr>
            </a:outerShdw>
          </a:effectLst>
        </p:spPr>
      </p:sp>
      <p:sp>
        <p:nvSpPr>
          <p:cNvPr id="12" name="Shape 10"/>
          <p:cNvSpPr/>
          <p:nvPr/>
        </p:nvSpPr>
        <p:spPr>
          <a:xfrm>
            <a:off x="3261360" y="1280160"/>
            <a:ext cx="2621280" cy="64008"/>
          </a:xfrm>
          <a:prstGeom prst="rect">
            <a:avLst/>
          </a:prstGeom>
          <a:solidFill>
            <a:srgbClr val="14B8A6"/>
          </a:solidFill>
          <a:ln w="12700">
            <a:solidFill>
              <a:srgbClr val="14B8A6"/>
            </a:solidFill>
            <a:prstDash val="solid"/>
          </a:ln>
        </p:spPr>
      </p:sp>
      <p:sp>
        <p:nvSpPr>
          <p:cNvPr id="13" name="Text 11"/>
          <p:cNvSpPr txBox="1"/>
          <p:nvPr/>
        </p:nvSpPr>
        <p:spPr>
          <a:xfrm>
            <a:off x="3444240" y="1408176"/>
            <a:ext cx="2301240" cy="1188720"/>
          </a:xfrm>
          <a:prstGeom prst="rect">
            <a:avLst/>
          </a:prstGeom>
          <a:noFill/>
          <a:ln/>
        </p:spPr>
        <p:txBody>
          <a:bodyPr wrap="square" lIns="0" tIns="0" rIns="0" bIns="0" rtlCol="0" anchor="ctr"/>
          <a:lstStyle/>
          <a:p>
            <a:pPr indent="0" marL="0">
              <a:buNone/>
            </a:pPr>
            <a:r>
              <a:rPr lang="en-US" sz="1400" b="1" dirty="0">
                <a:solidFill>
                  <a:srgbClr val="0B1F3A"/>
                </a:solidFill>
                <a:latin typeface="Calibri" pitchFamily="34" charset="0"/>
                <a:ea typeface="Calibri" pitchFamily="34" charset="-122"/>
                <a:cs typeface="Calibri" pitchFamily="34" charset="-120"/>
              </a:rPr>
              <a:t>Anti-Phishing Working Group</a:t>
            </a:r>
            <a:endParaRPr lang="en-US" sz="1400" dirty="0"/>
          </a:p>
          <a:p>
            <a:pPr indent="0" marL="0">
              <a:buNone/>
            </a:pPr>
            <a:r>
              <a:rPr lang="en-US" sz="1150" dirty="0">
                <a:solidFill>
                  <a:srgbClr val="1F2937"/>
                </a:solidFill>
                <a:latin typeface="Calibri" pitchFamily="34" charset="0"/>
                <a:ea typeface="Calibri" pitchFamily="34" charset="-122"/>
                <a:cs typeface="Calibri" pitchFamily="34" charset="-120"/>
              </a:rPr>
              <a:t>apwg.org: phishing trends and reporting</a:t>
            </a:r>
            <a:endParaRPr lang="en-US" sz="1400" dirty="0"/>
          </a:p>
        </p:txBody>
      </p:sp>
      <p:sp>
        <p:nvSpPr>
          <p:cNvPr id="14" name="Shape 12"/>
          <p:cNvSpPr/>
          <p:nvPr/>
        </p:nvSpPr>
        <p:spPr>
          <a:xfrm>
            <a:off x="6065520" y="1280160"/>
            <a:ext cx="2621280" cy="1371600"/>
          </a:xfrm>
          <a:prstGeom prst="rect">
            <a:avLst/>
          </a:prstGeom>
          <a:solidFill>
            <a:srgbClr val="FFFFFF"/>
          </a:solidFill>
          <a:ln w="9525">
            <a:solidFill>
              <a:srgbClr val="E5E7EB"/>
            </a:solidFill>
            <a:prstDash val="solid"/>
          </a:ln>
          <a:effectLst>
            <a:outerShdw sx="100000" sy="100000" kx="0" ky="0" algn="bl" rotWithShape="0" blurRad="76200" dist="25400" dir="5400000">
              <a:srgbClr val="000000">
                <a:alpha val="12000"/>
              </a:srgbClr>
            </a:outerShdw>
          </a:effectLst>
        </p:spPr>
      </p:sp>
      <p:sp>
        <p:nvSpPr>
          <p:cNvPr id="15" name="Shape 13"/>
          <p:cNvSpPr/>
          <p:nvPr/>
        </p:nvSpPr>
        <p:spPr>
          <a:xfrm>
            <a:off x="6065520" y="1280160"/>
            <a:ext cx="2621280" cy="64008"/>
          </a:xfrm>
          <a:prstGeom prst="rect">
            <a:avLst/>
          </a:prstGeom>
          <a:solidFill>
            <a:srgbClr val="14B8A6"/>
          </a:solidFill>
          <a:ln w="12700">
            <a:solidFill>
              <a:srgbClr val="14B8A6"/>
            </a:solidFill>
            <a:prstDash val="solid"/>
          </a:ln>
        </p:spPr>
      </p:sp>
      <p:sp>
        <p:nvSpPr>
          <p:cNvPr id="16" name="Text 14"/>
          <p:cNvSpPr txBox="1"/>
          <p:nvPr/>
        </p:nvSpPr>
        <p:spPr>
          <a:xfrm>
            <a:off x="6248400" y="1408176"/>
            <a:ext cx="2301240" cy="1188720"/>
          </a:xfrm>
          <a:prstGeom prst="rect">
            <a:avLst/>
          </a:prstGeom>
          <a:noFill/>
          <a:ln/>
        </p:spPr>
        <p:txBody>
          <a:bodyPr wrap="square" lIns="0" tIns="0" rIns="0" bIns="0" rtlCol="0" anchor="ctr"/>
          <a:lstStyle/>
          <a:p>
            <a:pPr indent="0" marL="0">
              <a:buNone/>
            </a:pPr>
            <a:r>
              <a:rPr lang="en-US" sz="1400" b="1" dirty="0">
                <a:solidFill>
                  <a:srgbClr val="0B1F3A"/>
                </a:solidFill>
                <a:latin typeface="Calibri" pitchFamily="34" charset="0"/>
                <a:ea typeface="Calibri" pitchFamily="34" charset="-122"/>
                <a:cs typeface="Calibri" pitchFamily="34" charset="-120"/>
              </a:rPr>
              <a:t>Have I Been Pwned</a:t>
            </a:r>
            <a:endParaRPr lang="en-US" sz="1400" dirty="0"/>
          </a:p>
          <a:p>
            <a:pPr indent="0" marL="0">
              <a:buNone/>
            </a:pPr>
            <a:r>
              <a:rPr lang="en-US" sz="1150" dirty="0">
                <a:solidFill>
                  <a:srgbClr val="1F2937"/>
                </a:solidFill>
                <a:latin typeface="Calibri" pitchFamily="34" charset="0"/>
                <a:ea typeface="Calibri" pitchFamily="34" charset="-122"/>
                <a:cs typeface="Calibri" pitchFamily="34" charset="-120"/>
              </a:rPr>
              <a:t>haveibeenpwned.com: check if your email was in a breach</a:t>
            </a:r>
            <a:endParaRPr lang="en-US" sz="1400" dirty="0"/>
          </a:p>
        </p:txBody>
      </p:sp>
      <p:sp>
        <p:nvSpPr>
          <p:cNvPr id="17" name="Shape 15"/>
          <p:cNvSpPr/>
          <p:nvPr/>
        </p:nvSpPr>
        <p:spPr>
          <a:xfrm>
            <a:off x="457200" y="2971800"/>
            <a:ext cx="8229600" cy="1554480"/>
          </a:xfrm>
          <a:prstGeom prst="rect">
            <a:avLst/>
          </a:prstGeom>
          <a:solidFill>
            <a:srgbClr val="FFFFFF"/>
          </a:solidFill>
          <a:ln w="9525">
            <a:solidFill>
              <a:srgbClr val="E5E7EB"/>
            </a:solidFill>
            <a:prstDash val="solid"/>
          </a:ln>
          <a:effectLst>
            <a:outerShdw sx="100000" sy="100000" kx="0" ky="0" algn="bl" rotWithShape="0" blurRad="76200" dist="25400" dir="5400000">
              <a:srgbClr val="000000">
                <a:alpha val="12000"/>
              </a:srgbClr>
            </a:outerShdw>
          </a:effectLst>
        </p:spPr>
      </p:sp>
      <p:sp>
        <p:nvSpPr>
          <p:cNvPr id="18" name="Shape 16"/>
          <p:cNvSpPr/>
          <p:nvPr/>
        </p:nvSpPr>
        <p:spPr>
          <a:xfrm>
            <a:off x="457200" y="2971800"/>
            <a:ext cx="8229600" cy="64008"/>
          </a:xfrm>
          <a:prstGeom prst="rect">
            <a:avLst/>
          </a:prstGeom>
          <a:solidFill>
            <a:srgbClr val="F59E0B"/>
          </a:solidFill>
          <a:ln w="12700">
            <a:solidFill>
              <a:srgbClr val="F59E0B"/>
            </a:solidFill>
            <a:prstDash val="solid"/>
          </a:ln>
        </p:spPr>
      </p:sp>
      <p:sp>
        <p:nvSpPr>
          <p:cNvPr id="19" name="Text 17"/>
          <p:cNvSpPr txBox="1"/>
          <p:nvPr/>
        </p:nvSpPr>
        <p:spPr>
          <a:xfrm>
            <a:off x="640080" y="3099816"/>
            <a:ext cx="7909560" cy="1371600"/>
          </a:xfrm>
          <a:prstGeom prst="rect">
            <a:avLst/>
          </a:prstGeom>
          <a:noFill/>
          <a:ln/>
        </p:spPr>
        <p:txBody>
          <a:bodyPr wrap="square" lIns="0" tIns="0" rIns="0" bIns="0" rtlCol="0" anchor="ctr"/>
          <a:lstStyle/>
          <a:p>
            <a:pPr indent="0" marL="0">
              <a:buNone/>
            </a:pPr>
            <a:r>
              <a:rPr lang="en-US" sz="1400" b="1" dirty="0">
                <a:solidFill>
                  <a:srgbClr val="0B1F3A"/>
                </a:solidFill>
                <a:latin typeface="Calibri" pitchFamily="34" charset="0"/>
                <a:ea typeface="Calibri" pitchFamily="34" charset="-122"/>
                <a:cs typeface="Calibri" pitchFamily="34" charset="-120"/>
              </a:rPr>
              <a:t>Thank you!  Questions?</a:t>
            </a:r>
            <a:endParaRPr lang="en-US" sz="1400" dirty="0"/>
          </a:p>
          <a:p>
            <a:pPr indent="0" marL="0">
              <a:buNone/>
            </a:pPr>
            <a:r>
              <a:rPr lang="en-US" sz="1150" dirty="0">
                <a:solidFill>
                  <a:srgbClr val="1F2937"/>
                </a:solidFill>
                <a:latin typeface="Calibri" pitchFamily="34" charset="0"/>
                <a:ea typeface="Calibri" pitchFamily="34" charset="-122"/>
                <a:cs typeface="Calibri" pitchFamily="34" charset="-120"/>
              </a:rPr>
              <a:t>Source code, quiz and this presentation:</a:t>
            </a:r>
            <a:endParaRPr lang="en-US" sz="1400" dirty="0"/>
          </a:p>
          <a:p>
            <a:pPr indent="0" marL="0">
              <a:buNone/>
            </a:pPr>
            <a:r>
              <a:rPr lang="en-US" sz="1150" dirty="0">
                <a:solidFill>
                  <a:srgbClr val="1F2937"/>
                </a:solidFill>
                <a:latin typeface="Calibri" pitchFamily="34" charset="0"/>
                <a:ea typeface="Calibri" pitchFamily="34" charset="-122"/>
                <a:cs typeface="Calibri" pitchFamily="34" charset="-120"/>
              </a:rPr>
              <a:t>github.com/&lt;your-username&gt;/CodeAlpha_PhishingAwarenessTraining</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Phishing Awareness Training</dc:title>
  <dc:subject>PptxGenJS Presentation</dc:subject>
  <dc:creator>PptxGenJS</dc:creator>
  <cp:lastModifiedBy>PptxGenJS</cp:lastModifiedBy>
  <cp:revision>1</cp:revision>
  <dcterms:created xsi:type="dcterms:W3CDTF">2026-10-23T18:04:54Z</dcterms:created>
  <dcterms:modified xsi:type="dcterms:W3CDTF">2026-10-23T18:04:54Z</dcterms:modified>
</cp:coreProperties>
</file>